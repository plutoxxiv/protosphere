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9"/>
  </p:notesMasterIdLst>
  <p:sldIdLst>
    <p:sldId id="256" r:id="rId2"/>
    <p:sldId id="274" r:id="rId3"/>
    <p:sldId id="258" r:id="rId4"/>
    <p:sldId id="270" r:id="rId5"/>
    <p:sldId id="271" r:id="rId6"/>
    <p:sldId id="272" r:id="rId7"/>
    <p:sldId id="259" r:id="rId8"/>
    <p:sldId id="275" r:id="rId9"/>
    <p:sldId id="276" r:id="rId10"/>
    <p:sldId id="262" r:id="rId11"/>
    <p:sldId id="277" r:id="rId12"/>
    <p:sldId id="278" r:id="rId13"/>
    <p:sldId id="279" r:id="rId14"/>
    <p:sldId id="280" r:id="rId15"/>
    <p:sldId id="264" r:id="rId16"/>
    <p:sldId id="265" r:id="rId17"/>
    <p:sldId id="266" r:id="rId18"/>
  </p:sldIdLst>
  <p:sldSz cx="12192000" cy="6858000"/>
  <p:notesSz cx="6858000" cy="9144000"/>
  <p:embeddedFontLst>
    <p:embeddedFont>
      <p:font typeface="Fira Code" panose="020F0502020204030204" charset="0"/>
      <p:regular r:id="rId20"/>
      <p:bold r:id="rId21"/>
    </p:embeddedFont>
    <p:embeddedFont>
      <p:font typeface="Plus Jakarta Sans"/>
      <p:bold r:id="rId2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snapToObjects="1">
      <p:cViewPr varScale="1">
        <p:scale>
          <a:sx n="105" d="100"/>
          <a:sy n="105" d="100"/>
        </p:scale>
        <p:origin x="834" y="11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A5E78D-4A7E-4A21-A7D6-34ED7A83EC06}" type="datetimeFigureOut">
              <a:rPr lang="en-IN" smtClean="0"/>
              <a:t>24-09-2026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910C08-ECC0-480B-9D99-1CA7133CE81C}" type="slidenum">
              <a:rPr lang="en-IN" smtClean="0"/>
              <a:t>‹#›</a:t>
            </a:fld>
            <a:endParaRPr lang="en-IN"/>
          </a:p>
        </p:txBody>
      </p:sp>
    </p:spTree>
    <p:extLst>
      <p:ext uri="{BB962C8B-B14F-4D97-AF65-F5344CB8AC3E}">
        <p14:creationId xmlns:p14="http://schemas.microsoft.com/office/powerpoint/2010/main" val="1752898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HOOK (~1 min). Walkie-talkie analogy: before two people can talk on walkie-talkies they agree on who talks first, how fast to speak, how you know a sentence has ended, and what to do if you didn't hear clearly. That agreement IS the protocol.</a:t>
            </a:r>
          </a:p>
          <a:p>
            <a:r>
              <a:t>Chips are no different: the four cards are the four things every protocol settles. The strip at the bottom shows the idea of framing: data is wrapped in markers so the receiver knows where it starts, who it is for, and whether it arrived intact.</a:t>
            </a:r>
          </a:p>
          <a:p>
            <a:r>
              <a:t>Goal: turn 'protocol' from a scary word into something intuitive before the acronyms arrive.</a:t>
            </a:r>
          </a:p>
        </p:txBody>
      </p:sp>
      <p:sp>
        <p:nvSpPr>
          <p:cNvPr id="4" name="Slide Number Placeholder 3"/>
          <p:cNvSpPr>
            <a:spLocks noGrp="1"/>
          </p:cNvSpPr>
          <p:nvPr>
            <p:ph type="sldNum" idx="16"/>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0" y="812800"/>
            <a:ext cx="0" cy="0"/>
          </a:xfrm>
        </p:spPr>
      </p:sp>
      <p:sp>
        <p:nvSpPr>
          <p:cNvPr id="3" name="Notes Placeholder 2"/>
          <p:cNvSpPr>
            <a:spLocks noGrp="1"/>
          </p:cNvSpPr>
          <p:nvPr>
            <p:ph type="body"/>
          </p:nvPr>
        </p:nvSpPr>
        <p:spPr/>
        <p:txBody>
          <a:bodyPr/>
          <a:lstStyle/>
          <a:p>
            <a:r>
              <a:t>PERSON B - wireless (~2 min). Four analogies:</a:t>
            </a:r>
          </a:p>
          <a:p>
            <a:r>
              <a:t>Wi-Fi = the highway: huge bandwidth, goes straight to the internet, but a gas guzzler that needs infrastructure (a router). Bad for a coin-cell sensor meant to last months. Use: ESP32 pushing data to a cloud dashboard, OTA updates.</a:t>
            </a:r>
          </a:p>
          <a:p>
            <a:r>
              <a:t>Bluetooth/BLE = walkie-talkies: short range, quick to pair, easy on the battery. Classic Bluetooth = audio/older devices; BLE = tiny infrequent bursts, built for wearables and sensors. Use: ESP32 &lt;-&gt; phone app, fitness bands, proximity tags.</a:t>
            </a:r>
          </a:p>
          <a:p>
            <a:r>
              <a:t>Zigbee = bucket brigade: each node passes the message to its neighbour, forming a self-healing mesh. Use: smart-home mesh (e.g. Philips Hue).</a:t>
            </a:r>
          </a:p>
          <a:p>
            <a:r>
              <a:t>LoRa = shouting across a valley: kilometres of range, but only short, occasional messages. Use: utility meters, agriculture sensors.</a:t>
            </a:r>
          </a:p>
          <a:p>
            <a:r>
              <a:t>Zigbee and LoRa are a brief mention - don't linger.</a:t>
            </a:r>
          </a:p>
        </p:txBody>
      </p:sp>
      <p:sp>
        <p:nvSpPr>
          <p:cNvPr id="4" name="Slide Number Placeholder 3"/>
          <p:cNvSpPr>
            <a:spLocks noGrp="1"/>
          </p:cNvSpPr>
          <p:nvPr>
            <p:ph type="sldNum" idx="16"/>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PERSON B (~1 min). Read the table as a trade-off map rather than a spec sheet:</a:t>
            </a:r>
          </a:p>
          <a:p>
            <a:r>
              <a:t>Wi-Fi ~50 m, high power, fast - internet-connected, data-heavy.</a:t>
            </a:r>
          </a:p>
          <a:p>
            <a:r>
              <a:t>BLE ~10-30 m, low power, medium speed - phone pairing, wearables.</a:t>
            </a:r>
          </a:p>
          <a:p>
            <a:r>
              <a:t>Zigbee ~10-100 m (mesh), very low power, low speed - smart-home mesh networks.</a:t>
            </a:r>
          </a:p>
          <a:p>
            <a:r>
              <a:t>LoRa km-range, very low power, very low speed - long-range, infrequent readings.</a:t>
            </a:r>
          </a:p>
          <a:p>
            <a:r>
              <a:t>Takeaway line: Wi-Fi trades power for speed; LoRa trades speed for range. The bars are relative, not to scale.</a:t>
            </a:r>
          </a:p>
        </p:txBody>
      </p:sp>
      <p:sp>
        <p:nvSpPr>
          <p:cNvPr id="4" name="Slide Number Placeholder 3"/>
          <p:cNvSpPr>
            <a:spLocks noGrp="1"/>
          </p:cNvSpPr>
          <p:nvPr>
            <p:ph type="sldNum" idx="16"/>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p:nvPr>
        </p:nvSpPr>
        <p:spPr/>
        <p:txBody>
          <a:bodyPr/>
          <a:lstStyle/>
          <a:p>
            <a:r>
              <a:t>PERSON C (~1.5 min). HTTP/HTTPS = ordering at a counter: you walk up, state your full request, and wait for the full response every time, with no memory of the last visit. Simple and universal, but heavier for constant small updates. Use: occasional readings, calling a REST API.</a:t>
            </a:r>
          </a:p>
          <a:p>
            <a:r>
              <a:t>MQTT = a newspaper subscription: devices publish updates to a topic, and everyone subscribed gets it instantly - no need to keep asking 'anything new?'. Lightweight, tiny packets, low power, built for IoT. Works via a central broker; devices publish/subscribe to topics rather than talking directly to each other. Use: live sensor dashboards, home-automation triggers (if temp &gt; 30C -&gt; fan ON).</a:t>
            </a:r>
          </a:p>
          <a:p>
            <a:r>
              <a:t>One-line mention: CoAP is like HTTP but on a diet, built for constrained devices.</a:t>
            </a:r>
          </a:p>
        </p:txBody>
      </p:sp>
      <p:sp>
        <p:nvSpPr>
          <p:cNvPr id="4" name="Slide Number Placeholder 3"/>
          <p:cNvSpPr>
            <a:spLocks noGrp="1"/>
          </p:cNvSpPr>
          <p:nvPr>
            <p:ph type="sldNum" idx="16"/>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cSld name="L03_CONTENT">
    <p:bg>
      <p:bgPr>
        <a:solidFill>
          <a:srgbClr val="F7F9FC"/>
        </a:solidFill>
        <a:effectLst/>
      </p:bgPr>
    </p:bg>
    <p:spTree>
      <p:nvGrpSpPr>
        <p:cNvPr id="1" name=""/>
        <p:cNvGrpSpPr/>
        <p:nvPr/>
      </p:nvGrpSpPr>
      <p:grpSpPr>
        <a:xfrm>
          <a:off x="0" y="0"/>
          <a:ext cx="0" cy="0"/>
          <a:chOff x="0" y="0"/>
          <a:chExt cx="0" cy="0"/>
        </a:xfrm>
      </p:grpSpPr>
      <p:sp>
        <p:nvSpPr>
          <p:cNvPr id="55" name="Shape 0"/>
          <p:cNvSpPr/>
          <p:nvPr/>
        </p:nvSpPr>
        <p:spPr>
          <a:xfrm>
            <a:off x="548640" y="1261800"/>
            <a:ext cx="82080" cy="82080"/>
          </a:xfrm>
          <a:prstGeom prst="rect">
            <a:avLst/>
          </a:prstGeom>
          <a:solidFill>
            <a:srgbClr val="31D6C9"/>
          </a:solidFill>
          <a:ln w="0">
            <a:noFill/>
          </a:ln>
        </p:spPr>
        <p:style>
          <a:lnRef idx="0">
            <a:scrgbClr r="0" g="0" b="0"/>
          </a:lnRef>
          <a:fillRef idx="0">
            <a:scrgbClr r="0" g="0" b="0"/>
          </a:fillRef>
          <a:effectRef idx="0">
            <a:scrgbClr r="0" g="0" b="0"/>
          </a:effectRef>
          <a:fontRef idx="minor"/>
        </p:style>
        <p:txBody>
          <a:bodyPr lIns="90000" tIns="37440" rIns="90000" bIns="37440" anchor="t">
            <a:noAutofit/>
          </a:bodyPr>
          <a:lstStyle/>
          <a:p>
            <a:endParaRPr lang="en-US" sz="1800" b="0" u="none" strike="noStrike">
              <a:solidFill>
                <a:srgbClr val="000000"/>
              </a:solidFill>
              <a:effectLst/>
              <a:uFillTx/>
              <a:latin typeface="Arial"/>
            </a:endParaRPr>
          </a:p>
        </p:txBody>
      </p:sp>
      <p:sp>
        <p:nvSpPr>
          <p:cNvPr id="56" name="Text 1"/>
          <p:cNvSpPr/>
          <p:nvPr/>
        </p:nvSpPr>
        <p:spPr>
          <a:xfrm>
            <a:off x="548640" y="64738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00" b="0" u="none" strike="noStrike">
                <a:solidFill>
                  <a:srgbClr val="5B6B82"/>
                </a:solidFill>
                <a:effectLst/>
                <a:uFillTx/>
                <a:latin typeface="Calibri"/>
                <a:ea typeface="Calibri"/>
              </a:rPr>
              <a:t>IEEE Nirma Student Branch  |  Embedded Systems &amp; IoT Workshop</a:t>
            </a:r>
            <a:endParaRPr lang="en-US" sz="900" b="0" u="none" strike="noStrike">
              <a:solidFill>
                <a:srgbClr val="000000"/>
              </a:solidFill>
              <a:effectLst/>
              <a:uFillTx/>
              <a:latin typeface="Arial"/>
            </a:endParaRPr>
          </a:p>
        </p:txBody>
      </p:sp>
      <p:sp>
        <p:nvSpPr>
          <p:cNvPr id="57" name="PlaceHolder 1"/>
          <p:cNvSpPr>
            <a:spLocks noGrp="1"/>
          </p:cNvSpPr>
          <p:nvPr>
            <p:ph type="sldNum" idx="8"/>
          </p:nvPr>
        </p:nvSpPr>
        <p:spPr>
          <a:xfrm>
            <a:off x="11368800" y="6473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900" b="0" u="none" strike="noStrike">
                <a:solidFill>
                  <a:srgbClr val="5B6B82"/>
                </a:solidFill>
                <a:effectLst/>
                <a:uFillTx/>
                <a:latin typeface="Calibri"/>
                <a:ea typeface="Calibri"/>
              </a:defRPr>
            </a:lvl1pPr>
          </a:lstStyle>
          <a:p>
            <a:pPr indent="0" algn="r" defTabSz="914400">
              <a:lnSpc>
                <a:spcPct val="100000"/>
              </a:lnSpc>
              <a:buNone/>
            </a:pPr>
            <a:fld id="{07CE3E7C-EDC7-466B-89D2-EA5A09F5EBFD}" type="slidenum">
              <a:rPr lang="en-US" sz="900" b="0" u="none" strike="noStrike">
                <a:solidFill>
                  <a:srgbClr val="5B6B82"/>
                </a:solidFill>
                <a:effectLst/>
                <a:uFillTx/>
                <a:latin typeface="Calibri"/>
                <a:ea typeface="Calibri"/>
              </a:rPr>
              <a:t>‹#›</a:t>
            </a:fld>
            <a:endParaRPr lang="en-US" sz="900" b="0" u="none" strike="noStrike">
              <a:solidFill>
                <a:srgbClr val="000000"/>
              </a:solidFill>
              <a:effectLst/>
              <a:uFillTx/>
              <a:latin typeface="Times New Roman"/>
            </a:endParaRPr>
          </a:p>
        </p:txBody>
      </p:sp>
      <p:sp>
        <p:nvSpPr>
          <p:cNvPr id="58" name="PlaceHolder 2"/>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l">
              <a:buNone/>
              <a:defRPr lang="en-US" sz="1800" b="0" u="none" strike="noStrike">
                <a:solidFill>
                  <a:schemeClr val="dk1"/>
                </a:solidFill>
                <a:effectLst/>
                <a:uFillTx/>
                <a:latin typeface="Calibri"/>
              </a:defRPr>
            </a:lvl1pPr>
          </a:lstStyle>
          <a:p>
            <a:pPr indent="0" algn="l">
              <a:buNone/>
            </a:pPr>
            <a:r>
              <a:rPr lang="en-US" sz="1800" b="0" u="none" strike="noStrike">
                <a:solidFill>
                  <a:schemeClr val="dk1"/>
                </a:solidFill>
                <a:effectLst/>
                <a:uFillTx/>
                <a:latin typeface="Calibri"/>
              </a:rPr>
              <a:t>Click to edit the title text format</a:t>
            </a:r>
          </a:p>
        </p:txBody>
      </p:sp>
      <p:sp>
        <p:nvSpPr>
          <p:cNvPr id="59" name="PlaceHolder 3"/>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p>
          <a:p>
            <a:pPr marL="864000" lvl="1" indent="-324000" algn="l">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p>
          <a:p>
            <a:pPr marL="1296000" lvl="2" indent="-288000" algn="l">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p>
          <a:p>
            <a:pPr marL="1728000" lvl="3" indent="-216000" algn="l">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p>
          <a:p>
            <a:pPr marL="2160000" lvl="4"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p>
          <a:p>
            <a:pPr marL="2592000" lvl="5"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p>
          <a:p>
            <a:pPr marL="3024000" lvl="6" indent="-216000" algn="l">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p>
        </p:txBody>
      </p:sp>
    </p:spTree>
    <p:extLst>
      <p:ext uri="{BB962C8B-B14F-4D97-AF65-F5344CB8AC3E}">
        <p14:creationId xmlns:p14="http://schemas.microsoft.com/office/powerpoint/2010/main" val="25222546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26.pn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8.png"/><Relationship Id="rId7" Type="http://schemas.openxmlformats.org/officeDocument/2006/relationships/image" Target="../media/image2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0.png"/><Relationship Id="rId9" Type="http://schemas.openxmlformats.org/officeDocument/2006/relationships/image" Target="../media/image31.png"/></Relationships>
</file>

<file path=ppt/slides/_rels/slide1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609600" y="5667375"/>
            <a:ext cx="10972800" cy="657225"/>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533400"/>
            <a:ext cx="3443287" cy="342900"/>
          </a:xfrm>
          <a:prstGeom prst="roundRect">
            <a:avLst>
              <a:gd name="adj" fmla="val 50000"/>
            </a:avLst>
          </a:prstGeom>
          <a:solidFill>
            <a:srgbClr val="1B2538"/>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09600" y="5667375"/>
            <a:ext cx="1097280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457450" y="5981700"/>
            <a:ext cx="9525" cy="3048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4772025" y="5981700"/>
            <a:ext cx="9525" cy="304800"/>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7" name="Picture 6" descr="image.png"/>
          <p:cNvPicPr>
            <a:picLocks noChangeAspect="1"/>
          </p:cNvPicPr>
          <p:nvPr/>
        </p:nvPicPr>
        <p:blipFill>
          <a:blip r:embed="rId2"/>
          <a:stretch>
            <a:fillRect/>
          </a:stretch>
        </p:blipFill>
        <p:spPr>
          <a:xfrm>
            <a:off x="790575" y="628650"/>
            <a:ext cx="152400" cy="152400"/>
          </a:xfrm>
          <a:prstGeom prst="rect">
            <a:avLst/>
          </a:prstGeom>
        </p:spPr>
      </p:pic>
      <p:pic>
        <p:nvPicPr>
          <p:cNvPr id="8" name="Picture 7" descr="image.png"/>
          <p:cNvPicPr>
            <a:picLocks noChangeAspect="1"/>
          </p:cNvPicPr>
          <p:nvPr/>
        </p:nvPicPr>
        <p:blipFill>
          <a:blip r:embed="rId3"/>
          <a:stretch>
            <a:fillRect/>
          </a:stretch>
        </p:blipFill>
        <p:spPr>
          <a:xfrm>
            <a:off x="609600" y="5943600"/>
            <a:ext cx="381000" cy="381000"/>
          </a:xfrm>
          <a:prstGeom prst="rect">
            <a:avLst/>
          </a:prstGeom>
        </p:spPr>
      </p:pic>
      <p:pic>
        <p:nvPicPr>
          <p:cNvPr id="9" name="Picture 8" descr="image.png"/>
          <p:cNvPicPr>
            <a:picLocks noChangeAspect="1"/>
          </p:cNvPicPr>
          <p:nvPr/>
        </p:nvPicPr>
        <p:blipFill>
          <a:blip r:embed="rId4"/>
          <a:stretch>
            <a:fillRect/>
          </a:stretch>
        </p:blipFill>
        <p:spPr>
          <a:xfrm>
            <a:off x="2771775" y="5943600"/>
            <a:ext cx="381000" cy="381000"/>
          </a:xfrm>
          <a:prstGeom prst="rect">
            <a:avLst/>
          </a:prstGeom>
        </p:spPr>
      </p:pic>
      <p:pic>
        <p:nvPicPr>
          <p:cNvPr id="10" name="Picture 9" descr="image.png"/>
          <p:cNvPicPr>
            <a:picLocks noChangeAspect="1"/>
          </p:cNvPicPr>
          <p:nvPr/>
        </p:nvPicPr>
        <p:blipFill>
          <a:blip r:embed="rId5"/>
          <a:stretch>
            <a:fillRect/>
          </a:stretch>
        </p:blipFill>
        <p:spPr>
          <a:xfrm>
            <a:off x="5086350" y="5943600"/>
            <a:ext cx="381000" cy="381000"/>
          </a:xfrm>
          <a:prstGeom prst="rect">
            <a:avLst/>
          </a:prstGeom>
        </p:spPr>
      </p:pic>
      <p:pic>
        <p:nvPicPr>
          <p:cNvPr id="11" name="Picture 10" descr="image.png"/>
          <p:cNvPicPr>
            <a:picLocks noChangeAspect="1"/>
          </p:cNvPicPr>
          <p:nvPr/>
        </p:nvPicPr>
        <p:blipFill>
          <a:blip r:embed="rId6"/>
          <a:stretch>
            <a:fillRect/>
          </a:stretch>
        </p:blipFill>
        <p:spPr>
          <a:xfrm>
            <a:off x="690562" y="6048375"/>
            <a:ext cx="219075" cy="171450"/>
          </a:xfrm>
          <a:prstGeom prst="rect">
            <a:avLst/>
          </a:prstGeom>
        </p:spPr>
      </p:pic>
      <p:pic>
        <p:nvPicPr>
          <p:cNvPr id="12" name="Picture 11" descr="image.png"/>
          <p:cNvPicPr>
            <a:picLocks noChangeAspect="1"/>
          </p:cNvPicPr>
          <p:nvPr/>
        </p:nvPicPr>
        <p:blipFill>
          <a:blip r:embed="rId7"/>
          <a:stretch>
            <a:fillRect/>
          </a:stretch>
        </p:blipFill>
        <p:spPr>
          <a:xfrm>
            <a:off x="2852737" y="6048375"/>
            <a:ext cx="219075" cy="171450"/>
          </a:xfrm>
          <a:prstGeom prst="rect">
            <a:avLst/>
          </a:prstGeom>
        </p:spPr>
      </p:pic>
      <p:pic>
        <p:nvPicPr>
          <p:cNvPr id="13" name="Picture 12" descr="image.png"/>
          <p:cNvPicPr>
            <a:picLocks noChangeAspect="1"/>
          </p:cNvPicPr>
          <p:nvPr/>
        </p:nvPicPr>
        <p:blipFill>
          <a:blip r:embed="rId8"/>
          <a:stretch>
            <a:fillRect/>
          </a:stretch>
        </p:blipFill>
        <p:spPr>
          <a:xfrm>
            <a:off x="5167312" y="6048375"/>
            <a:ext cx="219075" cy="171450"/>
          </a:xfrm>
          <a:prstGeom prst="rect">
            <a:avLst/>
          </a:prstGeom>
        </p:spPr>
      </p:pic>
      <p:sp>
        <p:nvSpPr>
          <p:cNvPr id="14" name="TextBox 13"/>
          <p:cNvSpPr txBox="1"/>
          <p:nvPr/>
        </p:nvSpPr>
        <p:spPr>
          <a:xfrm>
            <a:off x="9439275" y="619125"/>
            <a:ext cx="2678906" cy="171450"/>
          </a:xfrm>
          <a:prstGeom prst="rect">
            <a:avLst/>
          </a:prstGeom>
          <a:noFill/>
        </p:spPr>
        <p:txBody>
          <a:bodyPr wrap="none" lIns="0" tIns="0" rIns="0" bIns="0" anchor="t">
            <a:spAutoFit/>
          </a:bodyPr>
          <a:lstStyle/>
          <a:p>
            <a:pPr algn="l"/>
            <a:r>
              <a:rPr sz="1050" b="1" i="0" u="none">
                <a:solidFill>
                  <a:srgbClr val="64748B"/>
                </a:solidFill>
                <a:latin typeface="Plus Jakarta Sans"/>
              </a:rPr>
              <a:t>IEEE NIRMA STUDENT BRANCH</a:t>
            </a:r>
          </a:p>
        </p:txBody>
      </p:sp>
      <p:sp>
        <p:nvSpPr>
          <p:cNvPr id="15" name="TextBox 14"/>
          <p:cNvSpPr txBox="1"/>
          <p:nvPr/>
        </p:nvSpPr>
        <p:spPr>
          <a:xfrm>
            <a:off x="609600" y="2387947"/>
            <a:ext cx="9301162" cy="1139130"/>
          </a:xfrm>
          <a:prstGeom prst="rect">
            <a:avLst/>
          </a:prstGeom>
          <a:noFill/>
        </p:spPr>
        <p:txBody>
          <a:bodyPr wrap="square" lIns="0" tIns="0" rIns="0" bIns="0" anchor="t">
            <a:spAutoFit/>
          </a:bodyPr>
          <a:lstStyle/>
          <a:p>
            <a:pPr algn="l">
              <a:lnSpc>
                <a:spcPts val="4484"/>
              </a:lnSpc>
            </a:pPr>
            <a:r>
              <a:rPr sz="3900" b="1" i="0" u="none">
                <a:solidFill>
                  <a:srgbClr val="FFFFFF"/>
                </a:solidFill>
                <a:latin typeface="Plus Jakarta Sans"/>
              </a:rPr>
              <a:t>Communication Protocols in IoT &amp; Embedded Systems</a:t>
            </a:r>
          </a:p>
        </p:txBody>
      </p:sp>
      <p:sp>
        <p:nvSpPr>
          <p:cNvPr id="16" name="TextBox 15"/>
          <p:cNvSpPr txBox="1"/>
          <p:nvPr/>
        </p:nvSpPr>
        <p:spPr>
          <a:xfrm>
            <a:off x="609600" y="3717577"/>
            <a:ext cx="8858250" cy="628650"/>
          </a:xfrm>
          <a:prstGeom prst="rect">
            <a:avLst/>
          </a:prstGeom>
          <a:noFill/>
        </p:spPr>
        <p:txBody>
          <a:bodyPr wrap="square" lIns="0" tIns="0" rIns="0" bIns="0" anchor="t">
            <a:spAutoFit/>
          </a:bodyPr>
          <a:lstStyle/>
          <a:p>
            <a:pPr algn="l">
              <a:lnSpc>
                <a:spcPts val="2475"/>
              </a:lnSpc>
            </a:pPr>
            <a:r>
              <a:rPr sz="1650" b="0" i="0" u="none">
                <a:solidFill>
                  <a:srgbClr val="94A3B8"/>
                </a:solidFill>
                <a:latin typeface="Plus Jakarta Sans"/>
              </a:rPr>
              <a:t>Building Connected Devices with ESP32: Wired Buses, Wireless Networks &amp; Cloud Application Layers</a:t>
            </a:r>
          </a:p>
        </p:txBody>
      </p:sp>
      <p:sp>
        <p:nvSpPr>
          <p:cNvPr id="17" name="TextBox 16"/>
          <p:cNvSpPr txBox="1"/>
          <p:nvPr/>
        </p:nvSpPr>
        <p:spPr>
          <a:xfrm>
            <a:off x="1057275" y="619125"/>
            <a:ext cx="3518296" cy="171450"/>
          </a:xfrm>
          <a:prstGeom prst="rect">
            <a:avLst/>
          </a:prstGeom>
          <a:noFill/>
        </p:spPr>
        <p:txBody>
          <a:bodyPr wrap="none" lIns="0" tIns="0" rIns="0" bIns="0" anchor="t">
            <a:spAutoFit/>
          </a:bodyPr>
          <a:lstStyle/>
          <a:p>
            <a:pPr algn="l"/>
            <a:r>
              <a:rPr sz="1050" b="1" i="0" u="none">
                <a:solidFill>
                  <a:srgbClr val="CBD5E1"/>
                </a:solidFill>
                <a:latin typeface="Plus Jakarta Sans"/>
              </a:rPr>
              <a:t>PROTOSPHERE WORKSHOP · SECTION 03</a:t>
            </a:r>
          </a:p>
        </p:txBody>
      </p:sp>
      <p:sp>
        <p:nvSpPr>
          <p:cNvPr id="18" name="TextBox 17"/>
          <p:cNvSpPr txBox="1"/>
          <p:nvPr/>
        </p:nvSpPr>
        <p:spPr>
          <a:xfrm>
            <a:off x="1104900" y="5972175"/>
            <a:ext cx="1333500" cy="142875"/>
          </a:xfrm>
          <a:prstGeom prst="rect">
            <a:avLst/>
          </a:prstGeom>
          <a:noFill/>
        </p:spPr>
        <p:txBody>
          <a:bodyPr wrap="none" lIns="0" tIns="0" rIns="0" bIns="0" anchor="t">
            <a:spAutoFit/>
          </a:bodyPr>
          <a:lstStyle/>
          <a:p>
            <a:pPr algn="l"/>
            <a:r>
              <a:rPr sz="900" b="1" i="0" u="none">
                <a:solidFill>
                  <a:srgbClr val="64748B"/>
                </a:solidFill>
                <a:latin typeface="Plus Jakarta Sans"/>
              </a:rPr>
              <a:t>HARDWARE LAYER</a:t>
            </a:r>
          </a:p>
        </p:txBody>
      </p:sp>
      <p:sp>
        <p:nvSpPr>
          <p:cNvPr id="19" name="TextBox 18"/>
          <p:cNvSpPr txBox="1"/>
          <p:nvPr/>
        </p:nvSpPr>
        <p:spPr>
          <a:xfrm>
            <a:off x="1104900" y="6115050"/>
            <a:ext cx="1333500" cy="180975"/>
          </a:xfrm>
          <a:prstGeom prst="rect">
            <a:avLst/>
          </a:prstGeom>
          <a:noFill/>
        </p:spPr>
        <p:txBody>
          <a:bodyPr wrap="none" lIns="0" tIns="0" rIns="0" bIns="0" anchor="t">
            <a:spAutoFit/>
          </a:bodyPr>
          <a:lstStyle/>
          <a:p>
            <a:pPr algn="l"/>
            <a:r>
              <a:rPr sz="1125" b="1" i="0" u="none">
                <a:solidFill>
                  <a:srgbClr val="F1F5F9"/>
                </a:solidFill>
                <a:latin typeface="Plus Jakarta Sans"/>
              </a:rPr>
              <a:t>UART · I2C · SPI</a:t>
            </a:r>
          </a:p>
        </p:txBody>
      </p:sp>
      <p:sp>
        <p:nvSpPr>
          <p:cNvPr id="20" name="TextBox 19"/>
          <p:cNvSpPr txBox="1"/>
          <p:nvPr/>
        </p:nvSpPr>
        <p:spPr>
          <a:xfrm>
            <a:off x="3267075" y="5972175"/>
            <a:ext cx="1500187" cy="142875"/>
          </a:xfrm>
          <a:prstGeom prst="rect">
            <a:avLst/>
          </a:prstGeom>
          <a:noFill/>
        </p:spPr>
        <p:txBody>
          <a:bodyPr wrap="none" lIns="0" tIns="0" rIns="0" bIns="0" anchor="t">
            <a:spAutoFit/>
          </a:bodyPr>
          <a:lstStyle/>
          <a:p>
            <a:pPr algn="l"/>
            <a:r>
              <a:rPr sz="900" b="1" i="0" u="none">
                <a:solidFill>
                  <a:srgbClr val="64748B"/>
                </a:solidFill>
                <a:latin typeface="Plus Jakarta Sans"/>
              </a:rPr>
              <a:t>WIRELESS LAYER</a:t>
            </a:r>
          </a:p>
        </p:txBody>
      </p:sp>
      <p:sp>
        <p:nvSpPr>
          <p:cNvPr id="21" name="TextBox 20"/>
          <p:cNvSpPr txBox="1"/>
          <p:nvPr/>
        </p:nvSpPr>
        <p:spPr>
          <a:xfrm>
            <a:off x="3267075" y="6115050"/>
            <a:ext cx="1500187" cy="180975"/>
          </a:xfrm>
          <a:prstGeom prst="rect">
            <a:avLst/>
          </a:prstGeom>
          <a:noFill/>
        </p:spPr>
        <p:txBody>
          <a:bodyPr wrap="none" lIns="0" tIns="0" rIns="0" bIns="0" anchor="t">
            <a:spAutoFit/>
          </a:bodyPr>
          <a:lstStyle/>
          <a:p>
            <a:pPr algn="l"/>
            <a:r>
              <a:rPr sz="1125" b="1" i="0" u="none">
                <a:solidFill>
                  <a:srgbClr val="F1F5F9"/>
                </a:solidFill>
                <a:latin typeface="Plus Jakarta Sans"/>
              </a:rPr>
              <a:t>Wi-Fi · BLE · LoRa</a:t>
            </a:r>
          </a:p>
        </p:txBody>
      </p:sp>
      <p:sp>
        <p:nvSpPr>
          <p:cNvPr id="22" name="TextBox 21"/>
          <p:cNvSpPr txBox="1"/>
          <p:nvPr/>
        </p:nvSpPr>
        <p:spPr>
          <a:xfrm>
            <a:off x="5581650" y="5972175"/>
            <a:ext cx="1143000" cy="142875"/>
          </a:xfrm>
          <a:prstGeom prst="rect">
            <a:avLst/>
          </a:prstGeom>
          <a:noFill/>
        </p:spPr>
        <p:txBody>
          <a:bodyPr wrap="none" lIns="0" tIns="0" rIns="0" bIns="0" anchor="t">
            <a:spAutoFit/>
          </a:bodyPr>
          <a:lstStyle/>
          <a:p>
            <a:pPr algn="l"/>
            <a:r>
              <a:rPr sz="900" b="1" i="0" u="none">
                <a:solidFill>
                  <a:srgbClr val="64748B"/>
                </a:solidFill>
                <a:latin typeface="Plus Jakarta Sans"/>
              </a:rPr>
              <a:t>CLOUD LAYER</a:t>
            </a:r>
          </a:p>
        </p:txBody>
      </p:sp>
      <p:sp>
        <p:nvSpPr>
          <p:cNvPr id="23" name="TextBox 22"/>
          <p:cNvSpPr txBox="1"/>
          <p:nvPr/>
        </p:nvSpPr>
        <p:spPr>
          <a:xfrm>
            <a:off x="5581650" y="6115050"/>
            <a:ext cx="1143000" cy="180975"/>
          </a:xfrm>
          <a:prstGeom prst="rect">
            <a:avLst/>
          </a:prstGeom>
          <a:noFill/>
        </p:spPr>
        <p:txBody>
          <a:bodyPr wrap="none" lIns="0" tIns="0" rIns="0" bIns="0" anchor="t">
            <a:spAutoFit/>
          </a:bodyPr>
          <a:lstStyle/>
          <a:p>
            <a:pPr algn="l"/>
            <a:r>
              <a:rPr sz="1125" b="1" i="0" u="none">
                <a:solidFill>
                  <a:srgbClr val="F1F5F9"/>
                </a:solidFill>
                <a:latin typeface="Plus Jakarta Sans"/>
              </a:rPr>
              <a:t>HTTP · MQTT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 0"/>
          <p:cNvSpPr/>
          <p:nvPr/>
        </p:nvSpPr>
        <p:spPr>
          <a:xfrm>
            <a:off x="532717" y="1643555"/>
            <a:ext cx="9546335" cy="6127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000" b="1" u="none" strike="noStrike" dirty="0">
                <a:solidFill>
                  <a:srgbClr val="10192B"/>
                </a:solidFill>
                <a:effectLst/>
                <a:uFillTx/>
                <a:latin typeface="Calibri"/>
                <a:ea typeface="Calibri"/>
              </a:rPr>
              <a:t>A Protocol Is Just an Agreement</a:t>
            </a:r>
            <a:endParaRPr lang="en-US" sz="3000" b="0" u="none" strike="noStrike" dirty="0">
              <a:solidFill>
                <a:srgbClr val="000000"/>
              </a:solidFill>
              <a:effectLst/>
              <a:uFillTx/>
              <a:latin typeface="Arial"/>
            </a:endParaRPr>
          </a:p>
        </p:txBody>
      </p:sp>
      <p:sp>
        <p:nvSpPr>
          <p:cNvPr id="101" name="PlaceHolder 1"/>
          <p:cNvSpPr>
            <a:spLocks noGrp="1"/>
          </p:cNvSpPr>
          <p:nvPr>
            <p:ph type="sldNum" idx="19"/>
          </p:nvPr>
        </p:nvSpPr>
        <p:spPr>
          <a:xfrm>
            <a:off x="11368800" y="6473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900" b="0" u="none" strike="noStrike">
                <a:solidFill>
                  <a:srgbClr val="5B6B82"/>
                </a:solidFill>
                <a:effectLst/>
                <a:uFillTx/>
                <a:latin typeface="Calibri"/>
                <a:ea typeface="Calibri"/>
              </a:defRPr>
            </a:lvl1pPr>
          </a:lstStyle>
          <a:p>
            <a:pPr indent="0" algn="r" defTabSz="914400">
              <a:lnSpc>
                <a:spcPct val="100000"/>
              </a:lnSpc>
              <a:buNone/>
            </a:pPr>
            <a:fld id="{143F33F3-4D2B-40B0-A1E0-C4D126F5C99F}" type="slidenum">
              <a:rPr lang="en-US" sz="900" b="0" u="none" strike="noStrike">
                <a:solidFill>
                  <a:srgbClr val="5B6B82"/>
                </a:solidFill>
                <a:effectLst/>
                <a:uFillTx/>
                <a:latin typeface="Calibri"/>
                <a:ea typeface="Calibri"/>
              </a:rPr>
              <a:t>2</a:t>
            </a:fld>
            <a:endParaRPr lang="en-US" sz="900" b="0" u="none" strike="noStrike">
              <a:solidFill>
                <a:srgbClr val="000000"/>
              </a:solidFill>
              <a:effectLst/>
              <a:uFillTx/>
              <a:latin typeface="Times New Roman"/>
            </a:endParaRPr>
          </a:p>
        </p:txBody>
      </p:sp>
      <p:sp>
        <p:nvSpPr>
          <p:cNvPr id="102" name="Analogy card"/>
          <p:cNvSpPr/>
          <p:nvPr/>
        </p:nvSpPr>
        <p:spPr>
          <a:xfrm>
            <a:off x="596462" y="2494104"/>
            <a:ext cx="4754880" cy="3154680"/>
          </a:xfrm>
          <a:prstGeom prst="roundRect">
            <a:avLst>
              <a:gd name="adj" fmla="val 3478"/>
            </a:avLst>
          </a:prstGeom>
          <a:solidFill>
            <a:srgbClr val="FFFFFF"/>
          </a:solidFill>
          <a:ln w="12700">
            <a:solidFill>
              <a:srgbClr val="D9E0EA"/>
            </a:solidFill>
          </a:ln>
        </p:spPr>
        <p:txBody>
          <a:bodyPr rtlCol="0" anchor="ctr"/>
          <a:lstStyle/>
          <a:p>
            <a:pPr algn="ctr"/>
            <a:endParaRPr/>
          </a:p>
        </p:txBody>
      </p:sp>
      <p:sp>
        <p:nvSpPr>
          <p:cNvPr id="103" name="TextBox 102"/>
          <p:cNvSpPr txBox="1"/>
          <p:nvPr/>
        </p:nvSpPr>
        <p:spPr>
          <a:xfrm>
            <a:off x="870782" y="2722704"/>
            <a:ext cx="4206240" cy="274320"/>
          </a:xfrm>
          <a:prstGeom prst="rect">
            <a:avLst/>
          </a:prstGeom>
          <a:noFill/>
        </p:spPr>
        <p:txBody>
          <a:bodyPr wrap="square" lIns="0" tIns="0" rIns="0" bIns="0" anchor="t">
            <a:noAutofit/>
          </a:bodyPr>
          <a:lstStyle/>
          <a:p>
            <a:pPr algn="l"/>
            <a:r>
              <a:rPr sz="1100" b="1" i="0" spc="150">
                <a:solidFill>
                  <a:srgbClr val="0B7F77"/>
                </a:solidFill>
                <a:latin typeface="Calibri"/>
              </a:rPr>
              <a:t>THINK WALKIE-TALKIE</a:t>
            </a:r>
          </a:p>
        </p:txBody>
      </p:sp>
      <p:grpSp>
        <p:nvGrpSpPr>
          <p:cNvPr id="2" name="Walkie-talkie diagram"/>
          <p:cNvGrpSpPr/>
          <p:nvPr/>
        </p:nvGrpSpPr>
        <p:grpSpPr>
          <a:xfrm>
            <a:off x="1007942" y="3294204"/>
            <a:ext cx="3931920" cy="1348740"/>
            <a:chOff x="960120" y="2308860"/>
            <a:chExt cx="3931920" cy="1348740"/>
          </a:xfrm>
        </p:grpSpPr>
        <p:sp>
          <p:nvSpPr>
            <p:cNvPr id="104" name="Oval 103"/>
            <p:cNvSpPr/>
            <p:nvPr/>
          </p:nvSpPr>
          <p:spPr>
            <a:xfrm>
              <a:off x="1120140" y="2308860"/>
              <a:ext cx="960120" cy="960120"/>
            </a:xfrm>
            <a:prstGeom prst="ellipse">
              <a:avLst/>
            </a:prstGeom>
            <a:solidFill>
              <a:srgbClr val="0B1E3D"/>
            </a:solidFill>
            <a:ln>
              <a:noFill/>
            </a:ln>
          </p:spPr>
          <p:txBody>
            <a:bodyPr rtlCol="0" anchor="ctr"/>
            <a:lstStyle/>
            <a:p>
              <a:pPr algn="ctr"/>
              <a:endParaRPr/>
            </a:p>
          </p:txBody>
        </p:sp>
        <p:pic>
          <p:nvPicPr>
            <p:cNvPr id="105" name="Picture 104" descr="FaWalkieTalkie_white.png"/>
            <p:cNvPicPr>
              <a:picLocks noChangeAspect="1"/>
            </p:cNvPicPr>
            <p:nvPr/>
          </p:nvPicPr>
          <p:blipFill>
            <a:blip r:embed="rId3"/>
            <a:stretch>
              <a:fillRect/>
            </a:stretch>
          </p:blipFill>
          <p:spPr>
            <a:xfrm>
              <a:off x="1360170" y="2548889"/>
              <a:ext cx="480060" cy="480060"/>
            </a:xfrm>
            <a:prstGeom prst="rect">
              <a:avLst/>
            </a:prstGeom>
          </p:spPr>
        </p:pic>
        <p:sp>
          <p:nvSpPr>
            <p:cNvPr id="106" name="Oval 105"/>
            <p:cNvSpPr/>
            <p:nvPr/>
          </p:nvSpPr>
          <p:spPr>
            <a:xfrm>
              <a:off x="3771900" y="2308860"/>
              <a:ext cx="960120" cy="960120"/>
            </a:xfrm>
            <a:prstGeom prst="ellipse">
              <a:avLst/>
            </a:prstGeom>
            <a:solidFill>
              <a:srgbClr val="0B1E3D"/>
            </a:solidFill>
            <a:ln>
              <a:noFill/>
            </a:ln>
          </p:spPr>
          <p:txBody>
            <a:bodyPr rtlCol="0" anchor="ctr"/>
            <a:lstStyle/>
            <a:p>
              <a:pPr algn="ctr"/>
              <a:endParaRPr/>
            </a:p>
          </p:txBody>
        </p:sp>
        <p:pic>
          <p:nvPicPr>
            <p:cNvPr id="107" name="Picture 106" descr="FaWalkieTalkie_white.png"/>
            <p:cNvPicPr>
              <a:picLocks noChangeAspect="1"/>
            </p:cNvPicPr>
            <p:nvPr/>
          </p:nvPicPr>
          <p:blipFill>
            <a:blip r:embed="rId3"/>
            <a:stretch>
              <a:fillRect/>
            </a:stretch>
          </p:blipFill>
          <p:spPr>
            <a:xfrm>
              <a:off x="4011930" y="2548889"/>
              <a:ext cx="480060" cy="480060"/>
            </a:xfrm>
            <a:prstGeom prst="rect">
              <a:avLst/>
            </a:prstGeom>
          </p:spPr>
        </p:pic>
        <p:cxnSp>
          <p:nvCxnSpPr>
            <p:cNvPr id="108" name="Connector 107"/>
            <p:cNvCxnSpPr/>
            <p:nvPr/>
          </p:nvCxnSpPr>
          <p:spPr>
            <a:xfrm>
              <a:off x="2194560" y="2788920"/>
              <a:ext cx="1463040" cy="0"/>
            </a:xfrm>
            <a:prstGeom prst="line">
              <a:avLst/>
            </a:prstGeom>
            <a:ln w="25400">
              <a:solidFill>
                <a:srgbClr val="12B5A8"/>
              </a:solidFill>
              <a:prstDash val="dash"/>
              <a:headEnd type="triangle" w="med" len="med"/>
              <a:tailEnd type="triangle" w="med" len="med"/>
            </a:ln>
          </p:spPr>
        </p:cxnSp>
        <p:sp>
          <p:nvSpPr>
            <p:cNvPr id="109" name="TextBox 108"/>
            <p:cNvSpPr txBox="1"/>
            <p:nvPr/>
          </p:nvSpPr>
          <p:spPr>
            <a:xfrm>
              <a:off x="2103120" y="2395728"/>
              <a:ext cx="1645920" cy="274320"/>
            </a:xfrm>
            <a:prstGeom prst="rect">
              <a:avLst/>
            </a:prstGeom>
            <a:noFill/>
          </p:spPr>
          <p:txBody>
            <a:bodyPr wrap="square" lIns="0" tIns="0" rIns="0" bIns="0" anchor="t">
              <a:noAutofit/>
            </a:bodyPr>
            <a:lstStyle/>
            <a:p>
              <a:pPr algn="ctr"/>
              <a:r>
                <a:rPr sz="1200" b="0" i="1">
                  <a:solidFill>
                    <a:srgbClr val="5B6B82"/>
                  </a:solidFill>
                  <a:latin typeface="Calibri"/>
                </a:rPr>
                <a:t>agree on the rules</a:t>
              </a:r>
            </a:p>
          </p:txBody>
        </p:sp>
        <p:sp>
          <p:nvSpPr>
            <p:cNvPr id="110" name="TextBox 109"/>
            <p:cNvSpPr txBox="1"/>
            <p:nvPr/>
          </p:nvSpPr>
          <p:spPr>
            <a:xfrm>
              <a:off x="960120" y="3383280"/>
              <a:ext cx="1280160" cy="274320"/>
            </a:xfrm>
            <a:prstGeom prst="rect">
              <a:avLst/>
            </a:prstGeom>
            <a:noFill/>
          </p:spPr>
          <p:txBody>
            <a:bodyPr wrap="square" lIns="0" tIns="0" rIns="0" bIns="0" anchor="t">
              <a:noAutofit/>
            </a:bodyPr>
            <a:lstStyle/>
            <a:p>
              <a:pPr algn="ctr"/>
              <a:r>
                <a:rPr sz="1300" b="1" i="0">
                  <a:solidFill>
                    <a:srgbClr val="10192B"/>
                  </a:solidFill>
                  <a:latin typeface="Calibri"/>
                </a:rPr>
                <a:t>Device A</a:t>
              </a:r>
            </a:p>
          </p:txBody>
        </p:sp>
        <p:sp>
          <p:nvSpPr>
            <p:cNvPr id="111" name="TextBox 110"/>
            <p:cNvSpPr txBox="1"/>
            <p:nvPr/>
          </p:nvSpPr>
          <p:spPr>
            <a:xfrm>
              <a:off x="3611880" y="3383280"/>
              <a:ext cx="1280160" cy="274320"/>
            </a:xfrm>
            <a:prstGeom prst="rect">
              <a:avLst/>
            </a:prstGeom>
            <a:noFill/>
          </p:spPr>
          <p:txBody>
            <a:bodyPr wrap="square" lIns="0" tIns="0" rIns="0" bIns="0" anchor="t">
              <a:noAutofit/>
            </a:bodyPr>
            <a:lstStyle/>
            <a:p>
              <a:pPr algn="ctr"/>
              <a:r>
                <a:rPr sz="1300" b="1" i="0">
                  <a:solidFill>
                    <a:srgbClr val="10192B"/>
                  </a:solidFill>
                  <a:latin typeface="Calibri"/>
                </a:rPr>
                <a:t>Device B</a:t>
              </a:r>
            </a:p>
          </p:txBody>
        </p:sp>
      </p:grpSp>
      <p:sp>
        <p:nvSpPr>
          <p:cNvPr id="112" name="Analogy caption"/>
          <p:cNvSpPr txBox="1"/>
          <p:nvPr/>
        </p:nvSpPr>
        <p:spPr>
          <a:xfrm>
            <a:off x="870782" y="4871544"/>
            <a:ext cx="4206240" cy="640080"/>
          </a:xfrm>
          <a:prstGeom prst="rect">
            <a:avLst/>
          </a:prstGeom>
          <a:noFill/>
        </p:spPr>
        <p:txBody>
          <a:bodyPr wrap="square" lIns="0" tIns="0" rIns="0" bIns="0" anchor="t">
            <a:noAutofit/>
          </a:bodyPr>
          <a:lstStyle/>
          <a:p>
            <a:pPr algn="l"/>
            <a:r>
              <a:rPr sz="1400" b="0" i="0">
                <a:solidFill>
                  <a:srgbClr val="10192B"/>
                </a:solidFill>
                <a:latin typeface="Calibri"/>
              </a:rPr>
              <a:t>Before anyone speaks, both sides agree how the conversation works. That agreement is the protocol.</a:t>
            </a:r>
          </a:p>
        </p:txBody>
      </p:sp>
      <p:grpSp>
        <p:nvGrpSpPr>
          <p:cNvPr id="3" name="Rule 1"/>
          <p:cNvGrpSpPr/>
          <p:nvPr/>
        </p:nvGrpSpPr>
        <p:grpSpPr>
          <a:xfrm>
            <a:off x="5625662" y="2494104"/>
            <a:ext cx="2926080" cy="1463040"/>
            <a:chOff x="5577840" y="1508760"/>
            <a:chExt cx="2926080" cy="1463040"/>
          </a:xfrm>
        </p:grpSpPr>
        <p:sp>
          <p:nvSpPr>
            <p:cNvPr id="113" name="Rounded Rectangle 112"/>
            <p:cNvSpPr/>
            <p:nvPr/>
          </p:nvSpPr>
          <p:spPr>
            <a:xfrm>
              <a:off x="5577840" y="1508760"/>
              <a:ext cx="2926080" cy="1463040"/>
            </a:xfrm>
            <a:prstGeom prst="roundRect">
              <a:avLst>
                <a:gd name="adj" fmla="val 7500"/>
              </a:avLst>
            </a:prstGeom>
            <a:solidFill>
              <a:srgbClr val="FFFFFF"/>
            </a:solidFill>
            <a:ln w="12700">
              <a:solidFill>
                <a:srgbClr val="D9E0EA"/>
              </a:solidFill>
            </a:ln>
          </p:spPr>
          <p:txBody>
            <a:bodyPr rtlCol="0" anchor="ctr"/>
            <a:lstStyle/>
            <a:p>
              <a:pPr algn="ctr"/>
              <a:endParaRPr/>
            </a:p>
          </p:txBody>
        </p:sp>
        <p:sp>
          <p:nvSpPr>
            <p:cNvPr id="114" name="Oval 113"/>
            <p:cNvSpPr/>
            <p:nvPr/>
          </p:nvSpPr>
          <p:spPr>
            <a:xfrm>
              <a:off x="5788152" y="1920240"/>
              <a:ext cx="640080" cy="640080"/>
            </a:xfrm>
            <a:prstGeom prst="ellipse">
              <a:avLst/>
            </a:prstGeom>
            <a:solidFill>
              <a:srgbClr val="31D6C9"/>
            </a:solidFill>
            <a:ln>
              <a:noFill/>
            </a:ln>
          </p:spPr>
          <p:txBody>
            <a:bodyPr rtlCol="0" anchor="ctr"/>
            <a:lstStyle/>
            <a:p>
              <a:pPr algn="ctr"/>
              <a:endParaRPr/>
            </a:p>
          </p:txBody>
        </p:sp>
        <p:pic>
          <p:nvPicPr>
            <p:cNvPr id="115" name="Picture 114" descr="FaCrown_navy.png"/>
            <p:cNvPicPr>
              <a:picLocks noChangeAspect="1"/>
            </p:cNvPicPr>
            <p:nvPr/>
          </p:nvPicPr>
          <p:blipFill>
            <a:blip r:embed="rId4"/>
            <a:stretch>
              <a:fillRect/>
            </a:stretch>
          </p:blipFill>
          <p:spPr>
            <a:xfrm>
              <a:off x="5948172" y="2080260"/>
              <a:ext cx="320040" cy="320040"/>
            </a:xfrm>
            <a:prstGeom prst="rect">
              <a:avLst/>
            </a:prstGeom>
          </p:spPr>
        </p:pic>
        <p:sp>
          <p:nvSpPr>
            <p:cNvPr id="116" name="TextBox 115"/>
            <p:cNvSpPr txBox="1"/>
            <p:nvPr/>
          </p:nvSpPr>
          <p:spPr>
            <a:xfrm>
              <a:off x="6583679" y="1645919"/>
              <a:ext cx="1783080" cy="1188720"/>
            </a:xfrm>
            <a:prstGeom prst="rect">
              <a:avLst/>
            </a:prstGeom>
            <a:noFill/>
          </p:spPr>
          <p:txBody>
            <a:bodyPr wrap="square" lIns="0" tIns="0" rIns="0" bIns="0" anchor="ctr">
              <a:noAutofit/>
            </a:bodyPr>
            <a:lstStyle/>
            <a:p>
              <a:pPr algn="l">
                <a:spcAft>
                  <a:spcPts val="300"/>
                </a:spcAft>
              </a:pPr>
              <a:r>
                <a:rPr sz="1700" b="1" i="0">
                  <a:solidFill>
                    <a:srgbClr val="10192B"/>
                  </a:solidFill>
                  <a:latin typeface="Calibri"/>
                </a:rPr>
                <a:t>Who talks first?</a:t>
              </a:r>
            </a:p>
            <a:p>
              <a:pPr algn="l"/>
              <a:r>
                <a:rPr sz="1350" b="0" i="0">
                  <a:solidFill>
                    <a:srgbClr val="5B6B82"/>
                  </a:solidFill>
                  <a:latin typeface="Calibri"/>
                </a:rPr>
                <a:t>A master leads, or peers talk freely</a:t>
              </a:r>
            </a:p>
          </p:txBody>
        </p:sp>
      </p:grpSp>
      <p:grpSp>
        <p:nvGrpSpPr>
          <p:cNvPr id="4" name="Rule 2"/>
          <p:cNvGrpSpPr/>
          <p:nvPr/>
        </p:nvGrpSpPr>
        <p:grpSpPr>
          <a:xfrm>
            <a:off x="8762054" y="2494104"/>
            <a:ext cx="2926080" cy="1463040"/>
            <a:chOff x="8714232" y="1508760"/>
            <a:chExt cx="2926080" cy="1463040"/>
          </a:xfrm>
        </p:grpSpPr>
        <p:sp>
          <p:nvSpPr>
            <p:cNvPr id="117" name="Rounded Rectangle 116"/>
            <p:cNvSpPr/>
            <p:nvPr/>
          </p:nvSpPr>
          <p:spPr>
            <a:xfrm>
              <a:off x="8714232" y="1508760"/>
              <a:ext cx="2926080" cy="1463040"/>
            </a:xfrm>
            <a:prstGeom prst="roundRect">
              <a:avLst>
                <a:gd name="adj" fmla="val 7500"/>
              </a:avLst>
            </a:prstGeom>
            <a:solidFill>
              <a:srgbClr val="FFFFFF"/>
            </a:solidFill>
            <a:ln w="12700">
              <a:solidFill>
                <a:srgbClr val="D9E0EA"/>
              </a:solidFill>
            </a:ln>
          </p:spPr>
          <p:txBody>
            <a:bodyPr rtlCol="0" anchor="ctr"/>
            <a:lstStyle/>
            <a:p>
              <a:pPr algn="ctr"/>
              <a:endParaRPr/>
            </a:p>
          </p:txBody>
        </p:sp>
        <p:sp>
          <p:nvSpPr>
            <p:cNvPr id="118" name="Oval 117"/>
            <p:cNvSpPr/>
            <p:nvPr/>
          </p:nvSpPr>
          <p:spPr>
            <a:xfrm>
              <a:off x="8924544" y="1920240"/>
              <a:ext cx="640080" cy="640080"/>
            </a:xfrm>
            <a:prstGeom prst="ellipse">
              <a:avLst/>
            </a:prstGeom>
            <a:solidFill>
              <a:srgbClr val="31D6C9"/>
            </a:solidFill>
            <a:ln>
              <a:noFill/>
            </a:ln>
          </p:spPr>
          <p:txBody>
            <a:bodyPr rtlCol="0" anchor="ctr"/>
            <a:lstStyle/>
            <a:p>
              <a:pPr algn="ctr"/>
              <a:endParaRPr/>
            </a:p>
          </p:txBody>
        </p:sp>
        <p:pic>
          <p:nvPicPr>
            <p:cNvPr id="119" name="Picture 118" descr="FaGaugeHigh_navy.png"/>
            <p:cNvPicPr>
              <a:picLocks noChangeAspect="1"/>
            </p:cNvPicPr>
            <p:nvPr/>
          </p:nvPicPr>
          <p:blipFill>
            <a:blip r:embed="rId5"/>
            <a:stretch>
              <a:fillRect/>
            </a:stretch>
          </p:blipFill>
          <p:spPr>
            <a:xfrm>
              <a:off x="9084563" y="2080260"/>
              <a:ext cx="320040" cy="320040"/>
            </a:xfrm>
            <a:prstGeom prst="rect">
              <a:avLst/>
            </a:prstGeom>
          </p:spPr>
        </p:pic>
        <p:sp>
          <p:nvSpPr>
            <p:cNvPr id="120" name="TextBox 119"/>
            <p:cNvSpPr txBox="1"/>
            <p:nvPr/>
          </p:nvSpPr>
          <p:spPr>
            <a:xfrm>
              <a:off x="9720072" y="1645919"/>
              <a:ext cx="1783080" cy="1188720"/>
            </a:xfrm>
            <a:prstGeom prst="rect">
              <a:avLst/>
            </a:prstGeom>
            <a:noFill/>
          </p:spPr>
          <p:txBody>
            <a:bodyPr wrap="square" lIns="0" tIns="0" rIns="0" bIns="0" anchor="ctr">
              <a:noAutofit/>
            </a:bodyPr>
            <a:lstStyle/>
            <a:p>
              <a:pPr algn="l">
                <a:spcAft>
                  <a:spcPts val="300"/>
                </a:spcAft>
              </a:pPr>
              <a:r>
                <a:rPr sz="1700" b="1" i="0">
                  <a:solidFill>
                    <a:srgbClr val="10192B"/>
                  </a:solidFill>
                  <a:latin typeface="Calibri"/>
                </a:rPr>
                <a:t>How fast?</a:t>
              </a:r>
            </a:p>
            <a:p>
              <a:pPr algn="l"/>
              <a:r>
                <a:rPr sz="1350" b="0" i="0">
                  <a:solidFill>
                    <a:srgbClr val="5B6B82"/>
                  </a:solidFill>
                  <a:latin typeface="Calibri"/>
                </a:rPr>
                <a:t>Clock speed or baud rate</a:t>
              </a:r>
            </a:p>
          </p:txBody>
        </p:sp>
      </p:grpSp>
      <p:grpSp>
        <p:nvGrpSpPr>
          <p:cNvPr id="5" name="Rule 3"/>
          <p:cNvGrpSpPr/>
          <p:nvPr/>
        </p:nvGrpSpPr>
        <p:grpSpPr>
          <a:xfrm>
            <a:off x="5625662" y="4185744"/>
            <a:ext cx="2926080" cy="1463040"/>
            <a:chOff x="5577840" y="3200400"/>
            <a:chExt cx="2926080" cy="1463040"/>
          </a:xfrm>
        </p:grpSpPr>
        <p:sp>
          <p:nvSpPr>
            <p:cNvPr id="121" name="Rounded Rectangle 120"/>
            <p:cNvSpPr/>
            <p:nvPr/>
          </p:nvSpPr>
          <p:spPr>
            <a:xfrm>
              <a:off x="5577840" y="3200400"/>
              <a:ext cx="2926080" cy="1463040"/>
            </a:xfrm>
            <a:prstGeom prst="roundRect">
              <a:avLst>
                <a:gd name="adj" fmla="val 7500"/>
              </a:avLst>
            </a:prstGeom>
            <a:solidFill>
              <a:srgbClr val="FFFFFF"/>
            </a:solidFill>
            <a:ln w="12700">
              <a:solidFill>
                <a:srgbClr val="D9E0EA"/>
              </a:solidFill>
            </a:ln>
          </p:spPr>
          <p:txBody>
            <a:bodyPr rtlCol="0" anchor="ctr"/>
            <a:lstStyle/>
            <a:p>
              <a:pPr algn="ctr"/>
              <a:endParaRPr/>
            </a:p>
          </p:txBody>
        </p:sp>
        <p:sp>
          <p:nvSpPr>
            <p:cNvPr id="122" name="Oval 121"/>
            <p:cNvSpPr/>
            <p:nvPr/>
          </p:nvSpPr>
          <p:spPr>
            <a:xfrm>
              <a:off x="5788152" y="3611879"/>
              <a:ext cx="640080" cy="640080"/>
            </a:xfrm>
            <a:prstGeom prst="ellipse">
              <a:avLst/>
            </a:prstGeom>
            <a:solidFill>
              <a:srgbClr val="31D6C9"/>
            </a:solidFill>
            <a:ln>
              <a:noFill/>
            </a:ln>
          </p:spPr>
          <p:txBody>
            <a:bodyPr rtlCol="0" anchor="ctr"/>
            <a:lstStyle/>
            <a:p>
              <a:pPr algn="ctr"/>
              <a:endParaRPr/>
            </a:p>
          </p:txBody>
        </p:sp>
        <p:pic>
          <p:nvPicPr>
            <p:cNvPr id="123" name="Picture 122" descr="FaRulerHorizontal_navy.png"/>
            <p:cNvPicPr>
              <a:picLocks noChangeAspect="1"/>
            </p:cNvPicPr>
            <p:nvPr/>
          </p:nvPicPr>
          <p:blipFill>
            <a:blip r:embed="rId6"/>
            <a:stretch>
              <a:fillRect/>
            </a:stretch>
          </p:blipFill>
          <p:spPr>
            <a:xfrm>
              <a:off x="5948172" y="3771900"/>
              <a:ext cx="320040" cy="320040"/>
            </a:xfrm>
            <a:prstGeom prst="rect">
              <a:avLst/>
            </a:prstGeom>
          </p:spPr>
        </p:pic>
        <p:sp>
          <p:nvSpPr>
            <p:cNvPr id="124" name="TextBox 123"/>
            <p:cNvSpPr txBox="1"/>
            <p:nvPr/>
          </p:nvSpPr>
          <p:spPr>
            <a:xfrm>
              <a:off x="6583679" y="3337560"/>
              <a:ext cx="1783080" cy="1188720"/>
            </a:xfrm>
            <a:prstGeom prst="rect">
              <a:avLst/>
            </a:prstGeom>
            <a:noFill/>
          </p:spPr>
          <p:txBody>
            <a:bodyPr wrap="square" lIns="0" tIns="0" rIns="0" bIns="0" anchor="ctr">
              <a:noAutofit/>
            </a:bodyPr>
            <a:lstStyle/>
            <a:p>
              <a:pPr algn="l">
                <a:spcAft>
                  <a:spcPts val="300"/>
                </a:spcAft>
              </a:pPr>
              <a:r>
                <a:rPr sz="1700" b="1" i="0">
                  <a:solidFill>
                    <a:srgbClr val="10192B"/>
                  </a:solidFill>
                  <a:latin typeface="Calibri"/>
                </a:rPr>
                <a:t>Where does it begin and end?</a:t>
              </a:r>
            </a:p>
            <a:p>
              <a:pPr algn="l"/>
              <a:r>
                <a:rPr sz="1350" b="0" i="0">
                  <a:solidFill>
                    <a:srgbClr val="5B6B82"/>
                  </a:solidFill>
                  <a:latin typeface="Calibri"/>
                </a:rPr>
                <a:t>Framing: start and stop markers</a:t>
              </a:r>
            </a:p>
          </p:txBody>
        </p:sp>
      </p:grpSp>
      <p:grpSp>
        <p:nvGrpSpPr>
          <p:cNvPr id="6" name="Rule 4"/>
          <p:cNvGrpSpPr/>
          <p:nvPr/>
        </p:nvGrpSpPr>
        <p:grpSpPr>
          <a:xfrm>
            <a:off x="8762054" y="4185744"/>
            <a:ext cx="2926080" cy="1463040"/>
            <a:chOff x="8714232" y="3200400"/>
            <a:chExt cx="2926080" cy="1463040"/>
          </a:xfrm>
        </p:grpSpPr>
        <p:sp>
          <p:nvSpPr>
            <p:cNvPr id="125" name="Rounded Rectangle 124"/>
            <p:cNvSpPr/>
            <p:nvPr/>
          </p:nvSpPr>
          <p:spPr>
            <a:xfrm>
              <a:off x="8714232" y="3200400"/>
              <a:ext cx="2926080" cy="1463040"/>
            </a:xfrm>
            <a:prstGeom prst="roundRect">
              <a:avLst>
                <a:gd name="adj" fmla="val 7500"/>
              </a:avLst>
            </a:prstGeom>
            <a:solidFill>
              <a:srgbClr val="FFFFFF"/>
            </a:solidFill>
            <a:ln w="12700">
              <a:solidFill>
                <a:srgbClr val="D9E0EA"/>
              </a:solidFill>
            </a:ln>
          </p:spPr>
          <p:txBody>
            <a:bodyPr rtlCol="0" anchor="ctr"/>
            <a:lstStyle/>
            <a:p>
              <a:pPr algn="ctr"/>
              <a:endParaRPr/>
            </a:p>
          </p:txBody>
        </p:sp>
        <p:sp>
          <p:nvSpPr>
            <p:cNvPr id="126" name="Oval 125"/>
            <p:cNvSpPr/>
            <p:nvPr/>
          </p:nvSpPr>
          <p:spPr>
            <a:xfrm>
              <a:off x="8924544" y="3611879"/>
              <a:ext cx="640080" cy="640080"/>
            </a:xfrm>
            <a:prstGeom prst="ellipse">
              <a:avLst/>
            </a:prstGeom>
            <a:solidFill>
              <a:srgbClr val="31D6C9"/>
            </a:solidFill>
            <a:ln>
              <a:noFill/>
            </a:ln>
          </p:spPr>
          <p:txBody>
            <a:bodyPr rtlCol="0" anchor="ctr"/>
            <a:lstStyle/>
            <a:p>
              <a:pPr algn="ctr"/>
              <a:endParaRPr/>
            </a:p>
          </p:txBody>
        </p:sp>
        <p:pic>
          <p:nvPicPr>
            <p:cNvPr id="127" name="Picture 126" descr="FaCircleCheck_navy.png"/>
            <p:cNvPicPr>
              <a:picLocks noChangeAspect="1"/>
            </p:cNvPicPr>
            <p:nvPr/>
          </p:nvPicPr>
          <p:blipFill>
            <a:blip r:embed="rId7"/>
            <a:stretch>
              <a:fillRect/>
            </a:stretch>
          </p:blipFill>
          <p:spPr>
            <a:xfrm>
              <a:off x="9084563" y="3771900"/>
              <a:ext cx="320040" cy="320040"/>
            </a:xfrm>
            <a:prstGeom prst="rect">
              <a:avLst/>
            </a:prstGeom>
          </p:spPr>
        </p:pic>
        <p:sp>
          <p:nvSpPr>
            <p:cNvPr id="128" name="TextBox 127"/>
            <p:cNvSpPr txBox="1"/>
            <p:nvPr/>
          </p:nvSpPr>
          <p:spPr>
            <a:xfrm>
              <a:off x="9720072" y="3337560"/>
              <a:ext cx="1783080" cy="1188720"/>
            </a:xfrm>
            <a:prstGeom prst="rect">
              <a:avLst/>
            </a:prstGeom>
            <a:noFill/>
          </p:spPr>
          <p:txBody>
            <a:bodyPr wrap="square" lIns="0" tIns="0" rIns="0" bIns="0" anchor="ctr">
              <a:noAutofit/>
            </a:bodyPr>
            <a:lstStyle/>
            <a:p>
              <a:pPr algn="l">
                <a:spcAft>
                  <a:spcPts val="300"/>
                </a:spcAft>
              </a:pPr>
              <a:r>
                <a:rPr sz="1700" b="1" i="0">
                  <a:solidFill>
                    <a:srgbClr val="10192B"/>
                  </a:solidFill>
                  <a:latin typeface="Calibri"/>
                </a:rPr>
                <a:t>Did it arrive?</a:t>
              </a:r>
            </a:p>
            <a:p>
              <a:pPr algn="l"/>
              <a:r>
                <a:rPr sz="1350" b="0" i="0">
                  <a:solidFill>
                    <a:srgbClr val="5B6B82"/>
                  </a:solidFill>
                  <a:latin typeface="Calibri"/>
                </a:rPr>
                <a:t>Acknowledgements and checksums</a:t>
              </a:r>
            </a:p>
          </p:txBody>
        </p:sp>
      </p:grpSp>
      <p:sp>
        <p:nvSpPr>
          <p:cNvPr id="8" name="TextBox 7">
            <a:extLst>
              <a:ext uri="{FF2B5EF4-FFF2-40B4-BE49-F238E27FC236}">
                <a16:creationId xmlns:a16="http://schemas.microsoft.com/office/drawing/2014/main" id="{3C259BCD-139B-E066-77C1-31D39416BA1C}"/>
              </a:ext>
            </a:extLst>
          </p:cNvPr>
          <p:cNvSpPr txBox="1"/>
          <p:nvPr/>
        </p:nvSpPr>
        <p:spPr>
          <a:xfrm>
            <a:off x="596462" y="484601"/>
            <a:ext cx="7183185" cy="861774"/>
          </a:xfrm>
          <a:prstGeom prst="rect">
            <a:avLst/>
          </a:prstGeom>
          <a:noFill/>
        </p:spPr>
        <p:txBody>
          <a:bodyPr wrap="none" rtlCol="0">
            <a:spAutoFit/>
          </a:bodyPr>
          <a:lstStyle/>
          <a:p>
            <a:r>
              <a:rPr lang="en-US" sz="3200" b="1" dirty="0">
                <a:solidFill>
                  <a:srgbClr val="0F172A"/>
                </a:solidFill>
                <a:latin typeface="Plus Jakarta Sans"/>
              </a:rPr>
              <a:t>What Even Is a Communication Protocol?</a:t>
            </a:r>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02920" y="2468881"/>
            <a:ext cx="3611880" cy="2426970"/>
          </a:xfrm>
          <a:prstGeom prst="roundRect">
            <a:avLst>
              <a:gd name="adj" fmla="val 66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191000" y="2468881"/>
            <a:ext cx="3657600" cy="2426969"/>
          </a:xfrm>
          <a:prstGeom prst="roundRect">
            <a:avLst>
              <a:gd name="adj" fmla="val 66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924800" y="2468881"/>
            <a:ext cx="3657600" cy="2426969"/>
          </a:xfrm>
          <a:prstGeom prst="roundRect">
            <a:avLst>
              <a:gd name="adj" fmla="val 669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23925" y="2933700"/>
            <a:ext cx="790575" cy="22860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23925" y="4267200"/>
            <a:ext cx="5905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590675" y="4267200"/>
            <a:ext cx="5143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181225" y="4267200"/>
            <a:ext cx="5143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4657725" y="2933700"/>
            <a:ext cx="819150" cy="22860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657725" y="4267200"/>
            <a:ext cx="6667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400675" y="4267200"/>
            <a:ext cx="5143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5991225" y="4267200"/>
            <a:ext cx="5905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ounded Rectangle 12"/>
          <p:cNvSpPr/>
          <p:nvPr/>
        </p:nvSpPr>
        <p:spPr>
          <a:xfrm>
            <a:off x="8391525" y="2933700"/>
            <a:ext cx="819150" cy="2286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391525" y="4267200"/>
            <a:ext cx="5905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9058275" y="4267200"/>
            <a:ext cx="590550" cy="314325"/>
          </a:xfrm>
          <a:prstGeom prst="roundRect">
            <a:avLst>
              <a:gd name="adj" fmla="val 24242"/>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image.png"/>
          <p:cNvPicPr>
            <a:picLocks noChangeAspect="1"/>
          </p:cNvPicPr>
          <p:nvPr/>
        </p:nvPicPr>
        <p:blipFill>
          <a:blip r:embed="rId2"/>
          <a:stretch>
            <a:fillRect/>
          </a:stretch>
        </p:blipFill>
        <p:spPr>
          <a:xfrm>
            <a:off x="3609975" y="2952750"/>
            <a:ext cx="190500" cy="190500"/>
          </a:xfrm>
          <a:prstGeom prst="rect">
            <a:avLst/>
          </a:prstGeom>
        </p:spPr>
      </p:pic>
      <p:pic>
        <p:nvPicPr>
          <p:cNvPr id="18" name="Picture 17" descr="image.png"/>
          <p:cNvPicPr>
            <a:picLocks noChangeAspect="1"/>
          </p:cNvPicPr>
          <p:nvPr/>
        </p:nvPicPr>
        <p:blipFill>
          <a:blip r:embed="rId3"/>
          <a:stretch>
            <a:fillRect/>
          </a:stretch>
        </p:blipFill>
        <p:spPr>
          <a:xfrm>
            <a:off x="7296150" y="2952750"/>
            <a:ext cx="238125" cy="190500"/>
          </a:xfrm>
          <a:prstGeom prst="rect">
            <a:avLst/>
          </a:prstGeom>
        </p:spPr>
      </p:pic>
      <p:pic>
        <p:nvPicPr>
          <p:cNvPr id="19" name="Picture 18" descr="image.png"/>
          <p:cNvPicPr>
            <a:picLocks noChangeAspect="1"/>
          </p:cNvPicPr>
          <p:nvPr/>
        </p:nvPicPr>
        <p:blipFill>
          <a:blip r:embed="rId4"/>
          <a:stretch>
            <a:fillRect/>
          </a:stretch>
        </p:blipFill>
        <p:spPr>
          <a:xfrm>
            <a:off x="11029950" y="2952750"/>
            <a:ext cx="238125" cy="190500"/>
          </a:xfrm>
          <a:prstGeom prst="rect">
            <a:avLst/>
          </a:prstGeom>
        </p:spPr>
      </p:pic>
      <p:sp>
        <p:nvSpPr>
          <p:cNvPr id="20" name="TextBox 19"/>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Plus Jakarta Sans"/>
              </a:rPr>
              <a:t>SYSTEM ARCHITECTURE</a:t>
            </a:r>
          </a:p>
        </p:txBody>
      </p:sp>
      <p:sp>
        <p:nvSpPr>
          <p:cNvPr id="21" name="TextBox 20"/>
          <p:cNvSpPr txBox="1"/>
          <p:nvPr/>
        </p:nvSpPr>
        <p:spPr>
          <a:xfrm>
            <a:off x="609600" y="685800"/>
            <a:ext cx="11582400" cy="428625"/>
          </a:xfrm>
          <a:prstGeom prst="rect">
            <a:avLst/>
          </a:prstGeom>
          <a:noFill/>
        </p:spPr>
        <p:txBody>
          <a:bodyPr wrap="none" lIns="0" tIns="0" rIns="0" bIns="0" anchor="t">
            <a:spAutoFit/>
          </a:bodyPr>
          <a:lstStyle/>
          <a:p>
            <a:pPr algn="l"/>
            <a:r>
              <a:rPr sz="2700" b="1" i="0" u="none">
                <a:solidFill>
                  <a:srgbClr val="0F172A"/>
                </a:solidFill>
                <a:latin typeface="Plus Jakarta Sans"/>
              </a:rPr>
              <a:t>The 3 Connectivity Buckets</a:t>
            </a:r>
          </a:p>
        </p:txBody>
      </p:sp>
      <p:sp>
        <p:nvSpPr>
          <p:cNvPr id="22" name="TextBox 21"/>
          <p:cNvSpPr txBox="1"/>
          <p:nvPr/>
        </p:nvSpPr>
        <p:spPr>
          <a:xfrm>
            <a:off x="923925" y="3352800"/>
            <a:ext cx="1169231" cy="276999"/>
          </a:xfrm>
          <a:prstGeom prst="rect">
            <a:avLst/>
          </a:prstGeom>
          <a:noFill/>
        </p:spPr>
        <p:txBody>
          <a:bodyPr wrap="none" lIns="0" tIns="0" rIns="0" bIns="0" anchor="t">
            <a:spAutoFit/>
          </a:bodyPr>
          <a:lstStyle/>
          <a:p>
            <a:pPr algn="l"/>
            <a:r>
              <a:rPr b="1" i="0" u="none" dirty="0">
                <a:solidFill>
                  <a:srgbClr val="0F172A"/>
                </a:solidFill>
                <a:latin typeface="Plus Jakarta Sans"/>
              </a:rPr>
              <a:t>Wired Serial</a:t>
            </a:r>
          </a:p>
        </p:txBody>
      </p:sp>
      <p:sp>
        <p:nvSpPr>
          <p:cNvPr id="23" name="TextBox 22"/>
          <p:cNvSpPr txBox="1"/>
          <p:nvPr/>
        </p:nvSpPr>
        <p:spPr>
          <a:xfrm>
            <a:off x="923925" y="3714750"/>
            <a:ext cx="2971800" cy="430887"/>
          </a:xfrm>
          <a:prstGeom prst="rect">
            <a:avLst/>
          </a:prstGeom>
          <a:noFill/>
        </p:spPr>
        <p:txBody>
          <a:bodyPr wrap="square" lIns="0" tIns="0" rIns="0" bIns="0" anchor="t">
            <a:spAutoFit/>
          </a:bodyPr>
          <a:lstStyle/>
          <a:p>
            <a:pPr algn="l"/>
            <a:r>
              <a:rPr sz="1400" b="0" i="0" u="none" dirty="0">
                <a:solidFill>
                  <a:srgbClr val="475569"/>
                </a:solidFill>
                <a:latin typeface="Plus Jakarta Sans"/>
              </a:rPr>
              <a:t>Short-distance chip-to-chip on same PCB board.</a:t>
            </a:r>
          </a:p>
        </p:txBody>
      </p:sp>
      <p:sp>
        <p:nvSpPr>
          <p:cNvPr id="24" name="TextBox 23"/>
          <p:cNvSpPr txBox="1"/>
          <p:nvPr/>
        </p:nvSpPr>
        <p:spPr>
          <a:xfrm>
            <a:off x="4657725" y="3352800"/>
            <a:ext cx="1103507" cy="276999"/>
          </a:xfrm>
          <a:prstGeom prst="rect">
            <a:avLst/>
          </a:prstGeom>
          <a:noFill/>
        </p:spPr>
        <p:txBody>
          <a:bodyPr wrap="none" lIns="0" tIns="0" rIns="0" bIns="0" anchor="t">
            <a:spAutoFit/>
          </a:bodyPr>
          <a:lstStyle/>
          <a:p>
            <a:pPr algn="l"/>
            <a:r>
              <a:rPr b="1" i="0" u="none" dirty="0">
                <a:solidFill>
                  <a:srgbClr val="0F172A"/>
                </a:solidFill>
                <a:latin typeface="Plus Jakarta Sans"/>
              </a:rPr>
              <a:t>Wireless RF</a:t>
            </a:r>
          </a:p>
        </p:txBody>
      </p:sp>
      <p:sp>
        <p:nvSpPr>
          <p:cNvPr id="25" name="TextBox 24"/>
          <p:cNvSpPr txBox="1"/>
          <p:nvPr/>
        </p:nvSpPr>
        <p:spPr>
          <a:xfrm>
            <a:off x="4657725" y="3714750"/>
            <a:ext cx="2971800" cy="430887"/>
          </a:xfrm>
          <a:prstGeom prst="rect">
            <a:avLst/>
          </a:prstGeom>
          <a:noFill/>
        </p:spPr>
        <p:txBody>
          <a:bodyPr wrap="square" lIns="0" tIns="0" rIns="0" bIns="0" anchor="t">
            <a:spAutoFit/>
          </a:bodyPr>
          <a:lstStyle/>
          <a:p>
            <a:pPr algn="l"/>
            <a:r>
              <a:rPr sz="1400" b="0" i="0" u="none" dirty="0">
                <a:solidFill>
                  <a:srgbClr val="475569"/>
                </a:solidFill>
                <a:latin typeface="Plus Jakarta Sans"/>
              </a:rPr>
              <a:t>Device-to-device and local network RF links.</a:t>
            </a:r>
          </a:p>
        </p:txBody>
      </p:sp>
      <p:sp>
        <p:nvSpPr>
          <p:cNvPr id="26" name="TextBox 25"/>
          <p:cNvSpPr txBox="1"/>
          <p:nvPr/>
        </p:nvSpPr>
        <p:spPr>
          <a:xfrm>
            <a:off x="8391525" y="3352800"/>
            <a:ext cx="1202252" cy="276999"/>
          </a:xfrm>
          <a:prstGeom prst="rect">
            <a:avLst/>
          </a:prstGeom>
          <a:noFill/>
        </p:spPr>
        <p:txBody>
          <a:bodyPr wrap="none" lIns="0" tIns="0" rIns="0" bIns="0" anchor="t">
            <a:spAutoFit/>
          </a:bodyPr>
          <a:lstStyle/>
          <a:p>
            <a:pPr algn="l"/>
            <a:r>
              <a:rPr b="1" i="0" u="none" dirty="0">
                <a:solidFill>
                  <a:srgbClr val="0F172A"/>
                </a:solidFill>
                <a:latin typeface="Plus Jakarta Sans"/>
              </a:rPr>
              <a:t>Cloud &amp; App</a:t>
            </a:r>
          </a:p>
        </p:txBody>
      </p:sp>
      <p:sp>
        <p:nvSpPr>
          <p:cNvPr id="27" name="TextBox 26"/>
          <p:cNvSpPr txBox="1"/>
          <p:nvPr/>
        </p:nvSpPr>
        <p:spPr>
          <a:xfrm>
            <a:off x="8391525" y="3714750"/>
            <a:ext cx="2971800" cy="430887"/>
          </a:xfrm>
          <a:prstGeom prst="rect">
            <a:avLst/>
          </a:prstGeom>
          <a:noFill/>
        </p:spPr>
        <p:txBody>
          <a:bodyPr wrap="square" lIns="0" tIns="0" rIns="0" bIns="0" anchor="t">
            <a:spAutoFit/>
          </a:bodyPr>
          <a:lstStyle/>
          <a:p>
            <a:pPr algn="l"/>
            <a:r>
              <a:rPr lang="en-IN" sz="1400" b="0" i="0" u="none" dirty="0">
                <a:solidFill>
                  <a:srgbClr val="475569"/>
                </a:solidFill>
                <a:latin typeface="Plus Jakarta Sans"/>
              </a:rPr>
              <a:t>Once you’re on Wi-Fi, how do you talk to the internet?</a:t>
            </a:r>
            <a:endParaRPr sz="1400" b="0" i="0" u="none" dirty="0">
              <a:solidFill>
                <a:srgbClr val="475569"/>
              </a:solidFill>
              <a:latin typeface="Plus Jakarta Sans"/>
            </a:endParaRPr>
          </a:p>
        </p:txBody>
      </p:sp>
      <p:sp>
        <p:nvSpPr>
          <p:cNvPr id="28" name="TextBox 27"/>
          <p:cNvSpPr txBox="1"/>
          <p:nvPr/>
        </p:nvSpPr>
        <p:spPr>
          <a:xfrm>
            <a:off x="1038225" y="2971800"/>
            <a:ext cx="657225" cy="152400"/>
          </a:xfrm>
          <a:prstGeom prst="rect">
            <a:avLst/>
          </a:prstGeom>
          <a:noFill/>
        </p:spPr>
        <p:txBody>
          <a:bodyPr wrap="square" lIns="0" tIns="0" rIns="0" bIns="0" anchor="t">
            <a:spAutoFit/>
          </a:bodyPr>
          <a:lstStyle/>
          <a:p>
            <a:pPr algn="l"/>
            <a:r>
              <a:rPr sz="975" b="1" i="0" u="none">
                <a:solidFill>
                  <a:srgbClr val="2563EB"/>
                </a:solidFill>
                <a:latin typeface="Plus Jakarta Sans"/>
              </a:rPr>
              <a:t>BUCKET 1</a:t>
            </a:r>
          </a:p>
        </p:txBody>
      </p:sp>
      <p:sp>
        <p:nvSpPr>
          <p:cNvPr id="29" name="TextBox 28"/>
          <p:cNvSpPr txBox="1"/>
          <p:nvPr/>
        </p:nvSpPr>
        <p:spPr>
          <a:xfrm>
            <a:off x="1057275" y="4324350"/>
            <a:ext cx="419100" cy="200025"/>
          </a:xfrm>
          <a:prstGeom prst="rect">
            <a:avLst/>
          </a:prstGeom>
          <a:noFill/>
        </p:spPr>
        <p:txBody>
          <a:bodyPr wrap="square" lIns="0" tIns="0" rIns="0" bIns="0" anchor="t">
            <a:spAutoFit/>
          </a:bodyPr>
          <a:lstStyle/>
          <a:p>
            <a:pPr algn="l"/>
            <a:r>
              <a:rPr sz="1050" b="1" i="0" u="none">
                <a:solidFill>
                  <a:srgbClr val="0F172A"/>
                </a:solidFill>
                <a:latin typeface="Fira Code"/>
              </a:rPr>
              <a:t>UART</a:t>
            </a:r>
          </a:p>
        </p:txBody>
      </p:sp>
      <p:sp>
        <p:nvSpPr>
          <p:cNvPr id="30" name="TextBox 29"/>
          <p:cNvSpPr txBox="1"/>
          <p:nvPr/>
        </p:nvSpPr>
        <p:spPr>
          <a:xfrm>
            <a:off x="1724025" y="4324350"/>
            <a:ext cx="342900" cy="200025"/>
          </a:xfrm>
          <a:prstGeom prst="rect">
            <a:avLst/>
          </a:prstGeom>
          <a:noFill/>
        </p:spPr>
        <p:txBody>
          <a:bodyPr wrap="square" lIns="0" tIns="0" rIns="0" bIns="0" anchor="t">
            <a:spAutoFit/>
          </a:bodyPr>
          <a:lstStyle/>
          <a:p>
            <a:pPr algn="l"/>
            <a:r>
              <a:rPr sz="1050" b="1" i="0" u="none">
                <a:solidFill>
                  <a:srgbClr val="0F172A"/>
                </a:solidFill>
                <a:latin typeface="Fira Code"/>
              </a:rPr>
              <a:t>I2C</a:t>
            </a:r>
          </a:p>
        </p:txBody>
      </p:sp>
      <p:sp>
        <p:nvSpPr>
          <p:cNvPr id="31" name="TextBox 30"/>
          <p:cNvSpPr txBox="1"/>
          <p:nvPr/>
        </p:nvSpPr>
        <p:spPr>
          <a:xfrm>
            <a:off x="2314575" y="4324350"/>
            <a:ext cx="342900" cy="200025"/>
          </a:xfrm>
          <a:prstGeom prst="rect">
            <a:avLst/>
          </a:prstGeom>
          <a:noFill/>
        </p:spPr>
        <p:txBody>
          <a:bodyPr wrap="square" lIns="0" tIns="0" rIns="0" bIns="0" anchor="t">
            <a:spAutoFit/>
          </a:bodyPr>
          <a:lstStyle/>
          <a:p>
            <a:pPr algn="l"/>
            <a:r>
              <a:rPr sz="1050" b="1" i="0" u="none">
                <a:solidFill>
                  <a:srgbClr val="0F172A"/>
                </a:solidFill>
                <a:latin typeface="Fira Code"/>
              </a:rPr>
              <a:t>SPI</a:t>
            </a:r>
          </a:p>
        </p:txBody>
      </p:sp>
      <p:sp>
        <p:nvSpPr>
          <p:cNvPr id="32" name="TextBox 31"/>
          <p:cNvSpPr txBox="1"/>
          <p:nvPr/>
        </p:nvSpPr>
        <p:spPr>
          <a:xfrm>
            <a:off x="4772025" y="2971800"/>
            <a:ext cx="685800" cy="152400"/>
          </a:xfrm>
          <a:prstGeom prst="rect">
            <a:avLst/>
          </a:prstGeom>
          <a:noFill/>
        </p:spPr>
        <p:txBody>
          <a:bodyPr wrap="square" lIns="0" tIns="0" rIns="0" bIns="0" anchor="t">
            <a:spAutoFit/>
          </a:bodyPr>
          <a:lstStyle/>
          <a:p>
            <a:pPr algn="l"/>
            <a:r>
              <a:rPr sz="975" b="1" i="0" u="none">
                <a:solidFill>
                  <a:srgbClr val="059669"/>
                </a:solidFill>
                <a:latin typeface="Plus Jakarta Sans"/>
              </a:rPr>
              <a:t>BUCKET 2</a:t>
            </a:r>
          </a:p>
        </p:txBody>
      </p:sp>
      <p:sp>
        <p:nvSpPr>
          <p:cNvPr id="33" name="TextBox 32"/>
          <p:cNvSpPr txBox="1"/>
          <p:nvPr/>
        </p:nvSpPr>
        <p:spPr>
          <a:xfrm>
            <a:off x="4791075" y="4324350"/>
            <a:ext cx="495300" cy="200025"/>
          </a:xfrm>
          <a:prstGeom prst="rect">
            <a:avLst/>
          </a:prstGeom>
          <a:noFill/>
        </p:spPr>
        <p:txBody>
          <a:bodyPr wrap="square" lIns="0" tIns="0" rIns="0" bIns="0" anchor="t">
            <a:spAutoFit/>
          </a:bodyPr>
          <a:lstStyle/>
          <a:p>
            <a:pPr algn="l"/>
            <a:r>
              <a:rPr sz="1050" b="1" i="0" u="none">
                <a:solidFill>
                  <a:srgbClr val="0F172A"/>
                </a:solidFill>
                <a:latin typeface="Fira Code"/>
              </a:rPr>
              <a:t>Wi-Fi</a:t>
            </a:r>
          </a:p>
        </p:txBody>
      </p:sp>
      <p:sp>
        <p:nvSpPr>
          <p:cNvPr id="34" name="TextBox 33"/>
          <p:cNvSpPr txBox="1"/>
          <p:nvPr/>
        </p:nvSpPr>
        <p:spPr>
          <a:xfrm>
            <a:off x="5534025" y="4324350"/>
            <a:ext cx="342900" cy="200025"/>
          </a:xfrm>
          <a:prstGeom prst="rect">
            <a:avLst/>
          </a:prstGeom>
          <a:noFill/>
        </p:spPr>
        <p:txBody>
          <a:bodyPr wrap="square" lIns="0" tIns="0" rIns="0" bIns="0" anchor="t">
            <a:spAutoFit/>
          </a:bodyPr>
          <a:lstStyle/>
          <a:p>
            <a:pPr algn="l"/>
            <a:r>
              <a:rPr sz="1050" b="1" i="0" u="none">
                <a:solidFill>
                  <a:srgbClr val="0F172A"/>
                </a:solidFill>
                <a:latin typeface="Fira Code"/>
              </a:rPr>
              <a:t>BLE</a:t>
            </a:r>
          </a:p>
        </p:txBody>
      </p:sp>
      <p:sp>
        <p:nvSpPr>
          <p:cNvPr id="35" name="TextBox 34"/>
          <p:cNvSpPr txBox="1"/>
          <p:nvPr/>
        </p:nvSpPr>
        <p:spPr>
          <a:xfrm>
            <a:off x="6124575" y="4324350"/>
            <a:ext cx="419100" cy="200025"/>
          </a:xfrm>
          <a:prstGeom prst="rect">
            <a:avLst/>
          </a:prstGeom>
          <a:noFill/>
        </p:spPr>
        <p:txBody>
          <a:bodyPr wrap="square" lIns="0" tIns="0" rIns="0" bIns="0" anchor="t">
            <a:spAutoFit/>
          </a:bodyPr>
          <a:lstStyle/>
          <a:p>
            <a:pPr algn="l"/>
            <a:r>
              <a:rPr sz="1050" b="1" i="0" u="none">
                <a:solidFill>
                  <a:srgbClr val="0F172A"/>
                </a:solidFill>
                <a:latin typeface="Fira Code"/>
              </a:rPr>
              <a:t>LoRa</a:t>
            </a:r>
          </a:p>
        </p:txBody>
      </p:sp>
      <p:sp>
        <p:nvSpPr>
          <p:cNvPr id="36" name="TextBox 35"/>
          <p:cNvSpPr txBox="1"/>
          <p:nvPr/>
        </p:nvSpPr>
        <p:spPr>
          <a:xfrm>
            <a:off x="8505825" y="2971800"/>
            <a:ext cx="685800" cy="152400"/>
          </a:xfrm>
          <a:prstGeom prst="rect">
            <a:avLst/>
          </a:prstGeom>
          <a:noFill/>
        </p:spPr>
        <p:txBody>
          <a:bodyPr wrap="square" lIns="0" tIns="0" rIns="0" bIns="0" anchor="t">
            <a:spAutoFit/>
          </a:bodyPr>
          <a:lstStyle/>
          <a:p>
            <a:pPr algn="l"/>
            <a:r>
              <a:rPr sz="975" b="1" i="0" u="none">
                <a:solidFill>
                  <a:srgbClr val="0F172A"/>
                </a:solidFill>
                <a:latin typeface="Plus Jakarta Sans"/>
              </a:rPr>
              <a:t>BUCKET 3</a:t>
            </a:r>
          </a:p>
        </p:txBody>
      </p:sp>
      <p:sp>
        <p:nvSpPr>
          <p:cNvPr id="37" name="TextBox 36"/>
          <p:cNvSpPr txBox="1"/>
          <p:nvPr/>
        </p:nvSpPr>
        <p:spPr>
          <a:xfrm>
            <a:off x="8524875" y="4324350"/>
            <a:ext cx="419100" cy="200025"/>
          </a:xfrm>
          <a:prstGeom prst="rect">
            <a:avLst/>
          </a:prstGeom>
          <a:noFill/>
        </p:spPr>
        <p:txBody>
          <a:bodyPr wrap="square" lIns="0" tIns="0" rIns="0" bIns="0" anchor="t">
            <a:spAutoFit/>
          </a:bodyPr>
          <a:lstStyle/>
          <a:p>
            <a:pPr algn="l"/>
            <a:r>
              <a:rPr sz="1050" b="1" i="0" u="none">
                <a:solidFill>
                  <a:srgbClr val="0F172A"/>
                </a:solidFill>
                <a:latin typeface="Fira Code"/>
              </a:rPr>
              <a:t>HTTP</a:t>
            </a:r>
          </a:p>
        </p:txBody>
      </p:sp>
      <p:sp>
        <p:nvSpPr>
          <p:cNvPr id="38" name="TextBox 37"/>
          <p:cNvSpPr txBox="1"/>
          <p:nvPr/>
        </p:nvSpPr>
        <p:spPr>
          <a:xfrm>
            <a:off x="9191625" y="4324350"/>
            <a:ext cx="419100" cy="200025"/>
          </a:xfrm>
          <a:prstGeom prst="rect">
            <a:avLst/>
          </a:prstGeom>
          <a:noFill/>
        </p:spPr>
        <p:txBody>
          <a:bodyPr wrap="square" lIns="0" tIns="0" rIns="0" bIns="0" anchor="t">
            <a:spAutoFit/>
          </a:bodyPr>
          <a:lstStyle/>
          <a:p>
            <a:pPr algn="l"/>
            <a:r>
              <a:rPr sz="1050" b="1" i="0" u="none">
                <a:solidFill>
                  <a:srgbClr val="0F172A"/>
                </a:solidFill>
                <a:latin typeface="Fira Code"/>
              </a:rPr>
              <a:t>MQTT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B3DE0-80CA-945F-83B9-4F80D861855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17C515-FE69-A5EC-B0E0-C1599500873C}"/>
              </a:ext>
            </a:extLst>
          </p:cNvPr>
          <p:cNvSpPr txBox="1"/>
          <p:nvPr/>
        </p:nvSpPr>
        <p:spPr>
          <a:xfrm>
            <a:off x="609600" y="457200"/>
            <a:ext cx="11582400" cy="171450"/>
          </a:xfrm>
          <a:prstGeom prst="rect">
            <a:avLst/>
          </a:prstGeom>
          <a:noFill/>
        </p:spPr>
        <p:txBody>
          <a:bodyPr wrap="none" lIns="0" tIns="0" rIns="0" bIns="0" anchor="t">
            <a:spAutoFit/>
          </a:bodyPr>
          <a:lstStyle/>
          <a:p>
            <a:pPr algn="l"/>
            <a:r>
              <a:rPr sz="1050" b="1" i="0" u="none" dirty="0">
                <a:solidFill>
                  <a:srgbClr val="2563EB"/>
                </a:solidFill>
                <a:latin typeface="Plus Jakarta Sans"/>
              </a:rPr>
              <a:t>HARDWARE PROTOCOLS</a:t>
            </a:r>
          </a:p>
        </p:txBody>
      </p:sp>
      <p:sp>
        <p:nvSpPr>
          <p:cNvPr id="5" name="TextBox 4">
            <a:extLst>
              <a:ext uri="{FF2B5EF4-FFF2-40B4-BE49-F238E27FC236}">
                <a16:creationId xmlns:a16="http://schemas.microsoft.com/office/drawing/2014/main" id="{945CC4F9-A28A-B9A2-0606-9A1B8B52CFD3}"/>
              </a:ext>
            </a:extLst>
          </p:cNvPr>
          <p:cNvSpPr txBox="1"/>
          <p:nvPr/>
        </p:nvSpPr>
        <p:spPr>
          <a:xfrm>
            <a:off x="609600" y="685800"/>
            <a:ext cx="11582400" cy="428625"/>
          </a:xfrm>
          <a:prstGeom prst="rect">
            <a:avLst/>
          </a:prstGeom>
          <a:noFill/>
        </p:spPr>
        <p:txBody>
          <a:bodyPr wrap="none" lIns="0" tIns="0" rIns="0" bIns="0" anchor="t">
            <a:spAutoFit/>
          </a:bodyPr>
          <a:lstStyle/>
          <a:p>
            <a:pPr algn="l"/>
            <a:r>
              <a:rPr sz="2700" b="1" i="0" u="none">
                <a:solidFill>
                  <a:srgbClr val="0F172A"/>
                </a:solidFill>
                <a:latin typeface="Plus Jakarta Sans"/>
              </a:rPr>
              <a:t>Wired Serial Comparison</a:t>
            </a:r>
          </a:p>
        </p:txBody>
      </p:sp>
      <p:pic>
        <p:nvPicPr>
          <p:cNvPr id="7" name="Picture 6">
            <a:extLst>
              <a:ext uri="{FF2B5EF4-FFF2-40B4-BE49-F238E27FC236}">
                <a16:creationId xmlns:a16="http://schemas.microsoft.com/office/drawing/2014/main" id="{C0EF56FD-8313-1BA7-321D-3A3BD8B1926E}"/>
              </a:ext>
            </a:extLst>
          </p:cNvPr>
          <p:cNvPicPr>
            <a:picLocks noChangeAspect="1"/>
          </p:cNvPicPr>
          <p:nvPr/>
        </p:nvPicPr>
        <p:blipFill>
          <a:blip r:embed="rId2"/>
          <a:stretch>
            <a:fillRect/>
          </a:stretch>
        </p:blipFill>
        <p:spPr>
          <a:xfrm>
            <a:off x="1145894" y="1769624"/>
            <a:ext cx="10208871" cy="4402576"/>
          </a:xfrm>
          <a:prstGeom prst="rect">
            <a:avLst/>
          </a:prstGeom>
        </p:spPr>
      </p:pic>
      <p:sp>
        <p:nvSpPr>
          <p:cNvPr id="8" name="TextBox 7">
            <a:extLst>
              <a:ext uri="{FF2B5EF4-FFF2-40B4-BE49-F238E27FC236}">
                <a16:creationId xmlns:a16="http://schemas.microsoft.com/office/drawing/2014/main" id="{8D9C9DAC-B1EB-2A06-C845-1853CDE7C2FC}"/>
              </a:ext>
            </a:extLst>
          </p:cNvPr>
          <p:cNvSpPr txBox="1"/>
          <p:nvPr/>
        </p:nvSpPr>
        <p:spPr>
          <a:xfrm>
            <a:off x="1319514" y="1400292"/>
            <a:ext cx="3426772" cy="369332"/>
          </a:xfrm>
          <a:prstGeom prst="rect">
            <a:avLst/>
          </a:prstGeom>
          <a:noFill/>
        </p:spPr>
        <p:txBody>
          <a:bodyPr wrap="none" rtlCol="0">
            <a:spAutoFit/>
          </a:bodyPr>
          <a:lstStyle/>
          <a:p>
            <a:pPr marL="342900" indent="-342900">
              <a:buFont typeface="+mj-lt"/>
              <a:buAutoNum type="arabicPeriod"/>
            </a:pPr>
            <a:r>
              <a:rPr lang="en-IN" b="1" dirty="0"/>
              <a:t>UART— the private phone line</a:t>
            </a:r>
          </a:p>
        </p:txBody>
      </p:sp>
    </p:spTree>
    <p:extLst>
      <p:ext uri="{BB962C8B-B14F-4D97-AF65-F5344CB8AC3E}">
        <p14:creationId xmlns:p14="http://schemas.microsoft.com/office/powerpoint/2010/main" val="30150368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4240C-79D6-F16E-5024-58D01FA7D5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60CC3DD-D708-5C74-3A4B-67B6C12B97FB}"/>
              </a:ext>
            </a:extLst>
          </p:cNvPr>
          <p:cNvSpPr txBox="1"/>
          <p:nvPr/>
        </p:nvSpPr>
        <p:spPr>
          <a:xfrm>
            <a:off x="609600" y="457200"/>
            <a:ext cx="11582400" cy="171450"/>
          </a:xfrm>
          <a:prstGeom prst="rect">
            <a:avLst/>
          </a:prstGeom>
          <a:noFill/>
        </p:spPr>
        <p:txBody>
          <a:bodyPr wrap="none" lIns="0" tIns="0" rIns="0" bIns="0" anchor="t">
            <a:spAutoFit/>
          </a:bodyPr>
          <a:lstStyle/>
          <a:p>
            <a:pPr algn="l"/>
            <a:r>
              <a:rPr sz="1050" b="1" i="0" u="none" dirty="0">
                <a:solidFill>
                  <a:srgbClr val="2563EB"/>
                </a:solidFill>
                <a:latin typeface="Plus Jakarta Sans"/>
              </a:rPr>
              <a:t>HARDWARE PROTOCOLS</a:t>
            </a:r>
          </a:p>
        </p:txBody>
      </p:sp>
      <p:sp>
        <p:nvSpPr>
          <p:cNvPr id="5" name="TextBox 4">
            <a:extLst>
              <a:ext uri="{FF2B5EF4-FFF2-40B4-BE49-F238E27FC236}">
                <a16:creationId xmlns:a16="http://schemas.microsoft.com/office/drawing/2014/main" id="{A850F551-BE04-A46A-68E3-EA9E6FB80B94}"/>
              </a:ext>
            </a:extLst>
          </p:cNvPr>
          <p:cNvSpPr txBox="1"/>
          <p:nvPr/>
        </p:nvSpPr>
        <p:spPr>
          <a:xfrm>
            <a:off x="609600" y="685800"/>
            <a:ext cx="11582400" cy="428625"/>
          </a:xfrm>
          <a:prstGeom prst="rect">
            <a:avLst/>
          </a:prstGeom>
          <a:noFill/>
        </p:spPr>
        <p:txBody>
          <a:bodyPr wrap="none" lIns="0" tIns="0" rIns="0" bIns="0" anchor="t">
            <a:spAutoFit/>
          </a:bodyPr>
          <a:lstStyle/>
          <a:p>
            <a:pPr algn="l"/>
            <a:r>
              <a:rPr sz="2700" b="1" i="0" u="none">
                <a:solidFill>
                  <a:srgbClr val="0F172A"/>
                </a:solidFill>
                <a:latin typeface="Plus Jakarta Sans"/>
              </a:rPr>
              <a:t>Wired Serial Comparison</a:t>
            </a:r>
          </a:p>
        </p:txBody>
      </p:sp>
      <p:sp>
        <p:nvSpPr>
          <p:cNvPr id="8" name="TextBox 7">
            <a:extLst>
              <a:ext uri="{FF2B5EF4-FFF2-40B4-BE49-F238E27FC236}">
                <a16:creationId xmlns:a16="http://schemas.microsoft.com/office/drawing/2014/main" id="{284D639C-B54F-1AA3-9417-E1803F575BB9}"/>
              </a:ext>
            </a:extLst>
          </p:cNvPr>
          <p:cNvSpPr txBox="1"/>
          <p:nvPr/>
        </p:nvSpPr>
        <p:spPr>
          <a:xfrm>
            <a:off x="1319514" y="1400292"/>
            <a:ext cx="8277844" cy="369332"/>
          </a:xfrm>
          <a:prstGeom prst="rect">
            <a:avLst/>
          </a:prstGeom>
          <a:noFill/>
        </p:spPr>
        <p:txBody>
          <a:bodyPr wrap="none" rtlCol="0">
            <a:spAutoFit/>
          </a:bodyPr>
          <a:lstStyle/>
          <a:p>
            <a:r>
              <a:rPr lang="en-IN" b="1" dirty="0"/>
              <a:t>2.  I2C — the office intercom                                                                      </a:t>
            </a:r>
            <a:r>
              <a:rPr lang="en-IN" dirty="0"/>
              <a:t>(slower than SPI)</a:t>
            </a:r>
            <a:r>
              <a:rPr lang="en-IN" b="1" dirty="0"/>
              <a:t> </a:t>
            </a:r>
          </a:p>
        </p:txBody>
      </p:sp>
      <p:pic>
        <p:nvPicPr>
          <p:cNvPr id="3" name="Picture 2">
            <a:extLst>
              <a:ext uri="{FF2B5EF4-FFF2-40B4-BE49-F238E27FC236}">
                <a16:creationId xmlns:a16="http://schemas.microsoft.com/office/drawing/2014/main" id="{745B65EE-87D1-215C-8B90-60EF1800F9E3}"/>
              </a:ext>
            </a:extLst>
          </p:cNvPr>
          <p:cNvPicPr>
            <a:picLocks noChangeAspect="1"/>
          </p:cNvPicPr>
          <p:nvPr/>
        </p:nvPicPr>
        <p:blipFill>
          <a:blip r:embed="rId2"/>
          <a:stretch>
            <a:fillRect/>
          </a:stretch>
        </p:blipFill>
        <p:spPr>
          <a:xfrm>
            <a:off x="1696037" y="1769624"/>
            <a:ext cx="8856349" cy="4633413"/>
          </a:xfrm>
          <a:prstGeom prst="rect">
            <a:avLst/>
          </a:prstGeom>
        </p:spPr>
      </p:pic>
    </p:spTree>
    <p:extLst>
      <p:ext uri="{BB962C8B-B14F-4D97-AF65-F5344CB8AC3E}">
        <p14:creationId xmlns:p14="http://schemas.microsoft.com/office/powerpoint/2010/main" val="34016887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985F4-23BD-D141-54D3-53A95127463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9BF01A9-DB58-AB91-4A5E-E6D73D9A263C}"/>
              </a:ext>
            </a:extLst>
          </p:cNvPr>
          <p:cNvSpPr txBox="1"/>
          <p:nvPr/>
        </p:nvSpPr>
        <p:spPr>
          <a:xfrm>
            <a:off x="609600" y="457200"/>
            <a:ext cx="11582400" cy="171450"/>
          </a:xfrm>
          <a:prstGeom prst="rect">
            <a:avLst/>
          </a:prstGeom>
          <a:noFill/>
        </p:spPr>
        <p:txBody>
          <a:bodyPr wrap="none" lIns="0" tIns="0" rIns="0" bIns="0" anchor="t">
            <a:spAutoFit/>
          </a:bodyPr>
          <a:lstStyle/>
          <a:p>
            <a:pPr algn="l"/>
            <a:r>
              <a:rPr sz="1050" b="1" i="0" u="none" dirty="0">
                <a:solidFill>
                  <a:srgbClr val="2563EB"/>
                </a:solidFill>
                <a:latin typeface="Plus Jakarta Sans"/>
              </a:rPr>
              <a:t>HARDWARE PROTOCOLS</a:t>
            </a:r>
          </a:p>
        </p:txBody>
      </p:sp>
      <p:sp>
        <p:nvSpPr>
          <p:cNvPr id="5" name="TextBox 4">
            <a:extLst>
              <a:ext uri="{FF2B5EF4-FFF2-40B4-BE49-F238E27FC236}">
                <a16:creationId xmlns:a16="http://schemas.microsoft.com/office/drawing/2014/main" id="{602307D6-5BD8-12C5-2769-C4779137CE48}"/>
              </a:ext>
            </a:extLst>
          </p:cNvPr>
          <p:cNvSpPr txBox="1"/>
          <p:nvPr/>
        </p:nvSpPr>
        <p:spPr>
          <a:xfrm>
            <a:off x="609600" y="685800"/>
            <a:ext cx="11582400" cy="428625"/>
          </a:xfrm>
          <a:prstGeom prst="rect">
            <a:avLst/>
          </a:prstGeom>
          <a:noFill/>
        </p:spPr>
        <p:txBody>
          <a:bodyPr wrap="none" lIns="0" tIns="0" rIns="0" bIns="0" anchor="t">
            <a:spAutoFit/>
          </a:bodyPr>
          <a:lstStyle/>
          <a:p>
            <a:pPr algn="l"/>
            <a:r>
              <a:rPr sz="2700" b="1" i="0" u="none" dirty="0">
                <a:solidFill>
                  <a:srgbClr val="0F172A"/>
                </a:solidFill>
                <a:latin typeface="Plus Jakarta Sans"/>
              </a:rPr>
              <a:t>Wired Serial Comparison</a:t>
            </a:r>
          </a:p>
        </p:txBody>
      </p:sp>
      <p:sp>
        <p:nvSpPr>
          <p:cNvPr id="8" name="TextBox 7">
            <a:extLst>
              <a:ext uri="{FF2B5EF4-FFF2-40B4-BE49-F238E27FC236}">
                <a16:creationId xmlns:a16="http://schemas.microsoft.com/office/drawing/2014/main" id="{3F8F2758-6A34-35BE-4A38-95A259DD774D}"/>
              </a:ext>
            </a:extLst>
          </p:cNvPr>
          <p:cNvSpPr txBox="1"/>
          <p:nvPr/>
        </p:nvSpPr>
        <p:spPr>
          <a:xfrm>
            <a:off x="1319514" y="1400292"/>
            <a:ext cx="3516284" cy="369332"/>
          </a:xfrm>
          <a:prstGeom prst="rect">
            <a:avLst/>
          </a:prstGeom>
          <a:noFill/>
        </p:spPr>
        <p:txBody>
          <a:bodyPr wrap="none" rtlCol="0">
            <a:spAutoFit/>
          </a:bodyPr>
          <a:lstStyle/>
          <a:p>
            <a:r>
              <a:rPr lang="en-IN" b="1" dirty="0"/>
              <a:t>3. SPI — the private courier service</a:t>
            </a:r>
          </a:p>
        </p:txBody>
      </p:sp>
      <p:pic>
        <p:nvPicPr>
          <p:cNvPr id="6" name="Picture 5">
            <a:extLst>
              <a:ext uri="{FF2B5EF4-FFF2-40B4-BE49-F238E27FC236}">
                <a16:creationId xmlns:a16="http://schemas.microsoft.com/office/drawing/2014/main" id="{4861A2DE-431A-2BD5-10D7-1F62E81B68CA}"/>
              </a:ext>
            </a:extLst>
          </p:cNvPr>
          <p:cNvPicPr>
            <a:picLocks noChangeAspect="1"/>
          </p:cNvPicPr>
          <p:nvPr/>
        </p:nvPicPr>
        <p:blipFill>
          <a:blip r:embed="rId2"/>
          <a:stretch>
            <a:fillRect/>
          </a:stretch>
        </p:blipFill>
        <p:spPr>
          <a:xfrm>
            <a:off x="3678462" y="1769624"/>
            <a:ext cx="4835076" cy="4953417"/>
          </a:xfrm>
          <a:prstGeom prst="rect">
            <a:avLst/>
          </a:prstGeom>
        </p:spPr>
      </p:pic>
      <p:sp>
        <p:nvSpPr>
          <p:cNvPr id="7" name="TextBox 6">
            <a:extLst>
              <a:ext uri="{FF2B5EF4-FFF2-40B4-BE49-F238E27FC236}">
                <a16:creationId xmlns:a16="http://schemas.microsoft.com/office/drawing/2014/main" id="{9C8B87BE-5547-AC0C-F2A7-EA0105C5B6BB}"/>
              </a:ext>
            </a:extLst>
          </p:cNvPr>
          <p:cNvSpPr txBox="1"/>
          <p:nvPr/>
        </p:nvSpPr>
        <p:spPr>
          <a:xfrm>
            <a:off x="8513538" y="318372"/>
            <a:ext cx="2504982" cy="1200329"/>
          </a:xfrm>
          <a:prstGeom prst="rect">
            <a:avLst/>
          </a:prstGeom>
          <a:noFill/>
        </p:spPr>
        <p:txBody>
          <a:bodyPr wrap="square" rtlCol="0">
            <a:spAutoFit/>
          </a:bodyPr>
          <a:lstStyle/>
          <a:p>
            <a:r>
              <a:rPr lang="en-IN" dirty="0"/>
              <a:t>Full Duplex (send and receive at once)</a:t>
            </a:r>
          </a:p>
          <a:p>
            <a:r>
              <a:rPr lang="en-IN" dirty="0"/>
              <a:t>FAST, BUT WIRE GROWS WITH EVERY DEVICE</a:t>
            </a:r>
          </a:p>
        </p:txBody>
      </p:sp>
    </p:spTree>
    <p:extLst>
      <p:ext uri="{BB962C8B-B14F-4D97-AF65-F5344CB8AC3E}">
        <p14:creationId xmlns:p14="http://schemas.microsoft.com/office/powerpoint/2010/main" val="39735184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1550276" y="1171575"/>
            <a:ext cx="9091448" cy="527586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3" name="Table 2"/>
          <p:cNvGraphicFramePr>
            <a:graphicFrameLocks noGrp="1"/>
          </p:cNvGraphicFramePr>
          <p:nvPr>
            <p:extLst>
              <p:ext uri="{D42A27DB-BD31-4B8C-83A1-F6EECF244321}">
                <p14:modId xmlns:p14="http://schemas.microsoft.com/office/powerpoint/2010/main" val="4048879903"/>
              </p:ext>
            </p:extLst>
          </p:nvPr>
        </p:nvGraphicFramePr>
        <p:xfrm>
          <a:off x="1453896" y="1177159"/>
          <a:ext cx="9187828" cy="5223640"/>
        </p:xfrm>
        <a:graphic>
          <a:graphicData uri="http://schemas.openxmlformats.org/drawingml/2006/table">
            <a:tbl>
              <a:tblPr/>
              <a:tblGrid>
                <a:gridCol w="1278794">
                  <a:extLst>
                    <a:ext uri="{9D8B030D-6E8A-4147-A177-3AD203B41FA5}">
                      <a16:colId xmlns:a16="http://schemas.microsoft.com/office/drawing/2014/main" val="20000"/>
                    </a:ext>
                  </a:extLst>
                </a:gridCol>
                <a:gridCol w="1870841">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3904593">
                  <a:extLst>
                    <a:ext uri="{9D8B030D-6E8A-4147-A177-3AD203B41FA5}">
                      <a16:colId xmlns:a16="http://schemas.microsoft.com/office/drawing/2014/main" val="20003"/>
                    </a:ext>
                  </a:extLst>
                </a:gridCol>
              </a:tblGrid>
              <a:tr h="819339">
                <a:tc>
                  <a:txBody>
                    <a:bodyPr/>
                    <a:lstStyle/>
                    <a:p>
                      <a:pPr>
                        <a:buNone/>
                      </a:pPr>
                      <a:r>
                        <a:rPr lang="en-IN" b="1" dirty="0"/>
                        <a:t>Parameter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buNone/>
                      </a:pPr>
                      <a:r>
                        <a:rPr lang="en-IN" b="1"/>
                        <a:t>UART</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buNone/>
                      </a:pPr>
                      <a:r>
                        <a:rPr lang="en-IN" b="1" dirty="0"/>
                        <a:t>I²C</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tc>
                  <a:txBody>
                    <a:bodyPr/>
                    <a:lstStyle/>
                    <a:p>
                      <a:pPr>
                        <a:buNone/>
                      </a:pPr>
                      <a:r>
                        <a:rPr lang="en-IN" b="1" dirty="0"/>
                        <a:t>SPI</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1041363">
                <a:tc>
                  <a:txBody>
                    <a:bodyPr/>
                    <a:lstStyle/>
                    <a:p>
                      <a:pPr>
                        <a:buNone/>
                      </a:pPr>
                      <a:r>
                        <a:rPr lang="en-IN" b="1" dirty="0"/>
                        <a:t>Type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1-to-1, Asynchronous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Multi-device, Synchronous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Multi-device, Synchronous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98976">
                <a:tc>
                  <a:txBody>
                    <a:bodyPr/>
                    <a:lstStyle/>
                    <a:p>
                      <a:pPr>
                        <a:buNone/>
                      </a:pPr>
                      <a:r>
                        <a:rPr lang="en-IN" b="1" dirty="0"/>
                        <a:t>Wires</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a:buNone/>
                      </a:pPr>
                      <a:r>
                        <a:rPr lang="en-IN" dirty="0"/>
                        <a:t>2: TX, RX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a:buNone/>
                      </a:pPr>
                      <a:r>
                        <a:rPr lang="en-IN" dirty="0"/>
                        <a:t>2: SDA, SCL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tc>
                  <a:txBody>
                    <a:bodyPr/>
                    <a:lstStyle/>
                    <a:p>
                      <a:pPr>
                        <a:buNone/>
                      </a:pPr>
                      <a:r>
                        <a:rPr lang="en-IN" dirty="0"/>
                        <a:t>4+: MOSI, MISO, SCK, CS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8FAFC"/>
                    </a:solidFill>
                  </a:tcPr>
                </a:tc>
                <a:extLst>
                  <a:ext uri="{0D108BD9-81ED-4DB2-BD59-A6C34878D82A}">
                    <a16:rowId xmlns:a16="http://schemas.microsoft.com/office/drawing/2014/main" val="10002"/>
                  </a:ext>
                </a:extLst>
              </a:tr>
              <a:tr h="798976">
                <a:tc>
                  <a:txBody>
                    <a:bodyPr/>
                    <a:lstStyle/>
                    <a:p>
                      <a:pPr>
                        <a:buNone/>
                      </a:pPr>
                      <a:r>
                        <a:rPr lang="en-IN" b="1"/>
                        <a:t>Typical speed</a:t>
                      </a:r>
                      <a:r>
                        <a:rPr lang="en-IN"/>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~20 kbps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~1 Mbps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~25 Mbps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6383">
                <a:tc>
                  <a:txBody>
                    <a:bodyPr/>
                    <a:lstStyle/>
                    <a:p>
                      <a:pPr>
                        <a:buNone/>
                      </a:pPr>
                      <a:r>
                        <a:rPr lang="en-IN" b="1" dirty="0"/>
                        <a:t>Distance</a:t>
                      </a:r>
                      <a:r>
                        <a:rPr lang="en-IN"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~15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a:t>~1 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~20 cm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31214245"/>
                  </a:ext>
                </a:extLst>
              </a:tr>
              <a:tr h="392220">
                <a:tc>
                  <a:txBody>
                    <a:bodyPr/>
                    <a:lstStyle/>
                    <a:p>
                      <a:pP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298552714"/>
                  </a:ext>
                </a:extLst>
              </a:tr>
              <a:tr h="686383">
                <a:tc>
                  <a:txBody>
                    <a:bodyPr/>
                    <a:lstStyle/>
                    <a:p>
                      <a:pPr>
                        <a:buNone/>
                      </a:pPr>
                      <a:r>
                        <a:rPr lang="en-IN" b="1"/>
                        <a:t>Best for</a:t>
                      </a:r>
                      <a:endParaRPr lang="en-IN"/>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GPS, debugging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Multiple sensors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buNone/>
                      </a:pPr>
                      <a:r>
                        <a:rPr lang="en-IN" dirty="0"/>
                        <a:t>Displays, SD cards, fast sensors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526376998"/>
                  </a:ext>
                </a:extLst>
              </a:tr>
            </a:tbl>
          </a:graphicData>
        </a:graphic>
      </p:graphicFrame>
      <p:sp>
        <p:nvSpPr>
          <p:cNvPr id="4" name="TextBox 3"/>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Plus Jakarta Sans"/>
              </a:rPr>
              <a:t>HARDWARE PROTOCOLS</a:t>
            </a:r>
          </a:p>
        </p:txBody>
      </p:sp>
      <p:sp>
        <p:nvSpPr>
          <p:cNvPr id="5" name="TextBox 4"/>
          <p:cNvSpPr txBox="1"/>
          <p:nvPr/>
        </p:nvSpPr>
        <p:spPr>
          <a:xfrm>
            <a:off x="609600" y="685800"/>
            <a:ext cx="11582400" cy="428625"/>
          </a:xfrm>
          <a:prstGeom prst="rect">
            <a:avLst/>
          </a:prstGeom>
          <a:noFill/>
        </p:spPr>
        <p:txBody>
          <a:bodyPr wrap="none" lIns="0" tIns="0" rIns="0" bIns="0" anchor="t">
            <a:spAutoFit/>
          </a:bodyPr>
          <a:lstStyle/>
          <a:p>
            <a:pPr algn="l"/>
            <a:r>
              <a:rPr sz="2700" b="1" i="0" u="none">
                <a:solidFill>
                  <a:srgbClr val="0F172A"/>
                </a:solidFill>
                <a:latin typeface="Plus Jakarta Sans"/>
              </a:rPr>
              <a:t>Wired Serial Comparison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 0"/>
          <p:cNvSpPr/>
          <p:nvPr/>
        </p:nvSpPr>
        <p:spPr>
          <a:xfrm>
            <a:off x="548640" y="502920"/>
            <a:ext cx="11091672"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r>
              <a:rPr lang="en-IN" sz="3200" b="1" i="0" u="none" dirty="0">
                <a:solidFill>
                  <a:srgbClr val="0F172A"/>
                </a:solidFill>
                <a:latin typeface="Plus Jakarta Sans"/>
              </a:rPr>
              <a:t>Wireless Protocols Comparison</a:t>
            </a:r>
          </a:p>
        </p:txBody>
      </p:sp>
      <p:sp>
        <p:nvSpPr>
          <p:cNvPr id="101" name="PlaceHolder 1"/>
          <p:cNvSpPr>
            <a:spLocks noGrp="1"/>
          </p:cNvSpPr>
          <p:nvPr>
            <p:ph type="sldNum" idx="19"/>
          </p:nvPr>
        </p:nvSpPr>
        <p:spPr>
          <a:xfrm>
            <a:off x="11368800" y="6473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900" b="0" u="none" strike="noStrike">
                <a:solidFill>
                  <a:srgbClr val="5B6B82"/>
                </a:solidFill>
                <a:effectLst/>
                <a:uFillTx/>
                <a:latin typeface="Calibri"/>
                <a:ea typeface="Calibri"/>
              </a:defRPr>
            </a:lvl1pPr>
          </a:lstStyle>
          <a:p>
            <a:pPr indent="0" algn="r" defTabSz="914400">
              <a:lnSpc>
                <a:spcPct val="100000"/>
              </a:lnSpc>
              <a:buNone/>
            </a:pPr>
            <a:fld id="{143F33F3-4D2B-40B0-A1E0-C4D126F5C99F}" type="slidenum">
              <a:rPr lang="en-US" sz="900" b="0" u="none" strike="noStrike">
                <a:solidFill>
                  <a:srgbClr val="5B6B82"/>
                </a:solidFill>
                <a:effectLst/>
                <a:uFillTx/>
                <a:latin typeface="Calibri"/>
                <a:ea typeface="Calibri"/>
              </a:rPr>
              <a:t>8</a:t>
            </a:fld>
            <a:endParaRPr lang="en-US" sz="900" b="0" u="none" strike="noStrike">
              <a:solidFill>
                <a:srgbClr val="000000"/>
              </a:solidFill>
              <a:effectLst/>
              <a:uFillTx/>
              <a:latin typeface="Times New Roman"/>
            </a:endParaRPr>
          </a:p>
        </p:txBody>
      </p:sp>
      <p:grpSp>
        <p:nvGrpSpPr>
          <p:cNvPr id="2" name="Wi-Fi card"/>
          <p:cNvGrpSpPr/>
          <p:nvPr/>
        </p:nvGrpSpPr>
        <p:grpSpPr>
          <a:xfrm>
            <a:off x="548640" y="1508760"/>
            <a:ext cx="2601468" cy="4572000"/>
            <a:chOff x="548640" y="1508760"/>
            <a:chExt cx="2601468" cy="4572000"/>
          </a:xfrm>
        </p:grpSpPr>
        <p:sp>
          <p:nvSpPr>
            <p:cNvPr id="102" name="Rounded Rectangle 101"/>
            <p:cNvSpPr/>
            <p:nvPr/>
          </p:nvSpPr>
          <p:spPr>
            <a:xfrm>
              <a:off x="548640" y="1508760"/>
              <a:ext cx="2601468" cy="4572000"/>
            </a:xfrm>
            <a:prstGeom prst="roundRect">
              <a:avLst>
                <a:gd name="adj" fmla="val 4217"/>
              </a:avLst>
            </a:prstGeom>
            <a:solidFill>
              <a:srgbClr val="FFFFFF"/>
            </a:solidFill>
            <a:ln w="12700">
              <a:solidFill>
                <a:srgbClr val="D9E0EA"/>
              </a:solidFill>
            </a:ln>
          </p:spPr>
          <p:txBody>
            <a:bodyPr rtlCol="0" anchor="ctr"/>
            <a:lstStyle/>
            <a:p>
              <a:pPr algn="ctr"/>
              <a:endParaRPr/>
            </a:p>
          </p:txBody>
        </p:sp>
        <p:sp>
          <p:nvSpPr>
            <p:cNvPr id="103" name="Oval 102"/>
            <p:cNvSpPr/>
            <p:nvPr/>
          </p:nvSpPr>
          <p:spPr>
            <a:xfrm>
              <a:off x="777239" y="1737360"/>
              <a:ext cx="548640" cy="548640"/>
            </a:xfrm>
            <a:prstGeom prst="ellipse">
              <a:avLst/>
            </a:prstGeom>
            <a:solidFill>
              <a:srgbClr val="E9C25A"/>
            </a:solidFill>
            <a:ln>
              <a:noFill/>
            </a:ln>
          </p:spPr>
          <p:txBody>
            <a:bodyPr rtlCol="0" anchor="ctr"/>
            <a:lstStyle/>
            <a:p>
              <a:pPr algn="ctr"/>
              <a:endParaRPr/>
            </a:p>
          </p:txBody>
        </p:sp>
        <p:pic>
          <p:nvPicPr>
            <p:cNvPr id="104" name="Picture 103" descr="FaWifi_navy.png"/>
            <p:cNvPicPr>
              <a:picLocks noChangeAspect="1"/>
            </p:cNvPicPr>
            <p:nvPr/>
          </p:nvPicPr>
          <p:blipFill>
            <a:blip r:embed="rId3"/>
            <a:stretch>
              <a:fillRect/>
            </a:stretch>
          </p:blipFill>
          <p:spPr>
            <a:xfrm>
              <a:off x="914399" y="1874520"/>
              <a:ext cx="274320" cy="274320"/>
            </a:xfrm>
            <a:prstGeom prst="rect">
              <a:avLst/>
            </a:prstGeom>
          </p:spPr>
        </p:pic>
        <p:sp>
          <p:nvSpPr>
            <p:cNvPr id="105" name="TextBox 104"/>
            <p:cNvSpPr txBox="1"/>
            <p:nvPr/>
          </p:nvSpPr>
          <p:spPr>
            <a:xfrm>
              <a:off x="777240" y="2395728"/>
              <a:ext cx="2235708" cy="365760"/>
            </a:xfrm>
            <a:prstGeom prst="rect">
              <a:avLst/>
            </a:prstGeom>
            <a:noFill/>
          </p:spPr>
          <p:txBody>
            <a:bodyPr wrap="square" lIns="0" tIns="0" rIns="0" bIns="0" anchor="t">
              <a:noAutofit/>
            </a:bodyPr>
            <a:lstStyle/>
            <a:p>
              <a:pPr algn="l"/>
              <a:r>
                <a:rPr sz="2000" b="1" i="0">
                  <a:solidFill>
                    <a:srgbClr val="10192B"/>
                  </a:solidFill>
                  <a:latin typeface="Calibri"/>
                </a:rPr>
                <a:t>Wi-Fi</a:t>
              </a:r>
            </a:p>
          </p:txBody>
        </p:sp>
        <p:sp>
          <p:nvSpPr>
            <p:cNvPr id="106" name="TextBox 105"/>
            <p:cNvSpPr txBox="1"/>
            <p:nvPr/>
          </p:nvSpPr>
          <p:spPr>
            <a:xfrm>
              <a:off x="777240" y="2761488"/>
              <a:ext cx="2235708" cy="274320"/>
            </a:xfrm>
            <a:prstGeom prst="rect">
              <a:avLst/>
            </a:prstGeom>
            <a:noFill/>
          </p:spPr>
          <p:txBody>
            <a:bodyPr wrap="square" lIns="0" tIns="0" rIns="0" bIns="0" anchor="t">
              <a:noAutofit/>
            </a:bodyPr>
            <a:lstStyle/>
            <a:p>
              <a:pPr algn="l"/>
              <a:r>
                <a:rPr sz="1350" b="0" i="1">
                  <a:solidFill>
                    <a:srgbClr val="8A6300"/>
                  </a:solidFill>
                  <a:latin typeface="Calibri"/>
                </a:rPr>
                <a:t>The highway</a:t>
              </a:r>
            </a:p>
          </p:txBody>
        </p:sp>
        <p:sp>
          <p:nvSpPr>
            <p:cNvPr id="107" name="Rounded Rectangle 106"/>
            <p:cNvSpPr/>
            <p:nvPr/>
          </p:nvSpPr>
          <p:spPr>
            <a:xfrm>
              <a:off x="731520" y="3108960"/>
              <a:ext cx="2235708" cy="1280160"/>
            </a:xfrm>
            <a:prstGeom prst="roundRect">
              <a:avLst>
                <a:gd name="adj" fmla="val 7142"/>
              </a:avLst>
            </a:prstGeom>
            <a:solidFill>
              <a:srgbClr val="EDF1F7"/>
            </a:solidFill>
            <a:ln>
              <a:noFill/>
            </a:ln>
          </p:spPr>
          <p:txBody>
            <a:bodyPr rtlCol="0" anchor="ctr"/>
            <a:lstStyle/>
            <a:p>
              <a:pPr algn="ctr"/>
              <a:endParaRPr/>
            </a:p>
          </p:txBody>
        </p:sp>
        <p:cxnSp>
          <p:nvCxnSpPr>
            <p:cNvPr id="108" name="Connector 107"/>
            <p:cNvCxnSpPr/>
            <p:nvPr/>
          </p:nvCxnSpPr>
          <p:spPr>
            <a:xfrm>
              <a:off x="1417320" y="3611880"/>
              <a:ext cx="155448" cy="0"/>
            </a:xfrm>
            <a:prstGeom prst="line">
              <a:avLst/>
            </a:prstGeom>
            <a:ln w="25400">
              <a:solidFill>
                <a:srgbClr val="C9931A"/>
              </a:solidFill>
              <a:prstDash val="dash"/>
            </a:ln>
          </p:spPr>
        </p:cxnSp>
        <p:cxnSp>
          <p:nvCxnSpPr>
            <p:cNvPr id="109" name="Connector 108"/>
            <p:cNvCxnSpPr/>
            <p:nvPr/>
          </p:nvCxnSpPr>
          <p:spPr>
            <a:xfrm>
              <a:off x="2121408" y="3611880"/>
              <a:ext cx="164592" cy="0"/>
            </a:xfrm>
            <a:prstGeom prst="line">
              <a:avLst/>
            </a:prstGeom>
            <a:ln w="25400">
              <a:solidFill>
                <a:srgbClr val="C9931A"/>
              </a:solidFill>
            </a:ln>
          </p:spPr>
        </p:cxnSp>
        <p:sp>
          <p:nvSpPr>
            <p:cNvPr id="110" name="Oval 109"/>
            <p:cNvSpPr/>
            <p:nvPr/>
          </p:nvSpPr>
          <p:spPr>
            <a:xfrm>
              <a:off x="886968" y="3355848"/>
              <a:ext cx="512064" cy="512064"/>
            </a:xfrm>
            <a:prstGeom prst="ellipse">
              <a:avLst/>
            </a:prstGeom>
            <a:solidFill>
              <a:srgbClr val="0B1E3D"/>
            </a:solidFill>
            <a:ln>
              <a:noFill/>
            </a:ln>
          </p:spPr>
          <p:txBody>
            <a:bodyPr rtlCol="0" anchor="ctr"/>
            <a:lstStyle/>
            <a:p>
              <a:pPr algn="ctr"/>
              <a:endParaRPr/>
            </a:p>
          </p:txBody>
        </p:sp>
        <p:pic>
          <p:nvPicPr>
            <p:cNvPr id="111" name="Picture 110" descr="FaMicrochip_white.png"/>
            <p:cNvPicPr>
              <a:picLocks noChangeAspect="1"/>
            </p:cNvPicPr>
            <p:nvPr/>
          </p:nvPicPr>
          <p:blipFill>
            <a:blip r:embed="rId4"/>
            <a:stretch>
              <a:fillRect/>
            </a:stretch>
          </p:blipFill>
          <p:spPr>
            <a:xfrm>
              <a:off x="1014983" y="3483864"/>
              <a:ext cx="256032" cy="256032"/>
            </a:xfrm>
            <a:prstGeom prst="rect">
              <a:avLst/>
            </a:prstGeom>
          </p:spPr>
        </p:pic>
        <p:sp>
          <p:nvSpPr>
            <p:cNvPr id="112" name="Oval 111"/>
            <p:cNvSpPr/>
            <p:nvPr/>
          </p:nvSpPr>
          <p:spPr>
            <a:xfrm>
              <a:off x="1591056" y="3355848"/>
              <a:ext cx="512064" cy="512064"/>
            </a:xfrm>
            <a:prstGeom prst="ellipse">
              <a:avLst/>
            </a:prstGeom>
            <a:solidFill>
              <a:srgbClr val="E9C25A"/>
            </a:solidFill>
            <a:ln>
              <a:noFill/>
            </a:ln>
          </p:spPr>
          <p:txBody>
            <a:bodyPr rtlCol="0" anchor="ctr"/>
            <a:lstStyle/>
            <a:p>
              <a:pPr algn="ctr"/>
              <a:endParaRPr/>
            </a:p>
          </p:txBody>
        </p:sp>
        <p:pic>
          <p:nvPicPr>
            <p:cNvPr id="113" name="Picture 112" descr="FaWifi_navy.png"/>
            <p:cNvPicPr>
              <a:picLocks noChangeAspect="1"/>
            </p:cNvPicPr>
            <p:nvPr/>
          </p:nvPicPr>
          <p:blipFill>
            <a:blip r:embed="rId3"/>
            <a:stretch>
              <a:fillRect/>
            </a:stretch>
          </p:blipFill>
          <p:spPr>
            <a:xfrm>
              <a:off x="1719072" y="3483864"/>
              <a:ext cx="256032" cy="256032"/>
            </a:xfrm>
            <a:prstGeom prst="rect">
              <a:avLst/>
            </a:prstGeom>
          </p:spPr>
        </p:pic>
        <p:sp>
          <p:nvSpPr>
            <p:cNvPr id="114" name="Oval 113"/>
            <p:cNvSpPr/>
            <p:nvPr/>
          </p:nvSpPr>
          <p:spPr>
            <a:xfrm>
              <a:off x="2304287" y="3355848"/>
              <a:ext cx="512064" cy="512064"/>
            </a:xfrm>
            <a:prstGeom prst="ellipse">
              <a:avLst/>
            </a:prstGeom>
            <a:solidFill>
              <a:srgbClr val="0B1E3D"/>
            </a:solidFill>
            <a:ln>
              <a:noFill/>
            </a:ln>
          </p:spPr>
          <p:txBody>
            <a:bodyPr rtlCol="0" anchor="ctr"/>
            <a:lstStyle/>
            <a:p>
              <a:pPr algn="ctr"/>
              <a:endParaRPr/>
            </a:p>
          </p:txBody>
        </p:sp>
        <p:pic>
          <p:nvPicPr>
            <p:cNvPr id="115" name="Picture 114" descr="FaCloud_white.png"/>
            <p:cNvPicPr>
              <a:picLocks noChangeAspect="1"/>
            </p:cNvPicPr>
            <p:nvPr/>
          </p:nvPicPr>
          <p:blipFill>
            <a:blip r:embed="rId5"/>
            <a:stretch>
              <a:fillRect/>
            </a:stretch>
          </p:blipFill>
          <p:spPr>
            <a:xfrm>
              <a:off x="2432303" y="3483864"/>
              <a:ext cx="256032" cy="256032"/>
            </a:xfrm>
            <a:prstGeom prst="rect">
              <a:avLst/>
            </a:prstGeom>
          </p:spPr>
        </p:pic>
        <p:sp>
          <p:nvSpPr>
            <p:cNvPr id="116" name="TextBox 115"/>
            <p:cNvSpPr txBox="1"/>
            <p:nvPr/>
          </p:nvSpPr>
          <p:spPr>
            <a:xfrm>
              <a:off x="731520" y="3977639"/>
              <a:ext cx="822960" cy="201168"/>
            </a:xfrm>
            <a:prstGeom prst="rect">
              <a:avLst/>
            </a:prstGeom>
            <a:noFill/>
          </p:spPr>
          <p:txBody>
            <a:bodyPr wrap="square" lIns="0" tIns="0" rIns="0" bIns="0" anchor="t">
              <a:noAutofit/>
            </a:bodyPr>
            <a:lstStyle/>
            <a:p>
              <a:pPr algn="ctr"/>
              <a:r>
                <a:rPr sz="1050" b="0" i="0">
                  <a:solidFill>
                    <a:srgbClr val="5B6B82"/>
                  </a:solidFill>
                  <a:latin typeface="Calibri"/>
                </a:rPr>
                <a:t>ESP32</a:t>
              </a:r>
            </a:p>
          </p:txBody>
        </p:sp>
        <p:sp>
          <p:nvSpPr>
            <p:cNvPr id="117" name="TextBox 116"/>
            <p:cNvSpPr txBox="1"/>
            <p:nvPr/>
          </p:nvSpPr>
          <p:spPr>
            <a:xfrm>
              <a:off x="1435608" y="3977639"/>
              <a:ext cx="822960" cy="201168"/>
            </a:xfrm>
            <a:prstGeom prst="rect">
              <a:avLst/>
            </a:prstGeom>
            <a:noFill/>
          </p:spPr>
          <p:txBody>
            <a:bodyPr wrap="square" lIns="0" tIns="0" rIns="0" bIns="0" anchor="t">
              <a:noAutofit/>
            </a:bodyPr>
            <a:lstStyle/>
            <a:p>
              <a:pPr algn="ctr"/>
              <a:r>
                <a:rPr sz="1050" b="0" i="0">
                  <a:solidFill>
                    <a:srgbClr val="5B6B82"/>
                  </a:solidFill>
                  <a:latin typeface="Calibri"/>
                </a:rPr>
                <a:t>Router</a:t>
              </a:r>
            </a:p>
          </p:txBody>
        </p:sp>
        <p:sp>
          <p:nvSpPr>
            <p:cNvPr id="118" name="TextBox 117"/>
            <p:cNvSpPr txBox="1"/>
            <p:nvPr/>
          </p:nvSpPr>
          <p:spPr>
            <a:xfrm>
              <a:off x="2148839" y="3977639"/>
              <a:ext cx="822960" cy="201168"/>
            </a:xfrm>
            <a:prstGeom prst="rect">
              <a:avLst/>
            </a:prstGeom>
            <a:noFill/>
          </p:spPr>
          <p:txBody>
            <a:bodyPr wrap="square" lIns="0" tIns="0" rIns="0" bIns="0" anchor="t">
              <a:noAutofit/>
            </a:bodyPr>
            <a:lstStyle/>
            <a:p>
              <a:pPr algn="ctr"/>
              <a:r>
                <a:rPr sz="1050" b="0" i="0">
                  <a:solidFill>
                    <a:srgbClr val="5B6B82"/>
                  </a:solidFill>
                  <a:latin typeface="Calibri"/>
                </a:rPr>
                <a:t>Internet</a:t>
              </a:r>
            </a:p>
          </p:txBody>
        </p:sp>
        <p:sp>
          <p:nvSpPr>
            <p:cNvPr id="119" name="TextBox 118"/>
            <p:cNvSpPr txBox="1"/>
            <p:nvPr/>
          </p:nvSpPr>
          <p:spPr>
            <a:xfrm>
              <a:off x="777240" y="4526280"/>
              <a:ext cx="2144268" cy="731520"/>
            </a:xfrm>
            <a:prstGeom prst="rect">
              <a:avLst/>
            </a:prstGeom>
            <a:noFill/>
          </p:spPr>
          <p:txBody>
            <a:bodyPr wrap="square" lIns="0" tIns="0" rIns="0" bIns="0" anchor="t">
              <a:noAutofit/>
            </a:bodyPr>
            <a:lstStyle/>
            <a:p>
              <a:pPr marL="173736" indent="-173736" algn="l">
                <a:spcAft>
                  <a:spcPts val="400"/>
                </a:spcAft>
                <a:buClr>
                  <a:srgbClr val="C9931A"/>
                </a:buClr>
                <a:buFont typeface="Arial"/>
                <a:buChar char="•"/>
              </a:pPr>
              <a:r>
                <a:rPr sz="1350" b="0" i="0">
                  <a:solidFill>
                    <a:srgbClr val="10192B"/>
                  </a:solidFill>
                  <a:latin typeface="Calibri"/>
                </a:rPr>
                <a:t>Fast, straight to the internet</a:t>
              </a:r>
            </a:p>
            <a:p>
              <a:pPr marL="173736" indent="-173736" algn="l">
                <a:spcAft>
                  <a:spcPts val="400"/>
                </a:spcAft>
                <a:buClr>
                  <a:srgbClr val="C9931A"/>
                </a:buClr>
                <a:buFont typeface="Arial"/>
                <a:buChar char="•"/>
              </a:pPr>
              <a:r>
                <a:rPr sz="1350" b="0" i="0">
                  <a:solidFill>
                    <a:srgbClr val="10192B"/>
                  </a:solidFill>
                  <a:latin typeface="Calibri"/>
                </a:rPr>
                <a:t>Power-hungry, needs a router</a:t>
              </a:r>
            </a:p>
          </p:txBody>
        </p:sp>
        <p:sp>
          <p:nvSpPr>
            <p:cNvPr id="120" name="TextBox 119"/>
            <p:cNvSpPr txBox="1"/>
            <p:nvPr/>
          </p:nvSpPr>
          <p:spPr>
            <a:xfrm>
              <a:off x="777240" y="5303520"/>
              <a:ext cx="2144268" cy="182880"/>
            </a:xfrm>
            <a:prstGeom prst="rect">
              <a:avLst/>
            </a:prstGeom>
            <a:noFill/>
          </p:spPr>
          <p:txBody>
            <a:bodyPr wrap="square" lIns="0" tIns="0" rIns="0" bIns="0" anchor="t">
              <a:noAutofit/>
            </a:bodyPr>
            <a:lstStyle/>
            <a:p>
              <a:pPr algn="l"/>
              <a:r>
                <a:rPr sz="1000" b="1" i="0" spc="150">
                  <a:solidFill>
                    <a:srgbClr val="5B6B82"/>
                  </a:solidFill>
                  <a:latin typeface="Calibri"/>
                </a:rPr>
                <a:t>USED FOR</a:t>
              </a:r>
            </a:p>
          </p:txBody>
        </p:sp>
        <p:sp>
          <p:nvSpPr>
            <p:cNvPr id="121" name="TextBox 120"/>
            <p:cNvSpPr txBox="1"/>
            <p:nvPr/>
          </p:nvSpPr>
          <p:spPr>
            <a:xfrm>
              <a:off x="777240" y="5504688"/>
              <a:ext cx="2144268" cy="502920"/>
            </a:xfrm>
            <a:prstGeom prst="rect">
              <a:avLst/>
            </a:prstGeom>
            <a:noFill/>
          </p:spPr>
          <p:txBody>
            <a:bodyPr wrap="square" lIns="0" tIns="0" rIns="0" bIns="0" anchor="t">
              <a:noAutofit/>
            </a:bodyPr>
            <a:lstStyle/>
            <a:p>
              <a:pPr algn="l"/>
              <a:r>
                <a:rPr sz="1300" b="0" i="0">
                  <a:solidFill>
                    <a:srgbClr val="10192B"/>
                  </a:solidFill>
                  <a:latin typeface="Calibri"/>
                </a:rPr>
                <a:t>Cloud dashboards, OTA updates</a:t>
              </a:r>
            </a:p>
          </p:txBody>
        </p:sp>
      </p:grpSp>
      <p:grpSp>
        <p:nvGrpSpPr>
          <p:cNvPr id="3" name="Bluetooth / BLE card"/>
          <p:cNvGrpSpPr/>
          <p:nvPr/>
        </p:nvGrpSpPr>
        <p:grpSpPr>
          <a:xfrm>
            <a:off x="3378708" y="1508760"/>
            <a:ext cx="2601468" cy="4572000"/>
            <a:chOff x="3378708" y="1508760"/>
            <a:chExt cx="2601468" cy="4572000"/>
          </a:xfrm>
        </p:grpSpPr>
        <p:sp>
          <p:nvSpPr>
            <p:cNvPr id="122" name="Rounded Rectangle 121"/>
            <p:cNvSpPr/>
            <p:nvPr/>
          </p:nvSpPr>
          <p:spPr>
            <a:xfrm>
              <a:off x="3378708" y="1508760"/>
              <a:ext cx="2601468" cy="4572000"/>
            </a:xfrm>
            <a:prstGeom prst="roundRect">
              <a:avLst>
                <a:gd name="adj" fmla="val 4217"/>
              </a:avLst>
            </a:prstGeom>
            <a:solidFill>
              <a:srgbClr val="FFFFFF"/>
            </a:solidFill>
            <a:ln w="12700">
              <a:solidFill>
                <a:srgbClr val="D9E0EA"/>
              </a:solidFill>
            </a:ln>
          </p:spPr>
          <p:txBody>
            <a:bodyPr rtlCol="0" anchor="ctr"/>
            <a:lstStyle/>
            <a:p>
              <a:pPr algn="ctr"/>
              <a:endParaRPr/>
            </a:p>
          </p:txBody>
        </p:sp>
        <p:sp>
          <p:nvSpPr>
            <p:cNvPr id="123" name="Oval 122"/>
            <p:cNvSpPr/>
            <p:nvPr/>
          </p:nvSpPr>
          <p:spPr>
            <a:xfrm>
              <a:off x="3607308" y="1737360"/>
              <a:ext cx="548640" cy="548640"/>
            </a:xfrm>
            <a:prstGeom prst="ellipse">
              <a:avLst/>
            </a:prstGeom>
            <a:solidFill>
              <a:srgbClr val="E9C25A"/>
            </a:solidFill>
            <a:ln>
              <a:noFill/>
            </a:ln>
          </p:spPr>
          <p:txBody>
            <a:bodyPr rtlCol="0" anchor="ctr"/>
            <a:lstStyle/>
            <a:p>
              <a:pPr algn="ctr"/>
              <a:endParaRPr/>
            </a:p>
          </p:txBody>
        </p:sp>
        <p:pic>
          <p:nvPicPr>
            <p:cNvPr id="124" name="Picture 123" descr="FaBluetoothB_navy.png"/>
            <p:cNvPicPr>
              <a:picLocks noChangeAspect="1"/>
            </p:cNvPicPr>
            <p:nvPr/>
          </p:nvPicPr>
          <p:blipFill>
            <a:blip r:embed="rId6"/>
            <a:stretch>
              <a:fillRect/>
            </a:stretch>
          </p:blipFill>
          <p:spPr>
            <a:xfrm>
              <a:off x="3744468" y="1874520"/>
              <a:ext cx="274320" cy="274320"/>
            </a:xfrm>
            <a:prstGeom prst="rect">
              <a:avLst/>
            </a:prstGeom>
          </p:spPr>
        </p:pic>
        <p:sp>
          <p:nvSpPr>
            <p:cNvPr id="125" name="TextBox 124"/>
            <p:cNvSpPr txBox="1"/>
            <p:nvPr/>
          </p:nvSpPr>
          <p:spPr>
            <a:xfrm>
              <a:off x="3607308" y="2395728"/>
              <a:ext cx="2235708" cy="365760"/>
            </a:xfrm>
            <a:prstGeom prst="rect">
              <a:avLst/>
            </a:prstGeom>
            <a:noFill/>
          </p:spPr>
          <p:txBody>
            <a:bodyPr wrap="square" lIns="0" tIns="0" rIns="0" bIns="0" anchor="t">
              <a:noAutofit/>
            </a:bodyPr>
            <a:lstStyle/>
            <a:p>
              <a:pPr algn="l"/>
              <a:r>
                <a:rPr sz="2000" b="1" i="0">
                  <a:solidFill>
                    <a:srgbClr val="10192B"/>
                  </a:solidFill>
                  <a:latin typeface="Calibri"/>
                </a:rPr>
                <a:t>Bluetooth / BLE</a:t>
              </a:r>
            </a:p>
          </p:txBody>
        </p:sp>
        <p:sp>
          <p:nvSpPr>
            <p:cNvPr id="126" name="TextBox 125"/>
            <p:cNvSpPr txBox="1"/>
            <p:nvPr/>
          </p:nvSpPr>
          <p:spPr>
            <a:xfrm>
              <a:off x="3607308" y="2761488"/>
              <a:ext cx="2235708" cy="274320"/>
            </a:xfrm>
            <a:prstGeom prst="rect">
              <a:avLst/>
            </a:prstGeom>
            <a:noFill/>
          </p:spPr>
          <p:txBody>
            <a:bodyPr wrap="square" lIns="0" tIns="0" rIns="0" bIns="0" anchor="t">
              <a:noAutofit/>
            </a:bodyPr>
            <a:lstStyle/>
            <a:p>
              <a:pPr algn="l"/>
              <a:r>
                <a:rPr sz="1350" b="0" i="1">
                  <a:solidFill>
                    <a:srgbClr val="8A6300"/>
                  </a:solidFill>
                  <a:latin typeface="Calibri"/>
                </a:rPr>
                <a:t>The walkie-talkie</a:t>
              </a:r>
            </a:p>
          </p:txBody>
        </p:sp>
        <p:sp>
          <p:nvSpPr>
            <p:cNvPr id="127" name="Rounded Rectangle 126"/>
            <p:cNvSpPr/>
            <p:nvPr/>
          </p:nvSpPr>
          <p:spPr>
            <a:xfrm>
              <a:off x="3561588" y="3108960"/>
              <a:ext cx="2235708" cy="1280160"/>
            </a:xfrm>
            <a:prstGeom prst="roundRect">
              <a:avLst>
                <a:gd name="adj" fmla="val 7142"/>
              </a:avLst>
            </a:prstGeom>
            <a:solidFill>
              <a:srgbClr val="EDF1F7"/>
            </a:solidFill>
            <a:ln>
              <a:noFill/>
            </a:ln>
          </p:spPr>
          <p:txBody>
            <a:bodyPr rtlCol="0" anchor="ctr"/>
            <a:lstStyle/>
            <a:p>
              <a:pPr algn="ctr"/>
              <a:endParaRPr/>
            </a:p>
          </p:txBody>
        </p:sp>
        <p:cxnSp>
          <p:nvCxnSpPr>
            <p:cNvPr id="128" name="Connector 127"/>
            <p:cNvCxnSpPr/>
            <p:nvPr/>
          </p:nvCxnSpPr>
          <p:spPr>
            <a:xfrm>
              <a:off x="4293108" y="3794760"/>
              <a:ext cx="772668" cy="0"/>
            </a:xfrm>
            <a:prstGeom prst="line">
              <a:avLst/>
            </a:prstGeom>
            <a:ln w="25400">
              <a:solidFill>
                <a:srgbClr val="C9931A"/>
              </a:solidFill>
              <a:prstDash val="dash"/>
              <a:headEnd type="triangle" w="med" len="med"/>
              <a:tailEnd type="triangle" w="med" len="med"/>
            </a:ln>
          </p:spPr>
        </p:cxnSp>
        <p:sp>
          <p:nvSpPr>
            <p:cNvPr id="129" name="Oval 128"/>
            <p:cNvSpPr/>
            <p:nvPr/>
          </p:nvSpPr>
          <p:spPr>
            <a:xfrm>
              <a:off x="3762756" y="3538728"/>
              <a:ext cx="512064" cy="512064"/>
            </a:xfrm>
            <a:prstGeom prst="ellipse">
              <a:avLst/>
            </a:prstGeom>
            <a:solidFill>
              <a:srgbClr val="0B1E3D"/>
            </a:solidFill>
            <a:ln>
              <a:noFill/>
            </a:ln>
          </p:spPr>
          <p:txBody>
            <a:bodyPr rtlCol="0" anchor="ctr"/>
            <a:lstStyle/>
            <a:p>
              <a:pPr algn="ctr"/>
              <a:endParaRPr/>
            </a:p>
          </p:txBody>
        </p:sp>
        <p:pic>
          <p:nvPicPr>
            <p:cNvPr id="130" name="Picture 129" descr="FaMobileScreenButton_white.png"/>
            <p:cNvPicPr>
              <a:picLocks noChangeAspect="1"/>
            </p:cNvPicPr>
            <p:nvPr/>
          </p:nvPicPr>
          <p:blipFill>
            <a:blip r:embed="rId7"/>
            <a:stretch>
              <a:fillRect/>
            </a:stretch>
          </p:blipFill>
          <p:spPr>
            <a:xfrm>
              <a:off x="3890772" y="3666744"/>
              <a:ext cx="256032" cy="256032"/>
            </a:xfrm>
            <a:prstGeom prst="rect">
              <a:avLst/>
            </a:prstGeom>
          </p:spPr>
        </p:pic>
        <p:sp>
          <p:nvSpPr>
            <p:cNvPr id="131" name="Oval 130"/>
            <p:cNvSpPr/>
            <p:nvPr/>
          </p:nvSpPr>
          <p:spPr>
            <a:xfrm>
              <a:off x="5084064" y="3538728"/>
              <a:ext cx="512064" cy="512064"/>
            </a:xfrm>
            <a:prstGeom prst="ellipse">
              <a:avLst/>
            </a:prstGeom>
            <a:solidFill>
              <a:srgbClr val="0B1E3D"/>
            </a:solidFill>
            <a:ln>
              <a:noFill/>
            </a:ln>
          </p:spPr>
          <p:txBody>
            <a:bodyPr rtlCol="0" anchor="ctr"/>
            <a:lstStyle/>
            <a:p>
              <a:pPr algn="ctr"/>
              <a:endParaRPr/>
            </a:p>
          </p:txBody>
        </p:sp>
        <p:pic>
          <p:nvPicPr>
            <p:cNvPr id="132" name="Picture 131" descr="FaMicrochip_white.png"/>
            <p:cNvPicPr>
              <a:picLocks noChangeAspect="1"/>
            </p:cNvPicPr>
            <p:nvPr/>
          </p:nvPicPr>
          <p:blipFill>
            <a:blip r:embed="rId4"/>
            <a:stretch>
              <a:fillRect/>
            </a:stretch>
          </p:blipFill>
          <p:spPr>
            <a:xfrm>
              <a:off x="5212080" y="3666744"/>
              <a:ext cx="256032" cy="256032"/>
            </a:xfrm>
            <a:prstGeom prst="rect">
              <a:avLst/>
            </a:prstGeom>
          </p:spPr>
        </p:pic>
        <p:sp>
          <p:nvSpPr>
            <p:cNvPr id="133" name="Oval 132"/>
            <p:cNvSpPr/>
            <p:nvPr/>
          </p:nvSpPr>
          <p:spPr>
            <a:xfrm>
              <a:off x="4496562" y="3611880"/>
              <a:ext cx="365760" cy="365760"/>
            </a:xfrm>
            <a:prstGeom prst="ellipse">
              <a:avLst/>
            </a:prstGeom>
            <a:solidFill>
              <a:srgbClr val="E9C25A"/>
            </a:solidFill>
            <a:ln>
              <a:noFill/>
            </a:ln>
          </p:spPr>
          <p:txBody>
            <a:bodyPr rtlCol="0" anchor="ctr"/>
            <a:lstStyle/>
            <a:p>
              <a:pPr algn="ctr"/>
              <a:endParaRPr/>
            </a:p>
          </p:txBody>
        </p:sp>
        <p:pic>
          <p:nvPicPr>
            <p:cNvPr id="134" name="Picture 133" descr="FaBluetoothB_navy.png"/>
            <p:cNvPicPr>
              <a:picLocks noChangeAspect="1"/>
            </p:cNvPicPr>
            <p:nvPr/>
          </p:nvPicPr>
          <p:blipFill>
            <a:blip r:embed="rId6"/>
            <a:stretch>
              <a:fillRect/>
            </a:stretch>
          </p:blipFill>
          <p:spPr>
            <a:xfrm>
              <a:off x="4578858" y="3694176"/>
              <a:ext cx="201168" cy="201168"/>
            </a:xfrm>
            <a:prstGeom prst="rect">
              <a:avLst/>
            </a:prstGeom>
          </p:spPr>
        </p:pic>
        <p:sp>
          <p:nvSpPr>
            <p:cNvPr id="135" name="TextBox 134"/>
            <p:cNvSpPr txBox="1"/>
            <p:nvPr/>
          </p:nvSpPr>
          <p:spPr>
            <a:xfrm>
              <a:off x="3561588" y="3218688"/>
              <a:ext cx="2235708" cy="228600"/>
            </a:xfrm>
            <a:prstGeom prst="rect">
              <a:avLst/>
            </a:prstGeom>
            <a:noFill/>
          </p:spPr>
          <p:txBody>
            <a:bodyPr wrap="square" lIns="0" tIns="0" rIns="0" bIns="0" anchor="t">
              <a:noAutofit/>
            </a:bodyPr>
            <a:lstStyle/>
            <a:p>
              <a:pPr algn="ctr"/>
              <a:r>
                <a:rPr sz="1200" b="1" i="0">
                  <a:solidFill>
                    <a:srgbClr val="8A6300"/>
                  </a:solidFill>
                  <a:latin typeface="Calibri"/>
                </a:rPr>
                <a:t>~10–30 m</a:t>
              </a:r>
            </a:p>
          </p:txBody>
        </p:sp>
        <p:sp>
          <p:nvSpPr>
            <p:cNvPr id="136" name="TextBox 135"/>
            <p:cNvSpPr txBox="1"/>
            <p:nvPr/>
          </p:nvSpPr>
          <p:spPr>
            <a:xfrm>
              <a:off x="3607308" y="4096512"/>
              <a:ext cx="822960" cy="201168"/>
            </a:xfrm>
            <a:prstGeom prst="rect">
              <a:avLst/>
            </a:prstGeom>
            <a:noFill/>
          </p:spPr>
          <p:txBody>
            <a:bodyPr wrap="square" lIns="0" tIns="0" rIns="0" bIns="0" anchor="t">
              <a:noAutofit/>
            </a:bodyPr>
            <a:lstStyle/>
            <a:p>
              <a:pPr algn="ctr"/>
              <a:r>
                <a:rPr sz="1050" b="0" i="0">
                  <a:solidFill>
                    <a:srgbClr val="5B6B82"/>
                  </a:solidFill>
                  <a:latin typeface="Calibri"/>
                </a:rPr>
                <a:t>Phone</a:t>
              </a:r>
            </a:p>
          </p:txBody>
        </p:sp>
        <p:sp>
          <p:nvSpPr>
            <p:cNvPr id="137" name="TextBox 136"/>
            <p:cNvSpPr txBox="1"/>
            <p:nvPr/>
          </p:nvSpPr>
          <p:spPr>
            <a:xfrm>
              <a:off x="4928616" y="4096512"/>
              <a:ext cx="822960" cy="201168"/>
            </a:xfrm>
            <a:prstGeom prst="rect">
              <a:avLst/>
            </a:prstGeom>
            <a:noFill/>
          </p:spPr>
          <p:txBody>
            <a:bodyPr wrap="square" lIns="0" tIns="0" rIns="0" bIns="0" anchor="t">
              <a:noAutofit/>
            </a:bodyPr>
            <a:lstStyle/>
            <a:p>
              <a:pPr algn="ctr"/>
              <a:r>
                <a:rPr sz="1050" b="0" i="0">
                  <a:solidFill>
                    <a:srgbClr val="5B6B82"/>
                  </a:solidFill>
                  <a:latin typeface="Calibri"/>
                </a:rPr>
                <a:t>ESP32</a:t>
              </a:r>
            </a:p>
          </p:txBody>
        </p:sp>
        <p:sp>
          <p:nvSpPr>
            <p:cNvPr id="138" name="TextBox 137"/>
            <p:cNvSpPr txBox="1"/>
            <p:nvPr/>
          </p:nvSpPr>
          <p:spPr>
            <a:xfrm>
              <a:off x="3607308" y="4526280"/>
              <a:ext cx="2144268" cy="731520"/>
            </a:xfrm>
            <a:prstGeom prst="rect">
              <a:avLst/>
            </a:prstGeom>
            <a:noFill/>
          </p:spPr>
          <p:txBody>
            <a:bodyPr wrap="square" lIns="0" tIns="0" rIns="0" bIns="0" anchor="t">
              <a:noAutofit/>
            </a:bodyPr>
            <a:lstStyle/>
            <a:p>
              <a:pPr marL="173736" indent="-173736" algn="l">
                <a:spcAft>
                  <a:spcPts val="400"/>
                </a:spcAft>
                <a:buClr>
                  <a:srgbClr val="C9931A"/>
                </a:buClr>
                <a:buFont typeface="Arial"/>
                <a:buChar char="•"/>
              </a:pPr>
              <a:r>
                <a:rPr sz="1350" b="0" i="0">
                  <a:solidFill>
                    <a:srgbClr val="10192B"/>
                  </a:solidFill>
                  <a:latin typeface="Calibri"/>
                </a:rPr>
                <a:t>BLE: tiny bursts, sips power</a:t>
              </a:r>
            </a:p>
            <a:p>
              <a:pPr marL="173736" indent="-173736" algn="l">
                <a:spcAft>
                  <a:spcPts val="400"/>
                </a:spcAft>
                <a:buClr>
                  <a:srgbClr val="C9931A"/>
                </a:buClr>
                <a:buFont typeface="Arial"/>
                <a:buChar char="•"/>
              </a:pPr>
              <a:r>
                <a:rPr sz="1350" b="0" i="0">
                  <a:solidFill>
                    <a:srgbClr val="10192B"/>
                  </a:solidFill>
                  <a:latin typeface="Calibri"/>
                </a:rPr>
                <a:t>Classic Bluetooth: audio</a:t>
              </a:r>
            </a:p>
          </p:txBody>
        </p:sp>
        <p:sp>
          <p:nvSpPr>
            <p:cNvPr id="139" name="TextBox 138"/>
            <p:cNvSpPr txBox="1"/>
            <p:nvPr/>
          </p:nvSpPr>
          <p:spPr>
            <a:xfrm>
              <a:off x="3607308" y="5303520"/>
              <a:ext cx="2144268" cy="182880"/>
            </a:xfrm>
            <a:prstGeom prst="rect">
              <a:avLst/>
            </a:prstGeom>
            <a:noFill/>
          </p:spPr>
          <p:txBody>
            <a:bodyPr wrap="square" lIns="0" tIns="0" rIns="0" bIns="0" anchor="t">
              <a:noAutofit/>
            </a:bodyPr>
            <a:lstStyle/>
            <a:p>
              <a:pPr algn="l"/>
              <a:r>
                <a:rPr sz="1000" b="1" i="0" spc="150">
                  <a:solidFill>
                    <a:srgbClr val="5B6B82"/>
                  </a:solidFill>
                  <a:latin typeface="Calibri"/>
                </a:rPr>
                <a:t>USED FOR</a:t>
              </a:r>
            </a:p>
          </p:txBody>
        </p:sp>
        <p:sp>
          <p:nvSpPr>
            <p:cNvPr id="140" name="TextBox 139"/>
            <p:cNvSpPr txBox="1"/>
            <p:nvPr/>
          </p:nvSpPr>
          <p:spPr>
            <a:xfrm>
              <a:off x="3607308" y="5504688"/>
              <a:ext cx="2144268" cy="502920"/>
            </a:xfrm>
            <a:prstGeom prst="rect">
              <a:avLst/>
            </a:prstGeom>
            <a:noFill/>
          </p:spPr>
          <p:txBody>
            <a:bodyPr wrap="square" lIns="0" tIns="0" rIns="0" bIns="0" anchor="t">
              <a:noAutofit/>
            </a:bodyPr>
            <a:lstStyle/>
            <a:p>
              <a:pPr algn="l"/>
              <a:r>
                <a:rPr sz="1300" b="0" i="0">
                  <a:solidFill>
                    <a:srgbClr val="10192B"/>
                  </a:solidFill>
                  <a:latin typeface="Calibri"/>
                </a:rPr>
                <a:t>Phone control, fitness bands, proximity tags</a:t>
              </a:r>
            </a:p>
          </p:txBody>
        </p:sp>
      </p:grpSp>
      <p:grpSp>
        <p:nvGrpSpPr>
          <p:cNvPr id="4" name="Zigbee card"/>
          <p:cNvGrpSpPr/>
          <p:nvPr/>
        </p:nvGrpSpPr>
        <p:grpSpPr>
          <a:xfrm>
            <a:off x="6208776" y="1508760"/>
            <a:ext cx="2601468" cy="4572000"/>
            <a:chOff x="6208776" y="1508760"/>
            <a:chExt cx="2601468" cy="4572000"/>
          </a:xfrm>
        </p:grpSpPr>
        <p:sp>
          <p:nvSpPr>
            <p:cNvPr id="141" name="Rounded Rectangle 140"/>
            <p:cNvSpPr/>
            <p:nvPr/>
          </p:nvSpPr>
          <p:spPr>
            <a:xfrm>
              <a:off x="6208776" y="1508760"/>
              <a:ext cx="2601468" cy="4572000"/>
            </a:xfrm>
            <a:prstGeom prst="roundRect">
              <a:avLst>
                <a:gd name="adj" fmla="val 4217"/>
              </a:avLst>
            </a:prstGeom>
            <a:solidFill>
              <a:srgbClr val="FFFFFF"/>
            </a:solidFill>
            <a:ln w="12700">
              <a:solidFill>
                <a:srgbClr val="D9E0EA"/>
              </a:solidFill>
            </a:ln>
          </p:spPr>
          <p:txBody>
            <a:bodyPr rtlCol="0" anchor="ctr"/>
            <a:lstStyle/>
            <a:p>
              <a:pPr algn="ctr"/>
              <a:endParaRPr/>
            </a:p>
          </p:txBody>
        </p:sp>
        <p:sp>
          <p:nvSpPr>
            <p:cNvPr id="142" name="Oval 141"/>
            <p:cNvSpPr/>
            <p:nvPr/>
          </p:nvSpPr>
          <p:spPr>
            <a:xfrm>
              <a:off x="6437376" y="1737360"/>
              <a:ext cx="548640" cy="548640"/>
            </a:xfrm>
            <a:prstGeom prst="ellipse">
              <a:avLst/>
            </a:prstGeom>
            <a:solidFill>
              <a:srgbClr val="E9C25A"/>
            </a:solidFill>
            <a:ln>
              <a:noFill/>
            </a:ln>
          </p:spPr>
          <p:txBody>
            <a:bodyPr rtlCol="0" anchor="ctr"/>
            <a:lstStyle/>
            <a:p>
              <a:pPr algn="ctr"/>
              <a:endParaRPr/>
            </a:p>
          </p:txBody>
        </p:sp>
        <p:pic>
          <p:nvPicPr>
            <p:cNvPr id="143" name="Picture 142" descr="FaCircleNodes_navy.png"/>
            <p:cNvPicPr>
              <a:picLocks noChangeAspect="1"/>
            </p:cNvPicPr>
            <p:nvPr/>
          </p:nvPicPr>
          <p:blipFill>
            <a:blip r:embed="rId8"/>
            <a:stretch>
              <a:fillRect/>
            </a:stretch>
          </p:blipFill>
          <p:spPr>
            <a:xfrm>
              <a:off x="6574536" y="1874520"/>
              <a:ext cx="274320" cy="274320"/>
            </a:xfrm>
            <a:prstGeom prst="rect">
              <a:avLst/>
            </a:prstGeom>
          </p:spPr>
        </p:pic>
        <p:sp>
          <p:nvSpPr>
            <p:cNvPr id="144" name="TextBox 143"/>
            <p:cNvSpPr txBox="1"/>
            <p:nvPr/>
          </p:nvSpPr>
          <p:spPr>
            <a:xfrm>
              <a:off x="6437376" y="2395728"/>
              <a:ext cx="2235708" cy="365760"/>
            </a:xfrm>
            <a:prstGeom prst="rect">
              <a:avLst/>
            </a:prstGeom>
            <a:noFill/>
          </p:spPr>
          <p:txBody>
            <a:bodyPr wrap="square" lIns="0" tIns="0" rIns="0" bIns="0" anchor="t">
              <a:noAutofit/>
            </a:bodyPr>
            <a:lstStyle/>
            <a:p>
              <a:pPr algn="l"/>
              <a:r>
                <a:rPr sz="2000" b="1" i="0">
                  <a:solidFill>
                    <a:srgbClr val="10192B"/>
                  </a:solidFill>
                  <a:latin typeface="Calibri"/>
                </a:rPr>
                <a:t>Zigbee</a:t>
              </a:r>
            </a:p>
          </p:txBody>
        </p:sp>
        <p:sp>
          <p:nvSpPr>
            <p:cNvPr id="145" name="TextBox 144"/>
            <p:cNvSpPr txBox="1"/>
            <p:nvPr/>
          </p:nvSpPr>
          <p:spPr>
            <a:xfrm>
              <a:off x="6437376" y="2761488"/>
              <a:ext cx="2235708" cy="274320"/>
            </a:xfrm>
            <a:prstGeom prst="rect">
              <a:avLst/>
            </a:prstGeom>
            <a:noFill/>
          </p:spPr>
          <p:txBody>
            <a:bodyPr wrap="square" lIns="0" tIns="0" rIns="0" bIns="0" anchor="t">
              <a:noAutofit/>
            </a:bodyPr>
            <a:lstStyle/>
            <a:p>
              <a:pPr algn="l"/>
              <a:r>
                <a:rPr sz="1350" b="0" i="1">
                  <a:solidFill>
                    <a:srgbClr val="8A6300"/>
                  </a:solidFill>
                  <a:latin typeface="Calibri"/>
                </a:rPr>
                <a:t>The bucket brigade</a:t>
              </a:r>
            </a:p>
          </p:txBody>
        </p:sp>
        <p:sp>
          <p:nvSpPr>
            <p:cNvPr id="146" name="Rounded Rectangle 145"/>
            <p:cNvSpPr/>
            <p:nvPr/>
          </p:nvSpPr>
          <p:spPr>
            <a:xfrm>
              <a:off x="6391656" y="3108960"/>
              <a:ext cx="2235708" cy="1280160"/>
            </a:xfrm>
            <a:prstGeom prst="roundRect">
              <a:avLst>
                <a:gd name="adj" fmla="val 7142"/>
              </a:avLst>
            </a:prstGeom>
            <a:solidFill>
              <a:srgbClr val="EDF1F7"/>
            </a:solidFill>
            <a:ln>
              <a:noFill/>
            </a:ln>
          </p:spPr>
          <p:txBody>
            <a:bodyPr rtlCol="0" anchor="ctr"/>
            <a:lstStyle/>
            <a:p>
              <a:pPr algn="ctr"/>
              <a:endParaRPr/>
            </a:p>
          </p:txBody>
        </p:sp>
        <p:cxnSp>
          <p:nvCxnSpPr>
            <p:cNvPr id="147" name="Connector 146"/>
            <p:cNvCxnSpPr/>
            <p:nvPr/>
          </p:nvCxnSpPr>
          <p:spPr>
            <a:xfrm flipV="1">
              <a:off x="6757416" y="3337560"/>
              <a:ext cx="685800" cy="137160"/>
            </a:xfrm>
            <a:prstGeom prst="line">
              <a:avLst/>
            </a:prstGeom>
            <a:ln w="19050">
              <a:solidFill>
                <a:srgbClr val="C9D3E0"/>
              </a:solidFill>
            </a:ln>
          </p:spPr>
        </p:cxnSp>
        <p:cxnSp>
          <p:nvCxnSpPr>
            <p:cNvPr id="148" name="Connector 147"/>
            <p:cNvCxnSpPr/>
            <p:nvPr/>
          </p:nvCxnSpPr>
          <p:spPr>
            <a:xfrm>
              <a:off x="7443216" y="3337560"/>
              <a:ext cx="731520" cy="182880"/>
            </a:xfrm>
            <a:prstGeom prst="line">
              <a:avLst/>
            </a:prstGeom>
            <a:ln w="19050">
              <a:solidFill>
                <a:srgbClr val="C9D3E0"/>
              </a:solidFill>
            </a:ln>
          </p:spPr>
        </p:cxnSp>
        <p:cxnSp>
          <p:nvCxnSpPr>
            <p:cNvPr id="149" name="Connector 148"/>
            <p:cNvCxnSpPr/>
            <p:nvPr/>
          </p:nvCxnSpPr>
          <p:spPr>
            <a:xfrm>
              <a:off x="6757416" y="3474720"/>
              <a:ext cx="274320" cy="594360"/>
            </a:xfrm>
            <a:prstGeom prst="line">
              <a:avLst/>
            </a:prstGeom>
            <a:ln w="19050">
              <a:solidFill>
                <a:srgbClr val="C9D3E0"/>
              </a:solidFill>
            </a:ln>
          </p:spPr>
        </p:cxnSp>
        <p:cxnSp>
          <p:nvCxnSpPr>
            <p:cNvPr id="150" name="Connector 149"/>
            <p:cNvCxnSpPr/>
            <p:nvPr/>
          </p:nvCxnSpPr>
          <p:spPr>
            <a:xfrm>
              <a:off x="7443216" y="3337560"/>
              <a:ext cx="228600" cy="640079"/>
            </a:xfrm>
            <a:prstGeom prst="line">
              <a:avLst/>
            </a:prstGeom>
            <a:ln w="19050">
              <a:solidFill>
                <a:srgbClr val="C9D3E0"/>
              </a:solidFill>
            </a:ln>
          </p:spPr>
        </p:cxnSp>
        <p:cxnSp>
          <p:nvCxnSpPr>
            <p:cNvPr id="151" name="Connector 150"/>
            <p:cNvCxnSpPr/>
            <p:nvPr/>
          </p:nvCxnSpPr>
          <p:spPr>
            <a:xfrm flipV="1">
              <a:off x="7031736" y="3977639"/>
              <a:ext cx="640080" cy="91441"/>
            </a:xfrm>
            <a:prstGeom prst="line">
              <a:avLst/>
            </a:prstGeom>
            <a:ln w="19050">
              <a:solidFill>
                <a:srgbClr val="C9D3E0"/>
              </a:solidFill>
            </a:ln>
          </p:spPr>
        </p:cxnSp>
        <p:cxnSp>
          <p:nvCxnSpPr>
            <p:cNvPr id="152" name="Connector 151"/>
            <p:cNvCxnSpPr/>
            <p:nvPr/>
          </p:nvCxnSpPr>
          <p:spPr>
            <a:xfrm>
              <a:off x="7671816" y="3977639"/>
              <a:ext cx="548640" cy="182881"/>
            </a:xfrm>
            <a:prstGeom prst="line">
              <a:avLst/>
            </a:prstGeom>
            <a:ln w="19050">
              <a:solidFill>
                <a:srgbClr val="C9D3E0"/>
              </a:solidFill>
            </a:ln>
          </p:spPr>
        </p:cxnSp>
        <p:cxnSp>
          <p:nvCxnSpPr>
            <p:cNvPr id="153" name="Connector 152"/>
            <p:cNvCxnSpPr/>
            <p:nvPr/>
          </p:nvCxnSpPr>
          <p:spPr>
            <a:xfrm flipH="1">
              <a:off x="7671816" y="3520440"/>
              <a:ext cx="502920" cy="457199"/>
            </a:xfrm>
            <a:prstGeom prst="line">
              <a:avLst/>
            </a:prstGeom>
            <a:ln w="19050">
              <a:solidFill>
                <a:srgbClr val="C9D3E0"/>
              </a:solidFill>
            </a:ln>
          </p:spPr>
        </p:cxnSp>
        <p:cxnSp>
          <p:nvCxnSpPr>
            <p:cNvPr id="154" name="Connector 153"/>
            <p:cNvCxnSpPr/>
            <p:nvPr/>
          </p:nvCxnSpPr>
          <p:spPr>
            <a:xfrm>
              <a:off x="6757416" y="3474720"/>
              <a:ext cx="914400" cy="502919"/>
            </a:xfrm>
            <a:prstGeom prst="line">
              <a:avLst/>
            </a:prstGeom>
            <a:ln w="19050">
              <a:solidFill>
                <a:srgbClr val="C9D3E0"/>
              </a:solidFill>
            </a:ln>
          </p:spPr>
        </p:cxnSp>
        <p:cxnSp>
          <p:nvCxnSpPr>
            <p:cNvPr id="155" name="Connector 154"/>
            <p:cNvCxnSpPr/>
            <p:nvPr/>
          </p:nvCxnSpPr>
          <p:spPr>
            <a:xfrm flipV="1">
              <a:off x="6909845" y="3368045"/>
              <a:ext cx="380941" cy="76189"/>
            </a:xfrm>
            <a:prstGeom prst="line">
              <a:avLst/>
            </a:prstGeom>
            <a:ln w="28575">
              <a:solidFill>
                <a:srgbClr val="0B1E3D"/>
              </a:solidFill>
              <a:tailEnd type="triangle" w="med" len="med"/>
            </a:ln>
          </p:spPr>
        </p:cxnSp>
        <p:cxnSp>
          <p:nvCxnSpPr>
            <p:cNvPr id="156" name="Connector 155"/>
            <p:cNvCxnSpPr/>
            <p:nvPr/>
          </p:nvCxnSpPr>
          <p:spPr>
            <a:xfrm>
              <a:off x="7594022" y="3375261"/>
              <a:ext cx="429907" cy="107477"/>
            </a:xfrm>
            <a:prstGeom prst="line">
              <a:avLst/>
            </a:prstGeom>
            <a:ln w="28575">
              <a:solidFill>
                <a:srgbClr val="0B1E3D"/>
              </a:solidFill>
              <a:tailEnd type="triangle" w="med" len="med"/>
            </a:ln>
          </p:spPr>
        </p:cxnSp>
        <p:cxnSp>
          <p:nvCxnSpPr>
            <p:cNvPr id="157" name="Connector 156"/>
            <p:cNvCxnSpPr/>
            <p:nvPr/>
          </p:nvCxnSpPr>
          <p:spPr>
            <a:xfrm>
              <a:off x="8185811" y="3675492"/>
              <a:ext cx="23569" cy="329975"/>
            </a:xfrm>
            <a:prstGeom prst="line">
              <a:avLst/>
            </a:prstGeom>
            <a:ln w="28575">
              <a:solidFill>
                <a:srgbClr val="0B1E3D"/>
              </a:solidFill>
              <a:tailEnd type="triangle" w="med" len="med"/>
            </a:ln>
          </p:spPr>
        </p:cxnSp>
        <p:sp>
          <p:nvSpPr>
            <p:cNvPr id="158" name="Oval 157"/>
            <p:cNvSpPr/>
            <p:nvPr/>
          </p:nvSpPr>
          <p:spPr>
            <a:xfrm>
              <a:off x="6638544" y="3355848"/>
              <a:ext cx="237744" cy="237744"/>
            </a:xfrm>
            <a:prstGeom prst="ellipse">
              <a:avLst/>
            </a:prstGeom>
            <a:solidFill>
              <a:srgbClr val="0B1E3D"/>
            </a:solidFill>
            <a:ln w="12700">
              <a:solidFill>
                <a:srgbClr val="0B1E3D"/>
              </a:solidFill>
            </a:ln>
          </p:spPr>
          <p:txBody>
            <a:bodyPr rtlCol="0" anchor="ctr"/>
            <a:lstStyle/>
            <a:p>
              <a:pPr algn="ctr"/>
              <a:endParaRPr/>
            </a:p>
          </p:txBody>
        </p:sp>
        <p:sp>
          <p:nvSpPr>
            <p:cNvPr id="159" name="Oval 158"/>
            <p:cNvSpPr/>
            <p:nvPr/>
          </p:nvSpPr>
          <p:spPr>
            <a:xfrm>
              <a:off x="7324344" y="3218688"/>
              <a:ext cx="237744" cy="237744"/>
            </a:xfrm>
            <a:prstGeom prst="ellipse">
              <a:avLst/>
            </a:prstGeom>
            <a:solidFill>
              <a:srgbClr val="E9C25A"/>
            </a:solidFill>
            <a:ln w="12700">
              <a:solidFill>
                <a:srgbClr val="0B1E3D"/>
              </a:solidFill>
            </a:ln>
          </p:spPr>
          <p:txBody>
            <a:bodyPr rtlCol="0" anchor="ctr"/>
            <a:lstStyle/>
            <a:p>
              <a:pPr algn="ctr"/>
              <a:endParaRPr/>
            </a:p>
          </p:txBody>
        </p:sp>
        <p:sp>
          <p:nvSpPr>
            <p:cNvPr id="160" name="Oval 159"/>
            <p:cNvSpPr/>
            <p:nvPr/>
          </p:nvSpPr>
          <p:spPr>
            <a:xfrm>
              <a:off x="8055863" y="3401568"/>
              <a:ext cx="237744" cy="237744"/>
            </a:xfrm>
            <a:prstGeom prst="ellipse">
              <a:avLst/>
            </a:prstGeom>
            <a:solidFill>
              <a:srgbClr val="E9C25A"/>
            </a:solidFill>
            <a:ln w="12700">
              <a:solidFill>
                <a:srgbClr val="0B1E3D"/>
              </a:solidFill>
            </a:ln>
          </p:spPr>
          <p:txBody>
            <a:bodyPr rtlCol="0" anchor="ctr"/>
            <a:lstStyle/>
            <a:p>
              <a:pPr algn="ctr"/>
              <a:endParaRPr/>
            </a:p>
          </p:txBody>
        </p:sp>
        <p:sp>
          <p:nvSpPr>
            <p:cNvPr id="161" name="Oval 160"/>
            <p:cNvSpPr/>
            <p:nvPr/>
          </p:nvSpPr>
          <p:spPr>
            <a:xfrm>
              <a:off x="6912864" y="3950208"/>
              <a:ext cx="237744" cy="237744"/>
            </a:xfrm>
            <a:prstGeom prst="ellipse">
              <a:avLst/>
            </a:prstGeom>
            <a:solidFill>
              <a:srgbClr val="E9C25A"/>
            </a:solidFill>
            <a:ln w="12700">
              <a:solidFill>
                <a:srgbClr val="0B1E3D"/>
              </a:solidFill>
            </a:ln>
          </p:spPr>
          <p:txBody>
            <a:bodyPr rtlCol="0" anchor="ctr"/>
            <a:lstStyle/>
            <a:p>
              <a:pPr algn="ctr"/>
              <a:endParaRPr/>
            </a:p>
          </p:txBody>
        </p:sp>
        <p:sp>
          <p:nvSpPr>
            <p:cNvPr id="162" name="Oval 161"/>
            <p:cNvSpPr/>
            <p:nvPr/>
          </p:nvSpPr>
          <p:spPr>
            <a:xfrm>
              <a:off x="7552944" y="3858768"/>
              <a:ext cx="237744" cy="237744"/>
            </a:xfrm>
            <a:prstGeom prst="ellipse">
              <a:avLst/>
            </a:prstGeom>
            <a:solidFill>
              <a:srgbClr val="E9C25A"/>
            </a:solidFill>
            <a:ln w="12700">
              <a:solidFill>
                <a:srgbClr val="0B1E3D"/>
              </a:solidFill>
            </a:ln>
          </p:spPr>
          <p:txBody>
            <a:bodyPr rtlCol="0" anchor="ctr"/>
            <a:lstStyle/>
            <a:p>
              <a:pPr algn="ctr"/>
              <a:endParaRPr/>
            </a:p>
          </p:txBody>
        </p:sp>
        <p:sp>
          <p:nvSpPr>
            <p:cNvPr id="163" name="Oval 162"/>
            <p:cNvSpPr/>
            <p:nvPr/>
          </p:nvSpPr>
          <p:spPr>
            <a:xfrm>
              <a:off x="8101583" y="4041648"/>
              <a:ext cx="237744" cy="237744"/>
            </a:xfrm>
            <a:prstGeom prst="ellipse">
              <a:avLst/>
            </a:prstGeom>
            <a:solidFill>
              <a:srgbClr val="E9C25A"/>
            </a:solidFill>
            <a:ln w="12700">
              <a:solidFill>
                <a:srgbClr val="0B1E3D"/>
              </a:solidFill>
            </a:ln>
          </p:spPr>
          <p:txBody>
            <a:bodyPr rtlCol="0" anchor="ctr"/>
            <a:lstStyle/>
            <a:p>
              <a:pPr algn="ctr"/>
              <a:endParaRPr/>
            </a:p>
          </p:txBody>
        </p:sp>
        <p:sp>
          <p:nvSpPr>
            <p:cNvPr id="164" name="TextBox 163"/>
            <p:cNvSpPr txBox="1"/>
            <p:nvPr/>
          </p:nvSpPr>
          <p:spPr>
            <a:xfrm>
              <a:off x="6437376" y="4526280"/>
              <a:ext cx="2144268" cy="731520"/>
            </a:xfrm>
            <a:prstGeom prst="rect">
              <a:avLst/>
            </a:prstGeom>
            <a:noFill/>
          </p:spPr>
          <p:txBody>
            <a:bodyPr wrap="square" lIns="0" tIns="0" rIns="0" bIns="0" anchor="t">
              <a:noAutofit/>
            </a:bodyPr>
            <a:lstStyle/>
            <a:p>
              <a:pPr marL="173736" indent="-173736" algn="l">
                <a:spcAft>
                  <a:spcPts val="400"/>
                </a:spcAft>
                <a:buClr>
                  <a:srgbClr val="C9931A"/>
                </a:buClr>
                <a:buFont typeface="Arial"/>
                <a:buChar char="•"/>
              </a:pPr>
              <a:r>
                <a:rPr sz="1350" b="0" i="0">
                  <a:solidFill>
                    <a:srgbClr val="10192B"/>
                  </a:solidFill>
                  <a:latin typeface="Calibri"/>
                </a:rPr>
                <a:t>Nodes relay to neighbours</a:t>
              </a:r>
            </a:p>
            <a:p>
              <a:pPr marL="173736" indent="-173736" algn="l">
                <a:spcAft>
                  <a:spcPts val="400"/>
                </a:spcAft>
                <a:buClr>
                  <a:srgbClr val="C9931A"/>
                </a:buClr>
                <a:buFont typeface="Arial"/>
                <a:buChar char="•"/>
              </a:pPr>
              <a:r>
                <a:rPr sz="1350" b="0" i="0">
                  <a:solidFill>
                    <a:srgbClr val="10192B"/>
                  </a:solidFill>
                  <a:latin typeface="Calibri"/>
                </a:rPr>
                <a:t>Self-healing, building-wide</a:t>
              </a:r>
            </a:p>
          </p:txBody>
        </p:sp>
        <p:sp>
          <p:nvSpPr>
            <p:cNvPr id="165" name="TextBox 164"/>
            <p:cNvSpPr txBox="1"/>
            <p:nvPr/>
          </p:nvSpPr>
          <p:spPr>
            <a:xfrm>
              <a:off x="6437376" y="5303520"/>
              <a:ext cx="2144268" cy="182880"/>
            </a:xfrm>
            <a:prstGeom prst="rect">
              <a:avLst/>
            </a:prstGeom>
            <a:noFill/>
          </p:spPr>
          <p:txBody>
            <a:bodyPr wrap="square" lIns="0" tIns="0" rIns="0" bIns="0" anchor="t">
              <a:noAutofit/>
            </a:bodyPr>
            <a:lstStyle/>
            <a:p>
              <a:pPr algn="l"/>
              <a:r>
                <a:rPr sz="1000" b="1" i="0" spc="150">
                  <a:solidFill>
                    <a:srgbClr val="5B6B82"/>
                  </a:solidFill>
                  <a:latin typeface="Calibri"/>
                </a:rPr>
                <a:t>USED FOR</a:t>
              </a:r>
            </a:p>
          </p:txBody>
        </p:sp>
        <p:sp>
          <p:nvSpPr>
            <p:cNvPr id="166" name="TextBox 165"/>
            <p:cNvSpPr txBox="1"/>
            <p:nvPr/>
          </p:nvSpPr>
          <p:spPr>
            <a:xfrm>
              <a:off x="6437376" y="5504688"/>
              <a:ext cx="2144268" cy="502920"/>
            </a:xfrm>
            <a:prstGeom prst="rect">
              <a:avLst/>
            </a:prstGeom>
            <a:noFill/>
          </p:spPr>
          <p:txBody>
            <a:bodyPr wrap="square" lIns="0" tIns="0" rIns="0" bIns="0" anchor="t">
              <a:noAutofit/>
            </a:bodyPr>
            <a:lstStyle/>
            <a:p>
              <a:pPr algn="l"/>
              <a:r>
                <a:rPr sz="1300" b="0" i="0">
                  <a:solidFill>
                    <a:srgbClr val="10192B"/>
                  </a:solidFill>
                  <a:latin typeface="Calibri"/>
                </a:rPr>
                <a:t>Smart-home mesh, e.g. Philips Hue</a:t>
              </a:r>
            </a:p>
          </p:txBody>
        </p:sp>
      </p:grpSp>
      <p:grpSp>
        <p:nvGrpSpPr>
          <p:cNvPr id="5" name="LoRa card"/>
          <p:cNvGrpSpPr/>
          <p:nvPr/>
        </p:nvGrpSpPr>
        <p:grpSpPr>
          <a:xfrm>
            <a:off x="9038844" y="1508760"/>
            <a:ext cx="2601468" cy="4572000"/>
            <a:chOff x="9038844" y="1508760"/>
            <a:chExt cx="2601468" cy="4572000"/>
          </a:xfrm>
        </p:grpSpPr>
        <p:sp>
          <p:nvSpPr>
            <p:cNvPr id="167" name="Rounded Rectangle 166"/>
            <p:cNvSpPr/>
            <p:nvPr/>
          </p:nvSpPr>
          <p:spPr>
            <a:xfrm>
              <a:off x="9038844" y="1508760"/>
              <a:ext cx="2601468" cy="4572000"/>
            </a:xfrm>
            <a:prstGeom prst="roundRect">
              <a:avLst>
                <a:gd name="adj" fmla="val 4217"/>
              </a:avLst>
            </a:prstGeom>
            <a:solidFill>
              <a:srgbClr val="FFFFFF"/>
            </a:solidFill>
            <a:ln w="12700">
              <a:solidFill>
                <a:srgbClr val="D9E0EA"/>
              </a:solidFill>
            </a:ln>
          </p:spPr>
          <p:txBody>
            <a:bodyPr rtlCol="0" anchor="ctr"/>
            <a:lstStyle/>
            <a:p>
              <a:pPr algn="ctr"/>
              <a:endParaRPr/>
            </a:p>
          </p:txBody>
        </p:sp>
        <p:sp>
          <p:nvSpPr>
            <p:cNvPr id="168" name="Oval 167"/>
            <p:cNvSpPr/>
            <p:nvPr/>
          </p:nvSpPr>
          <p:spPr>
            <a:xfrm>
              <a:off x="9267444" y="1737360"/>
              <a:ext cx="548640" cy="548640"/>
            </a:xfrm>
            <a:prstGeom prst="ellipse">
              <a:avLst/>
            </a:prstGeom>
            <a:solidFill>
              <a:srgbClr val="E9C25A"/>
            </a:solidFill>
            <a:ln>
              <a:noFill/>
            </a:ln>
          </p:spPr>
          <p:txBody>
            <a:bodyPr rtlCol="0" anchor="ctr"/>
            <a:lstStyle/>
            <a:p>
              <a:pPr algn="ctr"/>
              <a:endParaRPr/>
            </a:p>
          </p:txBody>
        </p:sp>
        <p:pic>
          <p:nvPicPr>
            <p:cNvPr id="169" name="Picture 168" descr="FaTowerBroadcast_navy.png"/>
            <p:cNvPicPr>
              <a:picLocks noChangeAspect="1"/>
            </p:cNvPicPr>
            <p:nvPr/>
          </p:nvPicPr>
          <p:blipFill>
            <a:blip r:embed="rId9"/>
            <a:stretch>
              <a:fillRect/>
            </a:stretch>
          </p:blipFill>
          <p:spPr>
            <a:xfrm>
              <a:off x="9404604" y="1874520"/>
              <a:ext cx="274320" cy="274320"/>
            </a:xfrm>
            <a:prstGeom prst="rect">
              <a:avLst/>
            </a:prstGeom>
          </p:spPr>
        </p:pic>
        <p:sp>
          <p:nvSpPr>
            <p:cNvPr id="170" name="TextBox 169"/>
            <p:cNvSpPr txBox="1"/>
            <p:nvPr/>
          </p:nvSpPr>
          <p:spPr>
            <a:xfrm>
              <a:off x="9267444" y="2395728"/>
              <a:ext cx="2235708" cy="365760"/>
            </a:xfrm>
            <a:prstGeom prst="rect">
              <a:avLst/>
            </a:prstGeom>
            <a:noFill/>
          </p:spPr>
          <p:txBody>
            <a:bodyPr wrap="square" lIns="0" tIns="0" rIns="0" bIns="0" anchor="t">
              <a:noAutofit/>
            </a:bodyPr>
            <a:lstStyle/>
            <a:p>
              <a:pPr algn="l"/>
              <a:r>
                <a:rPr sz="2000" b="1" i="0">
                  <a:solidFill>
                    <a:srgbClr val="10192B"/>
                  </a:solidFill>
                  <a:latin typeface="Calibri"/>
                </a:rPr>
                <a:t>LoRa</a:t>
              </a:r>
            </a:p>
          </p:txBody>
        </p:sp>
        <p:sp>
          <p:nvSpPr>
            <p:cNvPr id="171" name="TextBox 170"/>
            <p:cNvSpPr txBox="1"/>
            <p:nvPr/>
          </p:nvSpPr>
          <p:spPr>
            <a:xfrm>
              <a:off x="9267444" y="2761488"/>
              <a:ext cx="2235708" cy="274320"/>
            </a:xfrm>
            <a:prstGeom prst="rect">
              <a:avLst/>
            </a:prstGeom>
            <a:noFill/>
          </p:spPr>
          <p:txBody>
            <a:bodyPr wrap="square" lIns="0" tIns="0" rIns="0" bIns="0" anchor="t">
              <a:noAutofit/>
            </a:bodyPr>
            <a:lstStyle/>
            <a:p>
              <a:pPr algn="l"/>
              <a:r>
                <a:rPr sz="1350" b="0" i="1">
                  <a:solidFill>
                    <a:srgbClr val="8A6300"/>
                  </a:solidFill>
                  <a:latin typeface="Calibri"/>
                </a:rPr>
                <a:t>Shouting across a valley</a:t>
              </a:r>
            </a:p>
          </p:txBody>
        </p:sp>
        <p:sp>
          <p:nvSpPr>
            <p:cNvPr id="172" name="Rounded Rectangle 171"/>
            <p:cNvSpPr/>
            <p:nvPr/>
          </p:nvSpPr>
          <p:spPr>
            <a:xfrm>
              <a:off x="9221724" y="3108960"/>
              <a:ext cx="2235708" cy="1280160"/>
            </a:xfrm>
            <a:prstGeom prst="roundRect">
              <a:avLst>
                <a:gd name="adj" fmla="val 7142"/>
              </a:avLst>
            </a:prstGeom>
            <a:solidFill>
              <a:srgbClr val="EDF1F7"/>
            </a:solidFill>
            <a:ln>
              <a:noFill/>
            </a:ln>
          </p:spPr>
          <p:txBody>
            <a:bodyPr rtlCol="0" anchor="ctr"/>
            <a:lstStyle/>
            <a:p>
              <a:pPr algn="ctr"/>
              <a:endParaRPr/>
            </a:p>
          </p:txBody>
        </p:sp>
        <p:sp>
          <p:nvSpPr>
            <p:cNvPr id="173" name="Isosceles Triangle 172"/>
            <p:cNvSpPr/>
            <p:nvPr/>
          </p:nvSpPr>
          <p:spPr>
            <a:xfrm>
              <a:off x="9313163" y="3730752"/>
              <a:ext cx="868680" cy="566928"/>
            </a:xfrm>
            <a:prstGeom prst="triangle">
              <a:avLst/>
            </a:prstGeom>
            <a:solidFill>
              <a:srgbClr val="D2DBE8"/>
            </a:solidFill>
            <a:ln>
              <a:noFill/>
            </a:ln>
          </p:spPr>
          <p:txBody>
            <a:bodyPr rtlCol="0" anchor="ctr"/>
            <a:lstStyle/>
            <a:p>
              <a:pPr algn="ctr"/>
              <a:endParaRPr/>
            </a:p>
          </p:txBody>
        </p:sp>
        <p:sp>
          <p:nvSpPr>
            <p:cNvPr id="174" name="Isosceles Triangle 173"/>
            <p:cNvSpPr/>
            <p:nvPr/>
          </p:nvSpPr>
          <p:spPr>
            <a:xfrm>
              <a:off x="10501884" y="3730752"/>
              <a:ext cx="868680" cy="566928"/>
            </a:xfrm>
            <a:prstGeom prst="triangle">
              <a:avLst/>
            </a:prstGeom>
            <a:solidFill>
              <a:srgbClr val="D2DBE8"/>
            </a:solidFill>
            <a:ln>
              <a:noFill/>
            </a:ln>
          </p:spPr>
          <p:txBody>
            <a:bodyPr rtlCol="0" anchor="ctr"/>
            <a:lstStyle/>
            <a:p>
              <a:pPr algn="ctr"/>
              <a:endParaRPr/>
            </a:p>
          </p:txBody>
        </p:sp>
        <p:sp>
          <p:nvSpPr>
            <p:cNvPr id="175" name="Oval 174"/>
            <p:cNvSpPr/>
            <p:nvPr/>
          </p:nvSpPr>
          <p:spPr>
            <a:xfrm>
              <a:off x="9555479" y="3465576"/>
              <a:ext cx="384048" cy="384048"/>
            </a:xfrm>
            <a:prstGeom prst="ellipse">
              <a:avLst/>
            </a:prstGeom>
            <a:solidFill>
              <a:srgbClr val="0B1E3D"/>
            </a:solidFill>
            <a:ln>
              <a:noFill/>
            </a:ln>
          </p:spPr>
          <p:txBody>
            <a:bodyPr rtlCol="0" anchor="ctr"/>
            <a:lstStyle/>
            <a:p>
              <a:pPr algn="ctr"/>
              <a:endParaRPr/>
            </a:p>
          </p:txBody>
        </p:sp>
        <p:pic>
          <p:nvPicPr>
            <p:cNvPr id="176" name="Picture 175" descr="FaMicrochip_white.png"/>
            <p:cNvPicPr>
              <a:picLocks noChangeAspect="1"/>
            </p:cNvPicPr>
            <p:nvPr/>
          </p:nvPicPr>
          <p:blipFill>
            <a:blip r:embed="rId4"/>
            <a:stretch>
              <a:fillRect/>
            </a:stretch>
          </p:blipFill>
          <p:spPr>
            <a:xfrm>
              <a:off x="9651491" y="3561588"/>
              <a:ext cx="192024" cy="192024"/>
            </a:xfrm>
            <a:prstGeom prst="rect">
              <a:avLst/>
            </a:prstGeom>
          </p:spPr>
        </p:pic>
        <p:sp>
          <p:nvSpPr>
            <p:cNvPr id="177" name="Oval 176"/>
            <p:cNvSpPr/>
            <p:nvPr/>
          </p:nvSpPr>
          <p:spPr>
            <a:xfrm>
              <a:off x="10744199" y="3465576"/>
              <a:ext cx="384048" cy="384048"/>
            </a:xfrm>
            <a:prstGeom prst="ellipse">
              <a:avLst/>
            </a:prstGeom>
            <a:solidFill>
              <a:srgbClr val="E9C25A"/>
            </a:solidFill>
            <a:ln>
              <a:noFill/>
            </a:ln>
          </p:spPr>
          <p:txBody>
            <a:bodyPr rtlCol="0" anchor="ctr"/>
            <a:lstStyle/>
            <a:p>
              <a:pPr algn="ctr"/>
              <a:endParaRPr/>
            </a:p>
          </p:txBody>
        </p:sp>
        <p:pic>
          <p:nvPicPr>
            <p:cNvPr id="178" name="Picture 177" descr="FaTowerBroadcast_navy.png"/>
            <p:cNvPicPr>
              <a:picLocks noChangeAspect="1"/>
            </p:cNvPicPr>
            <p:nvPr/>
          </p:nvPicPr>
          <p:blipFill>
            <a:blip r:embed="rId9"/>
            <a:stretch>
              <a:fillRect/>
            </a:stretch>
          </p:blipFill>
          <p:spPr>
            <a:xfrm>
              <a:off x="10840211" y="3561588"/>
              <a:ext cx="192024" cy="192024"/>
            </a:xfrm>
            <a:prstGeom prst="rect">
              <a:avLst/>
            </a:prstGeom>
          </p:spPr>
        </p:pic>
        <p:cxnSp>
          <p:nvCxnSpPr>
            <p:cNvPr id="179" name="Connector 178"/>
            <p:cNvCxnSpPr/>
            <p:nvPr/>
          </p:nvCxnSpPr>
          <p:spPr>
            <a:xfrm>
              <a:off x="9998963" y="3657600"/>
              <a:ext cx="685800" cy="0"/>
            </a:xfrm>
            <a:prstGeom prst="line">
              <a:avLst/>
            </a:prstGeom>
            <a:ln w="25400">
              <a:solidFill>
                <a:srgbClr val="C9931A"/>
              </a:solidFill>
              <a:prstDash val="dash"/>
              <a:tailEnd type="triangle" w="med" len="med"/>
            </a:ln>
          </p:spPr>
        </p:cxnSp>
        <p:sp>
          <p:nvSpPr>
            <p:cNvPr id="180" name="TextBox 179"/>
            <p:cNvSpPr txBox="1"/>
            <p:nvPr/>
          </p:nvSpPr>
          <p:spPr>
            <a:xfrm>
              <a:off x="9770363" y="3236976"/>
              <a:ext cx="1188720" cy="228600"/>
            </a:xfrm>
            <a:prstGeom prst="rect">
              <a:avLst/>
            </a:prstGeom>
            <a:noFill/>
          </p:spPr>
          <p:txBody>
            <a:bodyPr wrap="square" lIns="0" tIns="0" rIns="0" bIns="0" anchor="t">
              <a:noAutofit/>
            </a:bodyPr>
            <a:lstStyle/>
            <a:p>
              <a:pPr algn="ctr"/>
              <a:r>
                <a:rPr sz="1150" b="1" i="0">
                  <a:solidFill>
                    <a:srgbClr val="8A6300"/>
                  </a:solidFill>
                  <a:latin typeface="Calibri"/>
                </a:rPr>
                <a:t>kilometres</a:t>
              </a:r>
            </a:p>
          </p:txBody>
        </p:sp>
        <p:sp>
          <p:nvSpPr>
            <p:cNvPr id="181" name="TextBox 180"/>
            <p:cNvSpPr txBox="1"/>
            <p:nvPr/>
          </p:nvSpPr>
          <p:spPr>
            <a:xfrm>
              <a:off x="9267444" y="4526280"/>
              <a:ext cx="2144268" cy="731520"/>
            </a:xfrm>
            <a:prstGeom prst="rect">
              <a:avLst/>
            </a:prstGeom>
            <a:noFill/>
          </p:spPr>
          <p:txBody>
            <a:bodyPr wrap="square" lIns="0" tIns="0" rIns="0" bIns="0" anchor="t">
              <a:noAutofit/>
            </a:bodyPr>
            <a:lstStyle/>
            <a:p>
              <a:pPr marL="173736" indent="-173736" algn="l">
                <a:spcAft>
                  <a:spcPts val="400"/>
                </a:spcAft>
                <a:buClr>
                  <a:srgbClr val="C9931A"/>
                </a:buClr>
                <a:buFont typeface="Arial"/>
                <a:buChar char="•"/>
              </a:pPr>
              <a:r>
                <a:rPr sz="1350" b="0" i="0">
                  <a:solidFill>
                    <a:srgbClr val="10192B"/>
                  </a:solidFill>
                  <a:latin typeface="Calibri"/>
                </a:rPr>
                <a:t>Kilometres of range</a:t>
              </a:r>
            </a:p>
            <a:p>
              <a:pPr marL="173736" indent="-173736" algn="l">
                <a:spcAft>
                  <a:spcPts val="400"/>
                </a:spcAft>
                <a:buClr>
                  <a:srgbClr val="C9931A"/>
                </a:buClr>
                <a:buFont typeface="Arial"/>
                <a:buChar char="•"/>
              </a:pPr>
              <a:r>
                <a:rPr sz="1350" b="0" i="0">
                  <a:solidFill>
                    <a:srgbClr val="10192B"/>
                  </a:solidFill>
                  <a:latin typeface="Calibri"/>
                </a:rPr>
                <a:t>Short, occasional messages</a:t>
              </a:r>
            </a:p>
          </p:txBody>
        </p:sp>
        <p:sp>
          <p:nvSpPr>
            <p:cNvPr id="182" name="TextBox 181"/>
            <p:cNvSpPr txBox="1"/>
            <p:nvPr/>
          </p:nvSpPr>
          <p:spPr>
            <a:xfrm>
              <a:off x="9267444" y="5303520"/>
              <a:ext cx="2144268" cy="182880"/>
            </a:xfrm>
            <a:prstGeom prst="rect">
              <a:avLst/>
            </a:prstGeom>
            <a:noFill/>
          </p:spPr>
          <p:txBody>
            <a:bodyPr wrap="square" lIns="0" tIns="0" rIns="0" bIns="0" anchor="t">
              <a:noAutofit/>
            </a:bodyPr>
            <a:lstStyle/>
            <a:p>
              <a:pPr algn="l"/>
              <a:r>
                <a:rPr sz="1000" b="1" i="0" spc="150">
                  <a:solidFill>
                    <a:srgbClr val="5B6B82"/>
                  </a:solidFill>
                  <a:latin typeface="Calibri"/>
                </a:rPr>
                <a:t>USED FOR</a:t>
              </a:r>
            </a:p>
          </p:txBody>
        </p:sp>
        <p:sp>
          <p:nvSpPr>
            <p:cNvPr id="183" name="TextBox 182"/>
            <p:cNvSpPr txBox="1"/>
            <p:nvPr/>
          </p:nvSpPr>
          <p:spPr>
            <a:xfrm>
              <a:off x="9267444" y="5504688"/>
              <a:ext cx="2144268" cy="502920"/>
            </a:xfrm>
            <a:prstGeom prst="rect">
              <a:avLst/>
            </a:prstGeom>
            <a:noFill/>
          </p:spPr>
          <p:txBody>
            <a:bodyPr wrap="square" lIns="0" tIns="0" rIns="0" bIns="0" anchor="t">
              <a:noAutofit/>
            </a:bodyPr>
            <a:lstStyle/>
            <a:p>
              <a:pPr algn="l"/>
              <a:r>
                <a:rPr sz="1300" b="0" i="0">
                  <a:solidFill>
                    <a:srgbClr val="10192B"/>
                  </a:solidFill>
                  <a:latin typeface="Calibri"/>
                </a:rPr>
                <a:t>Utility meters, agriculture sensors</a:t>
              </a:r>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 0"/>
          <p:cNvSpPr/>
          <p:nvPr/>
        </p:nvSpPr>
        <p:spPr>
          <a:xfrm>
            <a:off x="548640" y="502920"/>
            <a:ext cx="11091672"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000" b="1" u="none" strike="noStrike">
                <a:solidFill>
                  <a:srgbClr val="10192B"/>
                </a:solidFill>
                <a:effectLst/>
                <a:uFillTx/>
                <a:latin typeface="Calibri"/>
                <a:ea typeface="Calibri"/>
              </a:rPr>
              <a:t>Wireless at a Glance</a:t>
            </a:r>
            <a:endParaRPr lang="en-US" sz="3000" b="0" u="none" strike="noStrike">
              <a:solidFill>
                <a:srgbClr val="000000"/>
              </a:solidFill>
              <a:effectLst/>
              <a:uFillTx/>
              <a:latin typeface="Arial"/>
            </a:endParaRPr>
          </a:p>
        </p:txBody>
      </p:sp>
      <p:sp>
        <p:nvSpPr>
          <p:cNvPr id="101" name="PlaceHolder 1"/>
          <p:cNvSpPr>
            <a:spLocks noGrp="1"/>
          </p:cNvSpPr>
          <p:nvPr>
            <p:ph type="sldNum" idx="19"/>
          </p:nvPr>
        </p:nvSpPr>
        <p:spPr>
          <a:xfrm>
            <a:off x="11368800" y="6473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900" b="0" u="none" strike="noStrike">
                <a:solidFill>
                  <a:srgbClr val="5B6B82"/>
                </a:solidFill>
                <a:effectLst/>
                <a:uFillTx/>
                <a:latin typeface="Calibri"/>
                <a:ea typeface="Calibri"/>
              </a:defRPr>
            </a:lvl1pPr>
          </a:lstStyle>
          <a:p>
            <a:pPr indent="0" algn="r" defTabSz="914400">
              <a:lnSpc>
                <a:spcPct val="100000"/>
              </a:lnSpc>
              <a:buNone/>
            </a:pPr>
            <a:fld id="{143F33F3-4D2B-40B0-A1E0-C4D126F5C99F}" type="slidenum">
              <a:rPr lang="en-US" sz="900" b="0" u="none" strike="noStrike">
                <a:solidFill>
                  <a:srgbClr val="5B6B82"/>
                </a:solidFill>
                <a:effectLst/>
                <a:uFillTx/>
                <a:latin typeface="Calibri"/>
                <a:ea typeface="Calibri"/>
              </a:rPr>
              <a:t>9</a:t>
            </a:fld>
            <a:endParaRPr lang="en-US" sz="900" b="0" u="none" strike="noStrike">
              <a:solidFill>
                <a:srgbClr val="000000"/>
              </a:solidFill>
              <a:effectLst/>
              <a:uFillTx/>
              <a:latin typeface="Times New Roman"/>
            </a:endParaRPr>
          </a:p>
        </p:txBody>
      </p:sp>
      <p:sp>
        <p:nvSpPr>
          <p:cNvPr id="102" name="TextBox 101"/>
          <p:cNvSpPr txBox="1"/>
          <p:nvPr/>
        </p:nvSpPr>
        <p:spPr>
          <a:xfrm>
            <a:off x="777240" y="1536192"/>
            <a:ext cx="1828800" cy="228600"/>
          </a:xfrm>
          <a:prstGeom prst="rect">
            <a:avLst/>
          </a:prstGeom>
          <a:noFill/>
        </p:spPr>
        <p:txBody>
          <a:bodyPr wrap="square" lIns="0" tIns="0" rIns="0" bIns="0" anchor="t">
            <a:noAutofit/>
          </a:bodyPr>
          <a:lstStyle/>
          <a:p>
            <a:pPr algn="l"/>
            <a:r>
              <a:rPr sz="1100" b="1" i="0" spc="150">
                <a:solidFill>
                  <a:srgbClr val="5B6B82"/>
                </a:solidFill>
                <a:latin typeface="Calibri"/>
              </a:rPr>
              <a:t>PROTOCOL</a:t>
            </a:r>
          </a:p>
        </p:txBody>
      </p:sp>
      <p:sp>
        <p:nvSpPr>
          <p:cNvPr id="103" name="TextBox 102"/>
          <p:cNvSpPr txBox="1"/>
          <p:nvPr/>
        </p:nvSpPr>
        <p:spPr>
          <a:xfrm>
            <a:off x="3429000" y="1536192"/>
            <a:ext cx="1828800" cy="228600"/>
          </a:xfrm>
          <a:prstGeom prst="rect">
            <a:avLst/>
          </a:prstGeom>
          <a:noFill/>
        </p:spPr>
        <p:txBody>
          <a:bodyPr wrap="square" lIns="0" tIns="0" rIns="0" bIns="0" anchor="t">
            <a:noAutofit/>
          </a:bodyPr>
          <a:lstStyle/>
          <a:p>
            <a:pPr algn="l"/>
            <a:r>
              <a:rPr sz="1100" b="1" i="0" spc="150">
                <a:solidFill>
                  <a:srgbClr val="5B6B82"/>
                </a:solidFill>
                <a:latin typeface="Calibri"/>
              </a:rPr>
              <a:t>RANGE</a:t>
            </a:r>
          </a:p>
        </p:txBody>
      </p:sp>
      <p:sp>
        <p:nvSpPr>
          <p:cNvPr id="104" name="TextBox 103"/>
          <p:cNvSpPr txBox="1"/>
          <p:nvPr/>
        </p:nvSpPr>
        <p:spPr>
          <a:xfrm>
            <a:off x="5532120" y="1536192"/>
            <a:ext cx="1828800" cy="228600"/>
          </a:xfrm>
          <a:prstGeom prst="rect">
            <a:avLst/>
          </a:prstGeom>
          <a:noFill/>
        </p:spPr>
        <p:txBody>
          <a:bodyPr wrap="square" lIns="0" tIns="0" rIns="0" bIns="0" anchor="t">
            <a:noAutofit/>
          </a:bodyPr>
          <a:lstStyle/>
          <a:p>
            <a:pPr algn="l"/>
            <a:r>
              <a:rPr sz="1100" b="1" i="0" spc="150">
                <a:solidFill>
                  <a:srgbClr val="5B6B82"/>
                </a:solidFill>
                <a:latin typeface="Calibri"/>
              </a:rPr>
              <a:t>POWER DRAW</a:t>
            </a:r>
          </a:p>
        </p:txBody>
      </p:sp>
      <p:sp>
        <p:nvSpPr>
          <p:cNvPr id="105" name="TextBox 104"/>
          <p:cNvSpPr txBox="1"/>
          <p:nvPr/>
        </p:nvSpPr>
        <p:spPr>
          <a:xfrm>
            <a:off x="7635240" y="1536192"/>
            <a:ext cx="1828800" cy="228600"/>
          </a:xfrm>
          <a:prstGeom prst="rect">
            <a:avLst/>
          </a:prstGeom>
          <a:noFill/>
        </p:spPr>
        <p:txBody>
          <a:bodyPr wrap="square" lIns="0" tIns="0" rIns="0" bIns="0" anchor="t">
            <a:noAutofit/>
          </a:bodyPr>
          <a:lstStyle/>
          <a:p>
            <a:pPr algn="l"/>
            <a:r>
              <a:rPr sz="1100" b="1" i="0" spc="150">
                <a:solidFill>
                  <a:srgbClr val="5B6B82"/>
                </a:solidFill>
                <a:latin typeface="Calibri"/>
              </a:rPr>
              <a:t>SPEED</a:t>
            </a:r>
          </a:p>
        </p:txBody>
      </p:sp>
      <p:sp>
        <p:nvSpPr>
          <p:cNvPr id="106" name="TextBox 105"/>
          <p:cNvSpPr txBox="1"/>
          <p:nvPr/>
        </p:nvSpPr>
        <p:spPr>
          <a:xfrm>
            <a:off x="9601200" y="1536192"/>
            <a:ext cx="1828800" cy="228600"/>
          </a:xfrm>
          <a:prstGeom prst="rect">
            <a:avLst/>
          </a:prstGeom>
          <a:noFill/>
        </p:spPr>
        <p:txBody>
          <a:bodyPr wrap="square" lIns="0" tIns="0" rIns="0" bIns="0" anchor="t">
            <a:noAutofit/>
          </a:bodyPr>
          <a:lstStyle/>
          <a:p>
            <a:pPr algn="l"/>
            <a:r>
              <a:rPr sz="1100" b="1" i="0" spc="150">
                <a:solidFill>
                  <a:srgbClr val="5B6B82"/>
                </a:solidFill>
                <a:latin typeface="Calibri"/>
              </a:rPr>
              <a:t>BEST FOR</a:t>
            </a:r>
          </a:p>
        </p:txBody>
      </p:sp>
      <p:grpSp>
        <p:nvGrpSpPr>
          <p:cNvPr id="2" name="Wi-Fi row"/>
          <p:cNvGrpSpPr/>
          <p:nvPr/>
        </p:nvGrpSpPr>
        <p:grpSpPr>
          <a:xfrm>
            <a:off x="548640" y="1874519"/>
            <a:ext cx="11091672" cy="777240"/>
            <a:chOff x="548640" y="1874519"/>
            <a:chExt cx="11091672" cy="777240"/>
          </a:xfrm>
        </p:grpSpPr>
        <p:sp>
          <p:nvSpPr>
            <p:cNvPr id="107" name="Rounded Rectangle 106"/>
            <p:cNvSpPr/>
            <p:nvPr/>
          </p:nvSpPr>
          <p:spPr>
            <a:xfrm>
              <a:off x="548640" y="1874519"/>
              <a:ext cx="11091672" cy="777240"/>
            </a:xfrm>
            <a:prstGeom prst="roundRect">
              <a:avLst>
                <a:gd name="adj" fmla="val 14117"/>
              </a:avLst>
            </a:prstGeom>
            <a:solidFill>
              <a:srgbClr val="FFFFFF"/>
            </a:solidFill>
            <a:ln w="12700">
              <a:solidFill>
                <a:srgbClr val="D9E0EA"/>
              </a:solidFill>
            </a:ln>
          </p:spPr>
          <p:txBody>
            <a:bodyPr rtlCol="0" anchor="ctr"/>
            <a:lstStyle/>
            <a:p>
              <a:pPr algn="ctr"/>
              <a:endParaRPr/>
            </a:p>
          </p:txBody>
        </p:sp>
        <p:sp>
          <p:nvSpPr>
            <p:cNvPr id="108" name="Oval 107"/>
            <p:cNvSpPr/>
            <p:nvPr/>
          </p:nvSpPr>
          <p:spPr>
            <a:xfrm>
              <a:off x="777240" y="2034539"/>
              <a:ext cx="457200" cy="457200"/>
            </a:xfrm>
            <a:prstGeom prst="ellipse">
              <a:avLst/>
            </a:prstGeom>
            <a:solidFill>
              <a:srgbClr val="E9C25A"/>
            </a:solidFill>
            <a:ln>
              <a:noFill/>
            </a:ln>
          </p:spPr>
          <p:txBody>
            <a:bodyPr rtlCol="0" anchor="ctr"/>
            <a:lstStyle/>
            <a:p>
              <a:pPr algn="ctr"/>
              <a:endParaRPr/>
            </a:p>
          </p:txBody>
        </p:sp>
        <p:pic>
          <p:nvPicPr>
            <p:cNvPr id="109" name="Picture 108" descr="FaWifi_navy.png"/>
            <p:cNvPicPr>
              <a:picLocks noChangeAspect="1"/>
            </p:cNvPicPr>
            <p:nvPr/>
          </p:nvPicPr>
          <p:blipFill>
            <a:blip r:embed="rId3"/>
            <a:stretch>
              <a:fillRect/>
            </a:stretch>
          </p:blipFill>
          <p:spPr>
            <a:xfrm>
              <a:off x="891540" y="2148839"/>
              <a:ext cx="228600" cy="228600"/>
            </a:xfrm>
            <a:prstGeom prst="rect">
              <a:avLst/>
            </a:prstGeom>
          </p:spPr>
        </p:pic>
        <p:sp>
          <p:nvSpPr>
            <p:cNvPr id="110" name="TextBox 109"/>
            <p:cNvSpPr txBox="1"/>
            <p:nvPr/>
          </p:nvSpPr>
          <p:spPr>
            <a:xfrm>
              <a:off x="1371600" y="2034539"/>
              <a:ext cx="1920240" cy="457200"/>
            </a:xfrm>
            <a:prstGeom prst="rect">
              <a:avLst/>
            </a:prstGeom>
            <a:noFill/>
          </p:spPr>
          <p:txBody>
            <a:bodyPr wrap="square" lIns="0" tIns="0" rIns="0" bIns="0" anchor="ctr">
              <a:noAutofit/>
            </a:bodyPr>
            <a:lstStyle/>
            <a:p>
              <a:pPr algn="l"/>
              <a:r>
                <a:rPr sz="1600" b="1" i="0">
                  <a:solidFill>
                    <a:srgbClr val="10192B"/>
                  </a:solidFill>
                  <a:latin typeface="Calibri"/>
                </a:rPr>
                <a:t>Wi-Fi</a:t>
              </a:r>
            </a:p>
          </p:txBody>
        </p:sp>
        <p:sp>
          <p:nvSpPr>
            <p:cNvPr id="111" name="Rounded Rectangle 110"/>
            <p:cNvSpPr/>
            <p:nvPr/>
          </p:nvSpPr>
          <p:spPr>
            <a:xfrm>
              <a:off x="3429000"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12" name="Rounded Rectangle 111"/>
            <p:cNvSpPr/>
            <p:nvPr/>
          </p:nvSpPr>
          <p:spPr>
            <a:xfrm>
              <a:off x="3730752"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13" name="Rounded Rectangle 112"/>
            <p:cNvSpPr/>
            <p:nvPr/>
          </p:nvSpPr>
          <p:spPr>
            <a:xfrm>
              <a:off x="4032504" y="2057400"/>
              <a:ext cx="256032" cy="146304"/>
            </a:xfrm>
            <a:prstGeom prst="roundRect">
              <a:avLst>
                <a:gd name="adj" fmla="val 31250"/>
              </a:avLst>
            </a:prstGeom>
            <a:solidFill>
              <a:srgbClr val="D9E0EA"/>
            </a:solidFill>
            <a:ln>
              <a:noFill/>
            </a:ln>
          </p:spPr>
          <p:txBody>
            <a:bodyPr rtlCol="0" anchor="ctr"/>
            <a:lstStyle/>
            <a:p>
              <a:pPr algn="ctr"/>
              <a:endParaRPr/>
            </a:p>
          </p:txBody>
        </p:sp>
        <p:sp>
          <p:nvSpPr>
            <p:cNvPr id="114" name="Rounded Rectangle 113"/>
            <p:cNvSpPr/>
            <p:nvPr/>
          </p:nvSpPr>
          <p:spPr>
            <a:xfrm>
              <a:off x="4334256" y="2057400"/>
              <a:ext cx="256032" cy="146304"/>
            </a:xfrm>
            <a:prstGeom prst="roundRect">
              <a:avLst>
                <a:gd name="adj" fmla="val 31250"/>
              </a:avLst>
            </a:prstGeom>
            <a:solidFill>
              <a:srgbClr val="D9E0EA"/>
            </a:solidFill>
            <a:ln>
              <a:noFill/>
            </a:ln>
          </p:spPr>
          <p:txBody>
            <a:bodyPr rtlCol="0" anchor="ctr"/>
            <a:lstStyle/>
            <a:p>
              <a:pPr algn="ctr"/>
              <a:endParaRPr/>
            </a:p>
          </p:txBody>
        </p:sp>
        <p:sp>
          <p:nvSpPr>
            <p:cNvPr id="115" name="Rounded Rectangle 114"/>
            <p:cNvSpPr/>
            <p:nvPr/>
          </p:nvSpPr>
          <p:spPr>
            <a:xfrm>
              <a:off x="4636008" y="2057400"/>
              <a:ext cx="256032" cy="146304"/>
            </a:xfrm>
            <a:prstGeom prst="roundRect">
              <a:avLst>
                <a:gd name="adj" fmla="val 31250"/>
              </a:avLst>
            </a:prstGeom>
            <a:solidFill>
              <a:srgbClr val="D9E0EA"/>
            </a:solidFill>
            <a:ln>
              <a:noFill/>
            </a:ln>
          </p:spPr>
          <p:txBody>
            <a:bodyPr rtlCol="0" anchor="ctr"/>
            <a:lstStyle/>
            <a:p>
              <a:pPr algn="ctr"/>
              <a:endParaRPr/>
            </a:p>
          </p:txBody>
        </p:sp>
        <p:sp>
          <p:nvSpPr>
            <p:cNvPr id="116" name="TextBox 115"/>
            <p:cNvSpPr txBox="1"/>
            <p:nvPr/>
          </p:nvSpPr>
          <p:spPr>
            <a:xfrm>
              <a:off x="3429000" y="2267712"/>
              <a:ext cx="2011680" cy="256032"/>
            </a:xfrm>
            <a:prstGeom prst="rect">
              <a:avLst/>
            </a:prstGeom>
            <a:noFill/>
          </p:spPr>
          <p:txBody>
            <a:bodyPr wrap="square" lIns="0" tIns="0" rIns="0" bIns="0" anchor="t">
              <a:noAutofit/>
            </a:bodyPr>
            <a:lstStyle/>
            <a:p>
              <a:pPr algn="l"/>
              <a:r>
                <a:rPr sz="1250" b="0" i="0">
                  <a:solidFill>
                    <a:srgbClr val="10192B"/>
                  </a:solidFill>
                  <a:latin typeface="Calibri"/>
                </a:rPr>
                <a:t>~50 m</a:t>
              </a:r>
            </a:p>
          </p:txBody>
        </p:sp>
        <p:sp>
          <p:nvSpPr>
            <p:cNvPr id="117" name="Rounded Rectangle 116"/>
            <p:cNvSpPr/>
            <p:nvPr/>
          </p:nvSpPr>
          <p:spPr>
            <a:xfrm>
              <a:off x="5532120"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18" name="Rounded Rectangle 117"/>
            <p:cNvSpPr/>
            <p:nvPr/>
          </p:nvSpPr>
          <p:spPr>
            <a:xfrm>
              <a:off x="5833872"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19" name="Rounded Rectangle 118"/>
            <p:cNvSpPr/>
            <p:nvPr/>
          </p:nvSpPr>
          <p:spPr>
            <a:xfrm>
              <a:off x="6135624"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20" name="Rounded Rectangle 119"/>
            <p:cNvSpPr/>
            <p:nvPr/>
          </p:nvSpPr>
          <p:spPr>
            <a:xfrm>
              <a:off x="6437376"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21" name="Rounded Rectangle 120"/>
            <p:cNvSpPr/>
            <p:nvPr/>
          </p:nvSpPr>
          <p:spPr>
            <a:xfrm>
              <a:off x="6739128" y="2057400"/>
              <a:ext cx="256032" cy="146304"/>
            </a:xfrm>
            <a:prstGeom prst="roundRect">
              <a:avLst>
                <a:gd name="adj" fmla="val 31250"/>
              </a:avLst>
            </a:prstGeom>
            <a:solidFill>
              <a:srgbClr val="D9E0EA"/>
            </a:solidFill>
            <a:ln>
              <a:noFill/>
            </a:ln>
          </p:spPr>
          <p:txBody>
            <a:bodyPr rtlCol="0" anchor="ctr"/>
            <a:lstStyle/>
            <a:p>
              <a:pPr algn="ctr"/>
              <a:endParaRPr/>
            </a:p>
          </p:txBody>
        </p:sp>
        <p:sp>
          <p:nvSpPr>
            <p:cNvPr id="122" name="TextBox 121"/>
            <p:cNvSpPr txBox="1"/>
            <p:nvPr/>
          </p:nvSpPr>
          <p:spPr>
            <a:xfrm>
              <a:off x="5532120" y="2267712"/>
              <a:ext cx="2011680" cy="256032"/>
            </a:xfrm>
            <a:prstGeom prst="rect">
              <a:avLst/>
            </a:prstGeom>
            <a:noFill/>
          </p:spPr>
          <p:txBody>
            <a:bodyPr wrap="square" lIns="0" tIns="0" rIns="0" bIns="0" anchor="t">
              <a:noAutofit/>
            </a:bodyPr>
            <a:lstStyle/>
            <a:p>
              <a:pPr algn="l"/>
              <a:r>
                <a:rPr sz="1250" b="0" i="0">
                  <a:solidFill>
                    <a:srgbClr val="10192B"/>
                  </a:solidFill>
                  <a:latin typeface="Calibri"/>
                </a:rPr>
                <a:t>High</a:t>
              </a:r>
            </a:p>
          </p:txBody>
        </p:sp>
        <p:sp>
          <p:nvSpPr>
            <p:cNvPr id="123" name="Rounded Rectangle 122"/>
            <p:cNvSpPr/>
            <p:nvPr/>
          </p:nvSpPr>
          <p:spPr>
            <a:xfrm>
              <a:off x="7635240"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24" name="Rounded Rectangle 123"/>
            <p:cNvSpPr/>
            <p:nvPr/>
          </p:nvSpPr>
          <p:spPr>
            <a:xfrm>
              <a:off x="7936992"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25" name="Rounded Rectangle 124"/>
            <p:cNvSpPr/>
            <p:nvPr/>
          </p:nvSpPr>
          <p:spPr>
            <a:xfrm>
              <a:off x="8238744"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26" name="Rounded Rectangle 125"/>
            <p:cNvSpPr/>
            <p:nvPr/>
          </p:nvSpPr>
          <p:spPr>
            <a:xfrm>
              <a:off x="8540496"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27" name="Rounded Rectangle 126"/>
            <p:cNvSpPr/>
            <p:nvPr/>
          </p:nvSpPr>
          <p:spPr>
            <a:xfrm>
              <a:off x="8842248" y="2057400"/>
              <a:ext cx="256032" cy="146304"/>
            </a:xfrm>
            <a:prstGeom prst="roundRect">
              <a:avLst>
                <a:gd name="adj" fmla="val 31250"/>
              </a:avLst>
            </a:prstGeom>
            <a:solidFill>
              <a:srgbClr val="E9C25A"/>
            </a:solidFill>
            <a:ln>
              <a:noFill/>
            </a:ln>
          </p:spPr>
          <p:txBody>
            <a:bodyPr rtlCol="0" anchor="ctr"/>
            <a:lstStyle/>
            <a:p>
              <a:pPr algn="ctr"/>
              <a:endParaRPr/>
            </a:p>
          </p:txBody>
        </p:sp>
        <p:sp>
          <p:nvSpPr>
            <p:cNvPr id="128" name="TextBox 127"/>
            <p:cNvSpPr txBox="1"/>
            <p:nvPr/>
          </p:nvSpPr>
          <p:spPr>
            <a:xfrm>
              <a:off x="7635240" y="2267712"/>
              <a:ext cx="2011680" cy="256032"/>
            </a:xfrm>
            <a:prstGeom prst="rect">
              <a:avLst/>
            </a:prstGeom>
            <a:noFill/>
          </p:spPr>
          <p:txBody>
            <a:bodyPr wrap="square" lIns="0" tIns="0" rIns="0" bIns="0" anchor="t">
              <a:noAutofit/>
            </a:bodyPr>
            <a:lstStyle/>
            <a:p>
              <a:pPr algn="l"/>
              <a:r>
                <a:rPr sz="1250" b="0" i="0">
                  <a:solidFill>
                    <a:srgbClr val="10192B"/>
                  </a:solidFill>
                  <a:latin typeface="Calibri"/>
                </a:rPr>
                <a:t>Fast</a:t>
              </a:r>
            </a:p>
          </p:txBody>
        </p:sp>
        <p:sp>
          <p:nvSpPr>
            <p:cNvPr id="129" name="TextBox 128"/>
            <p:cNvSpPr txBox="1"/>
            <p:nvPr/>
          </p:nvSpPr>
          <p:spPr>
            <a:xfrm>
              <a:off x="9601200" y="1943100"/>
              <a:ext cx="1920240" cy="640080"/>
            </a:xfrm>
            <a:prstGeom prst="rect">
              <a:avLst/>
            </a:prstGeom>
            <a:noFill/>
          </p:spPr>
          <p:txBody>
            <a:bodyPr wrap="square" lIns="0" tIns="0" rIns="0" bIns="0" anchor="ctr">
              <a:noAutofit/>
            </a:bodyPr>
            <a:lstStyle/>
            <a:p>
              <a:pPr algn="l"/>
              <a:r>
                <a:rPr sz="1300" b="0" i="0">
                  <a:solidFill>
                    <a:srgbClr val="10192B"/>
                  </a:solidFill>
                  <a:latin typeface="Calibri"/>
                </a:rPr>
                <a:t>Internet-connected, data-heavy</a:t>
              </a:r>
            </a:p>
          </p:txBody>
        </p:sp>
      </p:grpSp>
      <p:grpSp>
        <p:nvGrpSpPr>
          <p:cNvPr id="3" name="Bluetooth / BLE row"/>
          <p:cNvGrpSpPr/>
          <p:nvPr/>
        </p:nvGrpSpPr>
        <p:grpSpPr>
          <a:xfrm>
            <a:off x="548640" y="2761487"/>
            <a:ext cx="11091672" cy="777240"/>
            <a:chOff x="548640" y="2761487"/>
            <a:chExt cx="11091672" cy="777240"/>
          </a:xfrm>
        </p:grpSpPr>
        <p:sp>
          <p:nvSpPr>
            <p:cNvPr id="130" name="Rounded Rectangle 129"/>
            <p:cNvSpPr/>
            <p:nvPr/>
          </p:nvSpPr>
          <p:spPr>
            <a:xfrm>
              <a:off x="548640" y="2761487"/>
              <a:ext cx="11091672" cy="777240"/>
            </a:xfrm>
            <a:prstGeom prst="roundRect">
              <a:avLst>
                <a:gd name="adj" fmla="val 14117"/>
              </a:avLst>
            </a:prstGeom>
            <a:solidFill>
              <a:srgbClr val="FFFFFF"/>
            </a:solidFill>
            <a:ln w="12700">
              <a:solidFill>
                <a:srgbClr val="D9E0EA"/>
              </a:solidFill>
            </a:ln>
          </p:spPr>
          <p:txBody>
            <a:bodyPr rtlCol="0" anchor="ctr"/>
            <a:lstStyle/>
            <a:p>
              <a:pPr algn="ctr"/>
              <a:endParaRPr/>
            </a:p>
          </p:txBody>
        </p:sp>
        <p:sp>
          <p:nvSpPr>
            <p:cNvPr id="131" name="Oval 130"/>
            <p:cNvSpPr/>
            <p:nvPr/>
          </p:nvSpPr>
          <p:spPr>
            <a:xfrm>
              <a:off x="777240" y="2921507"/>
              <a:ext cx="457200" cy="457200"/>
            </a:xfrm>
            <a:prstGeom prst="ellipse">
              <a:avLst/>
            </a:prstGeom>
            <a:solidFill>
              <a:srgbClr val="E9C25A"/>
            </a:solidFill>
            <a:ln>
              <a:noFill/>
            </a:ln>
          </p:spPr>
          <p:txBody>
            <a:bodyPr rtlCol="0" anchor="ctr"/>
            <a:lstStyle/>
            <a:p>
              <a:pPr algn="ctr"/>
              <a:endParaRPr/>
            </a:p>
          </p:txBody>
        </p:sp>
        <p:pic>
          <p:nvPicPr>
            <p:cNvPr id="132" name="Picture 131" descr="FaBluetoothB_navy.png"/>
            <p:cNvPicPr>
              <a:picLocks noChangeAspect="1"/>
            </p:cNvPicPr>
            <p:nvPr/>
          </p:nvPicPr>
          <p:blipFill>
            <a:blip r:embed="rId4"/>
            <a:stretch>
              <a:fillRect/>
            </a:stretch>
          </p:blipFill>
          <p:spPr>
            <a:xfrm>
              <a:off x="891540" y="3035807"/>
              <a:ext cx="228600" cy="228600"/>
            </a:xfrm>
            <a:prstGeom prst="rect">
              <a:avLst/>
            </a:prstGeom>
          </p:spPr>
        </p:pic>
        <p:sp>
          <p:nvSpPr>
            <p:cNvPr id="133" name="TextBox 132"/>
            <p:cNvSpPr txBox="1"/>
            <p:nvPr/>
          </p:nvSpPr>
          <p:spPr>
            <a:xfrm>
              <a:off x="1371600" y="2921507"/>
              <a:ext cx="1920240" cy="457200"/>
            </a:xfrm>
            <a:prstGeom prst="rect">
              <a:avLst/>
            </a:prstGeom>
            <a:noFill/>
          </p:spPr>
          <p:txBody>
            <a:bodyPr wrap="square" lIns="0" tIns="0" rIns="0" bIns="0" anchor="ctr">
              <a:noAutofit/>
            </a:bodyPr>
            <a:lstStyle/>
            <a:p>
              <a:pPr algn="l"/>
              <a:r>
                <a:rPr sz="1600" b="1" i="0">
                  <a:solidFill>
                    <a:srgbClr val="10192B"/>
                  </a:solidFill>
                  <a:latin typeface="Calibri"/>
                </a:rPr>
                <a:t>Bluetooth / BLE</a:t>
              </a:r>
            </a:p>
          </p:txBody>
        </p:sp>
        <p:sp>
          <p:nvSpPr>
            <p:cNvPr id="134" name="Rounded Rectangle 133"/>
            <p:cNvSpPr/>
            <p:nvPr/>
          </p:nvSpPr>
          <p:spPr>
            <a:xfrm>
              <a:off x="3429000" y="2944368"/>
              <a:ext cx="256032" cy="146304"/>
            </a:xfrm>
            <a:prstGeom prst="roundRect">
              <a:avLst>
                <a:gd name="adj" fmla="val 31250"/>
              </a:avLst>
            </a:prstGeom>
            <a:solidFill>
              <a:srgbClr val="E9C25A"/>
            </a:solidFill>
            <a:ln>
              <a:noFill/>
            </a:ln>
          </p:spPr>
          <p:txBody>
            <a:bodyPr rtlCol="0" anchor="ctr"/>
            <a:lstStyle/>
            <a:p>
              <a:pPr algn="ctr"/>
              <a:endParaRPr/>
            </a:p>
          </p:txBody>
        </p:sp>
        <p:sp>
          <p:nvSpPr>
            <p:cNvPr id="135" name="Rounded Rectangle 134"/>
            <p:cNvSpPr/>
            <p:nvPr/>
          </p:nvSpPr>
          <p:spPr>
            <a:xfrm>
              <a:off x="3730752"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36" name="Rounded Rectangle 135"/>
            <p:cNvSpPr/>
            <p:nvPr/>
          </p:nvSpPr>
          <p:spPr>
            <a:xfrm>
              <a:off x="4032504"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37" name="Rounded Rectangle 136"/>
            <p:cNvSpPr/>
            <p:nvPr/>
          </p:nvSpPr>
          <p:spPr>
            <a:xfrm>
              <a:off x="4334256"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38" name="Rounded Rectangle 137"/>
            <p:cNvSpPr/>
            <p:nvPr/>
          </p:nvSpPr>
          <p:spPr>
            <a:xfrm>
              <a:off x="4636008"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39" name="TextBox 138"/>
            <p:cNvSpPr txBox="1"/>
            <p:nvPr/>
          </p:nvSpPr>
          <p:spPr>
            <a:xfrm>
              <a:off x="3429000" y="3154679"/>
              <a:ext cx="2011680" cy="256032"/>
            </a:xfrm>
            <a:prstGeom prst="rect">
              <a:avLst/>
            </a:prstGeom>
            <a:noFill/>
          </p:spPr>
          <p:txBody>
            <a:bodyPr wrap="square" lIns="0" tIns="0" rIns="0" bIns="0" anchor="t">
              <a:noAutofit/>
            </a:bodyPr>
            <a:lstStyle/>
            <a:p>
              <a:pPr algn="l"/>
              <a:r>
                <a:rPr sz="1250" b="0" i="0">
                  <a:solidFill>
                    <a:srgbClr val="10192B"/>
                  </a:solidFill>
                  <a:latin typeface="Calibri"/>
                </a:rPr>
                <a:t>~10–30 m</a:t>
              </a:r>
            </a:p>
          </p:txBody>
        </p:sp>
        <p:sp>
          <p:nvSpPr>
            <p:cNvPr id="140" name="Rounded Rectangle 139"/>
            <p:cNvSpPr/>
            <p:nvPr/>
          </p:nvSpPr>
          <p:spPr>
            <a:xfrm>
              <a:off x="5532120" y="2944368"/>
              <a:ext cx="256032" cy="146304"/>
            </a:xfrm>
            <a:prstGeom prst="roundRect">
              <a:avLst>
                <a:gd name="adj" fmla="val 31250"/>
              </a:avLst>
            </a:prstGeom>
            <a:solidFill>
              <a:srgbClr val="E9C25A"/>
            </a:solidFill>
            <a:ln>
              <a:noFill/>
            </a:ln>
          </p:spPr>
          <p:txBody>
            <a:bodyPr rtlCol="0" anchor="ctr"/>
            <a:lstStyle/>
            <a:p>
              <a:pPr algn="ctr"/>
              <a:endParaRPr/>
            </a:p>
          </p:txBody>
        </p:sp>
        <p:sp>
          <p:nvSpPr>
            <p:cNvPr id="141" name="Rounded Rectangle 140"/>
            <p:cNvSpPr/>
            <p:nvPr/>
          </p:nvSpPr>
          <p:spPr>
            <a:xfrm>
              <a:off x="5833872" y="2944368"/>
              <a:ext cx="256032" cy="146304"/>
            </a:xfrm>
            <a:prstGeom prst="roundRect">
              <a:avLst>
                <a:gd name="adj" fmla="val 31250"/>
              </a:avLst>
            </a:prstGeom>
            <a:solidFill>
              <a:srgbClr val="E9C25A"/>
            </a:solidFill>
            <a:ln>
              <a:noFill/>
            </a:ln>
          </p:spPr>
          <p:txBody>
            <a:bodyPr rtlCol="0" anchor="ctr"/>
            <a:lstStyle/>
            <a:p>
              <a:pPr algn="ctr"/>
              <a:endParaRPr/>
            </a:p>
          </p:txBody>
        </p:sp>
        <p:sp>
          <p:nvSpPr>
            <p:cNvPr id="142" name="Rounded Rectangle 141"/>
            <p:cNvSpPr/>
            <p:nvPr/>
          </p:nvSpPr>
          <p:spPr>
            <a:xfrm>
              <a:off x="6135624"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43" name="Rounded Rectangle 142"/>
            <p:cNvSpPr/>
            <p:nvPr/>
          </p:nvSpPr>
          <p:spPr>
            <a:xfrm>
              <a:off x="6437376"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44" name="Rounded Rectangle 143"/>
            <p:cNvSpPr/>
            <p:nvPr/>
          </p:nvSpPr>
          <p:spPr>
            <a:xfrm>
              <a:off x="6739128"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45" name="TextBox 144"/>
            <p:cNvSpPr txBox="1"/>
            <p:nvPr/>
          </p:nvSpPr>
          <p:spPr>
            <a:xfrm>
              <a:off x="5532120" y="3154679"/>
              <a:ext cx="2011680" cy="256032"/>
            </a:xfrm>
            <a:prstGeom prst="rect">
              <a:avLst/>
            </a:prstGeom>
            <a:noFill/>
          </p:spPr>
          <p:txBody>
            <a:bodyPr wrap="square" lIns="0" tIns="0" rIns="0" bIns="0" anchor="t">
              <a:noAutofit/>
            </a:bodyPr>
            <a:lstStyle/>
            <a:p>
              <a:pPr algn="l"/>
              <a:r>
                <a:rPr sz="1250" b="0" i="0">
                  <a:solidFill>
                    <a:srgbClr val="10192B"/>
                  </a:solidFill>
                  <a:latin typeface="Calibri"/>
                </a:rPr>
                <a:t>Low</a:t>
              </a:r>
            </a:p>
          </p:txBody>
        </p:sp>
        <p:sp>
          <p:nvSpPr>
            <p:cNvPr id="146" name="Rounded Rectangle 145"/>
            <p:cNvSpPr/>
            <p:nvPr/>
          </p:nvSpPr>
          <p:spPr>
            <a:xfrm>
              <a:off x="7635240" y="2944368"/>
              <a:ext cx="256032" cy="146304"/>
            </a:xfrm>
            <a:prstGeom prst="roundRect">
              <a:avLst>
                <a:gd name="adj" fmla="val 31250"/>
              </a:avLst>
            </a:prstGeom>
            <a:solidFill>
              <a:srgbClr val="E9C25A"/>
            </a:solidFill>
            <a:ln>
              <a:noFill/>
            </a:ln>
          </p:spPr>
          <p:txBody>
            <a:bodyPr rtlCol="0" anchor="ctr"/>
            <a:lstStyle/>
            <a:p>
              <a:pPr algn="ctr"/>
              <a:endParaRPr/>
            </a:p>
          </p:txBody>
        </p:sp>
        <p:sp>
          <p:nvSpPr>
            <p:cNvPr id="147" name="Rounded Rectangle 146"/>
            <p:cNvSpPr/>
            <p:nvPr/>
          </p:nvSpPr>
          <p:spPr>
            <a:xfrm>
              <a:off x="7936992" y="2944368"/>
              <a:ext cx="256032" cy="146304"/>
            </a:xfrm>
            <a:prstGeom prst="roundRect">
              <a:avLst>
                <a:gd name="adj" fmla="val 31250"/>
              </a:avLst>
            </a:prstGeom>
            <a:solidFill>
              <a:srgbClr val="E9C25A"/>
            </a:solidFill>
            <a:ln>
              <a:noFill/>
            </a:ln>
          </p:spPr>
          <p:txBody>
            <a:bodyPr rtlCol="0" anchor="ctr"/>
            <a:lstStyle/>
            <a:p>
              <a:pPr algn="ctr"/>
              <a:endParaRPr/>
            </a:p>
          </p:txBody>
        </p:sp>
        <p:sp>
          <p:nvSpPr>
            <p:cNvPr id="148" name="Rounded Rectangle 147"/>
            <p:cNvSpPr/>
            <p:nvPr/>
          </p:nvSpPr>
          <p:spPr>
            <a:xfrm>
              <a:off x="8238744" y="2944368"/>
              <a:ext cx="256032" cy="146304"/>
            </a:xfrm>
            <a:prstGeom prst="roundRect">
              <a:avLst>
                <a:gd name="adj" fmla="val 31250"/>
              </a:avLst>
            </a:prstGeom>
            <a:solidFill>
              <a:srgbClr val="E9C25A"/>
            </a:solidFill>
            <a:ln>
              <a:noFill/>
            </a:ln>
          </p:spPr>
          <p:txBody>
            <a:bodyPr rtlCol="0" anchor="ctr"/>
            <a:lstStyle/>
            <a:p>
              <a:pPr algn="ctr"/>
              <a:endParaRPr/>
            </a:p>
          </p:txBody>
        </p:sp>
        <p:sp>
          <p:nvSpPr>
            <p:cNvPr id="149" name="Rounded Rectangle 148"/>
            <p:cNvSpPr/>
            <p:nvPr/>
          </p:nvSpPr>
          <p:spPr>
            <a:xfrm>
              <a:off x="8540496"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50" name="Rounded Rectangle 149"/>
            <p:cNvSpPr/>
            <p:nvPr/>
          </p:nvSpPr>
          <p:spPr>
            <a:xfrm>
              <a:off x="8842248" y="2944368"/>
              <a:ext cx="256032" cy="146304"/>
            </a:xfrm>
            <a:prstGeom prst="roundRect">
              <a:avLst>
                <a:gd name="adj" fmla="val 31250"/>
              </a:avLst>
            </a:prstGeom>
            <a:solidFill>
              <a:srgbClr val="D9E0EA"/>
            </a:solidFill>
            <a:ln>
              <a:noFill/>
            </a:ln>
          </p:spPr>
          <p:txBody>
            <a:bodyPr rtlCol="0" anchor="ctr"/>
            <a:lstStyle/>
            <a:p>
              <a:pPr algn="ctr"/>
              <a:endParaRPr/>
            </a:p>
          </p:txBody>
        </p:sp>
        <p:sp>
          <p:nvSpPr>
            <p:cNvPr id="151" name="TextBox 150"/>
            <p:cNvSpPr txBox="1"/>
            <p:nvPr/>
          </p:nvSpPr>
          <p:spPr>
            <a:xfrm>
              <a:off x="7635240" y="3154679"/>
              <a:ext cx="2011680" cy="256032"/>
            </a:xfrm>
            <a:prstGeom prst="rect">
              <a:avLst/>
            </a:prstGeom>
            <a:noFill/>
          </p:spPr>
          <p:txBody>
            <a:bodyPr wrap="square" lIns="0" tIns="0" rIns="0" bIns="0" anchor="t">
              <a:noAutofit/>
            </a:bodyPr>
            <a:lstStyle/>
            <a:p>
              <a:pPr algn="l"/>
              <a:r>
                <a:rPr sz="1250" b="0" i="0">
                  <a:solidFill>
                    <a:srgbClr val="10192B"/>
                  </a:solidFill>
                  <a:latin typeface="Calibri"/>
                </a:rPr>
                <a:t>Medium</a:t>
              </a:r>
            </a:p>
          </p:txBody>
        </p:sp>
        <p:sp>
          <p:nvSpPr>
            <p:cNvPr id="152" name="TextBox 151"/>
            <p:cNvSpPr txBox="1"/>
            <p:nvPr/>
          </p:nvSpPr>
          <p:spPr>
            <a:xfrm>
              <a:off x="9601200" y="2830068"/>
              <a:ext cx="1920240" cy="640080"/>
            </a:xfrm>
            <a:prstGeom prst="rect">
              <a:avLst/>
            </a:prstGeom>
            <a:noFill/>
          </p:spPr>
          <p:txBody>
            <a:bodyPr wrap="square" lIns="0" tIns="0" rIns="0" bIns="0" anchor="ctr">
              <a:noAutofit/>
            </a:bodyPr>
            <a:lstStyle/>
            <a:p>
              <a:pPr algn="l"/>
              <a:r>
                <a:rPr sz="1300" b="0" i="0">
                  <a:solidFill>
                    <a:srgbClr val="10192B"/>
                  </a:solidFill>
                  <a:latin typeface="Calibri"/>
                </a:rPr>
                <a:t>Phone pairing, wearables</a:t>
              </a:r>
            </a:p>
          </p:txBody>
        </p:sp>
      </p:grpSp>
      <p:grpSp>
        <p:nvGrpSpPr>
          <p:cNvPr id="4" name="Zigbee row"/>
          <p:cNvGrpSpPr/>
          <p:nvPr/>
        </p:nvGrpSpPr>
        <p:grpSpPr>
          <a:xfrm>
            <a:off x="548640" y="3648456"/>
            <a:ext cx="11091672" cy="777240"/>
            <a:chOff x="548640" y="3648456"/>
            <a:chExt cx="11091672" cy="777240"/>
          </a:xfrm>
        </p:grpSpPr>
        <p:sp>
          <p:nvSpPr>
            <p:cNvPr id="153" name="Rounded Rectangle 152"/>
            <p:cNvSpPr/>
            <p:nvPr/>
          </p:nvSpPr>
          <p:spPr>
            <a:xfrm>
              <a:off x="548640" y="3648456"/>
              <a:ext cx="11091672" cy="777240"/>
            </a:xfrm>
            <a:prstGeom prst="roundRect">
              <a:avLst>
                <a:gd name="adj" fmla="val 14117"/>
              </a:avLst>
            </a:prstGeom>
            <a:solidFill>
              <a:srgbClr val="FFFFFF"/>
            </a:solidFill>
            <a:ln w="12700">
              <a:solidFill>
                <a:srgbClr val="D9E0EA"/>
              </a:solidFill>
            </a:ln>
          </p:spPr>
          <p:txBody>
            <a:bodyPr rtlCol="0" anchor="ctr"/>
            <a:lstStyle/>
            <a:p>
              <a:pPr algn="ctr"/>
              <a:endParaRPr/>
            </a:p>
          </p:txBody>
        </p:sp>
        <p:sp>
          <p:nvSpPr>
            <p:cNvPr id="154" name="Oval 153"/>
            <p:cNvSpPr/>
            <p:nvPr/>
          </p:nvSpPr>
          <p:spPr>
            <a:xfrm>
              <a:off x="777240" y="3808476"/>
              <a:ext cx="457200" cy="457200"/>
            </a:xfrm>
            <a:prstGeom prst="ellipse">
              <a:avLst/>
            </a:prstGeom>
            <a:solidFill>
              <a:srgbClr val="E9C25A"/>
            </a:solidFill>
            <a:ln>
              <a:noFill/>
            </a:ln>
          </p:spPr>
          <p:txBody>
            <a:bodyPr rtlCol="0" anchor="ctr"/>
            <a:lstStyle/>
            <a:p>
              <a:pPr algn="ctr"/>
              <a:endParaRPr/>
            </a:p>
          </p:txBody>
        </p:sp>
        <p:pic>
          <p:nvPicPr>
            <p:cNvPr id="155" name="Picture 154" descr="FaCircleNodes_navy.png"/>
            <p:cNvPicPr>
              <a:picLocks noChangeAspect="1"/>
            </p:cNvPicPr>
            <p:nvPr/>
          </p:nvPicPr>
          <p:blipFill>
            <a:blip r:embed="rId5"/>
            <a:stretch>
              <a:fillRect/>
            </a:stretch>
          </p:blipFill>
          <p:spPr>
            <a:xfrm>
              <a:off x="891540" y="3922776"/>
              <a:ext cx="228600" cy="228600"/>
            </a:xfrm>
            <a:prstGeom prst="rect">
              <a:avLst/>
            </a:prstGeom>
          </p:spPr>
        </p:pic>
        <p:sp>
          <p:nvSpPr>
            <p:cNvPr id="156" name="TextBox 155"/>
            <p:cNvSpPr txBox="1"/>
            <p:nvPr/>
          </p:nvSpPr>
          <p:spPr>
            <a:xfrm>
              <a:off x="1371600" y="3808476"/>
              <a:ext cx="1920240" cy="457200"/>
            </a:xfrm>
            <a:prstGeom prst="rect">
              <a:avLst/>
            </a:prstGeom>
            <a:noFill/>
          </p:spPr>
          <p:txBody>
            <a:bodyPr wrap="square" lIns="0" tIns="0" rIns="0" bIns="0" anchor="ctr">
              <a:noAutofit/>
            </a:bodyPr>
            <a:lstStyle/>
            <a:p>
              <a:pPr algn="l"/>
              <a:r>
                <a:rPr sz="1600" b="1" i="0">
                  <a:solidFill>
                    <a:srgbClr val="10192B"/>
                  </a:solidFill>
                  <a:latin typeface="Calibri"/>
                </a:rPr>
                <a:t>Zigbee</a:t>
              </a:r>
            </a:p>
          </p:txBody>
        </p:sp>
        <p:sp>
          <p:nvSpPr>
            <p:cNvPr id="157" name="Rounded Rectangle 156"/>
            <p:cNvSpPr/>
            <p:nvPr/>
          </p:nvSpPr>
          <p:spPr>
            <a:xfrm>
              <a:off x="3429000" y="3831335"/>
              <a:ext cx="256032" cy="146304"/>
            </a:xfrm>
            <a:prstGeom prst="roundRect">
              <a:avLst>
                <a:gd name="adj" fmla="val 31250"/>
              </a:avLst>
            </a:prstGeom>
            <a:solidFill>
              <a:srgbClr val="E9C25A"/>
            </a:solidFill>
            <a:ln>
              <a:noFill/>
            </a:ln>
          </p:spPr>
          <p:txBody>
            <a:bodyPr rtlCol="0" anchor="ctr"/>
            <a:lstStyle/>
            <a:p>
              <a:pPr algn="ctr"/>
              <a:endParaRPr/>
            </a:p>
          </p:txBody>
        </p:sp>
        <p:sp>
          <p:nvSpPr>
            <p:cNvPr id="158" name="Rounded Rectangle 157"/>
            <p:cNvSpPr/>
            <p:nvPr/>
          </p:nvSpPr>
          <p:spPr>
            <a:xfrm>
              <a:off x="3730752" y="3831335"/>
              <a:ext cx="256032" cy="146304"/>
            </a:xfrm>
            <a:prstGeom prst="roundRect">
              <a:avLst>
                <a:gd name="adj" fmla="val 31250"/>
              </a:avLst>
            </a:prstGeom>
            <a:solidFill>
              <a:srgbClr val="E9C25A"/>
            </a:solidFill>
            <a:ln>
              <a:noFill/>
            </a:ln>
          </p:spPr>
          <p:txBody>
            <a:bodyPr rtlCol="0" anchor="ctr"/>
            <a:lstStyle/>
            <a:p>
              <a:pPr algn="ctr"/>
              <a:endParaRPr/>
            </a:p>
          </p:txBody>
        </p:sp>
        <p:sp>
          <p:nvSpPr>
            <p:cNvPr id="159" name="Rounded Rectangle 158"/>
            <p:cNvSpPr/>
            <p:nvPr/>
          </p:nvSpPr>
          <p:spPr>
            <a:xfrm>
              <a:off x="4032504" y="3831335"/>
              <a:ext cx="256032" cy="146304"/>
            </a:xfrm>
            <a:prstGeom prst="roundRect">
              <a:avLst>
                <a:gd name="adj" fmla="val 31250"/>
              </a:avLst>
            </a:prstGeom>
            <a:solidFill>
              <a:srgbClr val="E9C25A"/>
            </a:solidFill>
            <a:ln>
              <a:noFill/>
            </a:ln>
          </p:spPr>
          <p:txBody>
            <a:bodyPr rtlCol="0" anchor="ctr"/>
            <a:lstStyle/>
            <a:p>
              <a:pPr algn="ctr"/>
              <a:endParaRPr/>
            </a:p>
          </p:txBody>
        </p:sp>
        <p:sp>
          <p:nvSpPr>
            <p:cNvPr id="160" name="Rounded Rectangle 159"/>
            <p:cNvSpPr/>
            <p:nvPr/>
          </p:nvSpPr>
          <p:spPr>
            <a:xfrm>
              <a:off x="4334256"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61" name="Rounded Rectangle 160"/>
            <p:cNvSpPr/>
            <p:nvPr/>
          </p:nvSpPr>
          <p:spPr>
            <a:xfrm>
              <a:off x="4636008"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62" name="TextBox 161"/>
            <p:cNvSpPr txBox="1"/>
            <p:nvPr/>
          </p:nvSpPr>
          <p:spPr>
            <a:xfrm>
              <a:off x="3429000" y="4041648"/>
              <a:ext cx="2011680" cy="256032"/>
            </a:xfrm>
            <a:prstGeom prst="rect">
              <a:avLst/>
            </a:prstGeom>
            <a:noFill/>
          </p:spPr>
          <p:txBody>
            <a:bodyPr wrap="square" lIns="0" tIns="0" rIns="0" bIns="0" anchor="t">
              <a:noAutofit/>
            </a:bodyPr>
            <a:lstStyle/>
            <a:p>
              <a:pPr algn="l"/>
              <a:r>
                <a:rPr sz="1250" b="0" i="0">
                  <a:solidFill>
                    <a:srgbClr val="10192B"/>
                  </a:solidFill>
                  <a:latin typeface="Calibri"/>
                </a:rPr>
                <a:t>~10–100 m (mesh)</a:t>
              </a:r>
            </a:p>
          </p:txBody>
        </p:sp>
        <p:sp>
          <p:nvSpPr>
            <p:cNvPr id="163" name="Rounded Rectangle 162"/>
            <p:cNvSpPr/>
            <p:nvPr/>
          </p:nvSpPr>
          <p:spPr>
            <a:xfrm>
              <a:off x="5532120" y="3831335"/>
              <a:ext cx="256032" cy="146304"/>
            </a:xfrm>
            <a:prstGeom prst="roundRect">
              <a:avLst>
                <a:gd name="adj" fmla="val 31250"/>
              </a:avLst>
            </a:prstGeom>
            <a:solidFill>
              <a:srgbClr val="E9C25A"/>
            </a:solidFill>
            <a:ln>
              <a:noFill/>
            </a:ln>
          </p:spPr>
          <p:txBody>
            <a:bodyPr rtlCol="0" anchor="ctr"/>
            <a:lstStyle/>
            <a:p>
              <a:pPr algn="ctr"/>
              <a:endParaRPr/>
            </a:p>
          </p:txBody>
        </p:sp>
        <p:sp>
          <p:nvSpPr>
            <p:cNvPr id="164" name="Rounded Rectangle 163"/>
            <p:cNvSpPr/>
            <p:nvPr/>
          </p:nvSpPr>
          <p:spPr>
            <a:xfrm>
              <a:off x="5833872"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65" name="Rounded Rectangle 164"/>
            <p:cNvSpPr/>
            <p:nvPr/>
          </p:nvSpPr>
          <p:spPr>
            <a:xfrm>
              <a:off x="6135624"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66" name="Rounded Rectangle 165"/>
            <p:cNvSpPr/>
            <p:nvPr/>
          </p:nvSpPr>
          <p:spPr>
            <a:xfrm>
              <a:off x="6437376"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67" name="Rounded Rectangle 166"/>
            <p:cNvSpPr/>
            <p:nvPr/>
          </p:nvSpPr>
          <p:spPr>
            <a:xfrm>
              <a:off x="6739128"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68" name="TextBox 167"/>
            <p:cNvSpPr txBox="1"/>
            <p:nvPr/>
          </p:nvSpPr>
          <p:spPr>
            <a:xfrm>
              <a:off x="5532120" y="4041648"/>
              <a:ext cx="2011680" cy="256032"/>
            </a:xfrm>
            <a:prstGeom prst="rect">
              <a:avLst/>
            </a:prstGeom>
            <a:noFill/>
          </p:spPr>
          <p:txBody>
            <a:bodyPr wrap="square" lIns="0" tIns="0" rIns="0" bIns="0" anchor="t">
              <a:noAutofit/>
            </a:bodyPr>
            <a:lstStyle/>
            <a:p>
              <a:pPr algn="l"/>
              <a:r>
                <a:rPr sz="1250" b="0" i="0">
                  <a:solidFill>
                    <a:srgbClr val="10192B"/>
                  </a:solidFill>
                  <a:latin typeface="Calibri"/>
                </a:rPr>
                <a:t>Very low</a:t>
              </a:r>
            </a:p>
          </p:txBody>
        </p:sp>
        <p:sp>
          <p:nvSpPr>
            <p:cNvPr id="169" name="Rounded Rectangle 168"/>
            <p:cNvSpPr/>
            <p:nvPr/>
          </p:nvSpPr>
          <p:spPr>
            <a:xfrm>
              <a:off x="7635240" y="3831335"/>
              <a:ext cx="256032" cy="146304"/>
            </a:xfrm>
            <a:prstGeom prst="roundRect">
              <a:avLst>
                <a:gd name="adj" fmla="val 31250"/>
              </a:avLst>
            </a:prstGeom>
            <a:solidFill>
              <a:srgbClr val="E9C25A"/>
            </a:solidFill>
            <a:ln>
              <a:noFill/>
            </a:ln>
          </p:spPr>
          <p:txBody>
            <a:bodyPr rtlCol="0" anchor="ctr"/>
            <a:lstStyle/>
            <a:p>
              <a:pPr algn="ctr"/>
              <a:endParaRPr/>
            </a:p>
          </p:txBody>
        </p:sp>
        <p:sp>
          <p:nvSpPr>
            <p:cNvPr id="170" name="Rounded Rectangle 169"/>
            <p:cNvSpPr/>
            <p:nvPr/>
          </p:nvSpPr>
          <p:spPr>
            <a:xfrm>
              <a:off x="7936992" y="3831335"/>
              <a:ext cx="256032" cy="146304"/>
            </a:xfrm>
            <a:prstGeom prst="roundRect">
              <a:avLst>
                <a:gd name="adj" fmla="val 31250"/>
              </a:avLst>
            </a:prstGeom>
            <a:solidFill>
              <a:srgbClr val="E9C25A"/>
            </a:solidFill>
            <a:ln>
              <a:noFill/>
            </a:ln>
          </p:spPr>
          <p:txBody>
            <a:bodyPr rtlCol="0" anchor="ctr"/>
            <a:lstStyle/>
            <a:p>
              <a:pPr algn="ctr"/>
              <a:endParaRPr/>
            </a:p>
          </p:txBody>
        </p:sp>
        <p:sp>
          <p:nvSpPr>
            <p:cNvPr id="171" name="Rounded Rectangle 170"/>
            <p:cNvSpPr/>
            <p:nvPr/>
          </p:nvSpPr>
          <p:spPr>
            <a:xfrm>
              <a:off x="8238744"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72" name="Rounded Rectangle 171"/>
            <p:cNvSpPr/>
            <p:nvPr/>
          </p:nvSpPr>
          <p:spPr>
            <a:xfrm>
              <a:off x="8540496"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73" name="Rounded Rectangle 172"/>
            <p:cNvSpPr/>
            <p:nvPr/>
          </p:nvSpPr>
          <p:spPr>
            <a:xfrm>
              <a:off x="8842248" y="3831335"/>
              <a:ext cx="256032" cy="146304"/>
            </a:xfrm>
            <a:prstGeom prst="roundRect">
              <a:avLst>
                <a:gd name="adj" fmla="val 31250"/>
              </a:avLst>
            </a:prstGeom>
            <a:solidFill>
              <a:srgbClr val="D9E0EA"/>
            </a:solidFill>
            <a:ln>
              <a:noFill/>
            </a:ln>
          </p:spPr>
          <p:txBody>
            <a:bodyPr rtlCol="0" anchor="ctr"/>
            <a:lstStyle/>
            <a:p>
              <a:pPr algn="ctr"/>
              <a:endParaRPr/>
            </a:p>
          </p:txBody>
        </p:sp>
        <p:sp>
          <p:nvSpPr>
            <p:cNvPr id="174" name="TextBox 173"/>
            <p:cNvSpPr txBox="1"/>
            <p:nvPr/>
          </p:nvSpPr>
          <p:spPr>
            <a:xfrm>
              <a:off x="7635240" y="4041648"/>
              <a:ext cx="2011680" cy="256032"/>
            </a:xfrm>
            <a:prstGeom prst="rect">
              <a:avLst/>
            </a:prstGeom>
            <a:noFill/>
          </p:spPr>
          <p:txBody>
            <a:bodyPr wrap="square" lIns="0" tIns="0" rIns="0" bIns="0" anchor="t">
              <a:noAutofit/>
            </a:bodyPr>
            <a:lstStyle/>
            <a:p>
              <a:pPr algn="l"/>
              <a:r>
                <a:rPr sz="1250" b="0" i="0">
                  <a:solidFill>
                    <a:srgbClr val="10192B"/>
                  </a:solidFill>
                  <a:latin typeface="Calibri"/>
                </a:rPr>
                <a:t>Low</a:t>
              </a:r>
            </a:p>
          </p:txBody>
        </p:sp>
        <p:sp>
          <p:nvSpPr>
            <p:cNvPr id="175" name="TextBox 174"/>
            <p:cNvSpPr txBox="1"/>
            <p:nvPr/>
          </p:nvSpPr>
          <p:spPr>
            <a:xfrm>
              <a:off x="9601200" y="3717035"/>
              <a:ext cx="1920240" cy="640080"/>
            </a:xfrm>
            <a:prstGeom prst="rect">
              <a:avLst/>
            </a:prstGeom>
            <a:noFill/>
          </p:spPr>
          <p:txBody>
            <a:bodyPr wrap="square" lIns="0" tIns="0" rIns="0" bIns="0" anchor="ctr">
              <a:noAutofit/>
            </a:bodyPr>
            <a:lstStyle/>
            <a:p>
              <a:pPr algn="l"/>
              <a:r>
                <a:rPr sz="1300" b="0" i="0">
                  <a:solidFill>
                    <a:srgbClr val="10192B"/>
                  </a:solidFill>
                  <a:latin typeface="Calibri"/>
                </a:rPr>
                <a:t>Smart-home mesh networks</a:t>
              </a:r>
            </a:p>
          </p:txBody>
        </p:sp>
      </p:grpSp>
      <p:grpSp>
        <p:nvGrpSpPr>
          <p:cNvPr id="5" name="LoRa row"/>
          <p:cNvGrpSpPr/>
          <p:nvPr/>
        </p:nvGrpSpPr>
        <p:grpSpPr>
          <a:xfrm>
            <a:off x="548640" y="4535424"/>
            <a:ext cx="11091672" cy="777240"/>
            <a:chOff x="548640" y="4535424"/>
            <a:chExt cx="11091672" cy="777240"/>
          </a:xfrm>
        </p:grpSpPr>
        <p:sp>
          <p:nvSpPr>
            <p:cNvPr id="176" name="Rounded Rectangle 175"/>
            <p:cNvSpPr/>
            <p:nvPr/>
          </p:nvSpPr>
          <p:spPr>
            <a:xfrm>
              <a:off x="548640" y="4535424"/>
              <a:ext cx="11091672" cy="777240"/>
            </a:xfrm>
            <a:prstGeom prst="roundRect">
              <a:avLst>
                <a:gd name="adj" fmla="val 14117"/>
              </a:avLst>
            </a:prstGeom>
            <a:solidFill>
              <a:srgbClr val="FFFFFF"/>
            </a:solidFill>
            <a:ln w="12700">
              <a:solidFill>
                <a:srgbClr val="D9E0EA"/>
              </a:solidFill>
            </a:ln>
          </p:spPr>
          <p:txBody>
            <a:bodyPr rtlCol="0" anchor="ctr"/>
            <a:lstStyle/>
            <a:p>
              <a:pPr algn="ctr"/>
              <a:endParaRPr/>
            </a:p>
          </p:txBody>
        </p:sp>
        <p:sp>
          <p:nvSpPr>
            <p:cNvPr id="177" name="Oval 176"/>
            <p:cNvSpPr/>
            <p:nvPr/>
          </p:nvSpPr>
          <p:spPr>
            <a:xfrm>
              <a:off x="777240" y="4695444"/>
              <a:ext cx="457200" cy="457200"/>
            </a:xfrm>
            <a:prstGeom prst="ellipse">
              <a:avLst/>
            </a:prstGeom>
            <a:solidFill>
              <a:srgbClr val="E9C25A"/>
            </a:solidFill>
            <a:ln>
              <a:noFill/>
            </a:ln>
          </p:spPr>
          <p:txBody>
            <a:bodyPr rtlCol="0" anchor="ctr"/>
            <a:lstStyle/>
            <a:p>
              <a:pPr algn="ctr"/>
              <a:endParaRPr/>
            </a:p>
          </p:txBody>
        </p:sp>
        <p:pic>
          <p:nvPicPr>
            <p:cNvPr id="178" name="Picture 177" descr="FaTowerBroadcast_navy.png"/>
            <p:cNvPicPr>
              <a:picLocks noChangeAspect="1"/>
            </p:cNvPicPr>
            <p:nvPr/>
          </p:nvPicPr>
          <p:blipFill>
            <a:blip r:embed="rId6"/>
            <a:stretch>
              <a:fillRect/>
            </a:stretch>
          </p:blipFill>
          <p:spPr>
            <a:xfrm>
              <a:off x="891540" y="4809744"/>
              <a:ext cx="228600" cy="228600"/>
            </a:xfrm>
            <a:prstGeom prst="rect">
              <a:avLst/>
            </a:prstGeom>
          </p:spPr>
        </p:pic>
        <p:sp>
          <p:nvSpPr>
            <p:cNvPr id="179" name="TextBox 178"/>
            <p:cNvSpPr txBox="1"/>
            <p:nvPr/>
          </p:nvSpPr>
          <p:spPr>
            <a:xfrm>
              <a:off x="1371600" y="4695444"/>
              <a:ext cx="1920240" cy="457200"/>
            </a:xfrm>
            <a:prstGeom prst="rect">
              <a:avLst/>
            </a:prstGeom>
            <a:noFill/>
          </p:spPr>
          <p:txBody>
            <a:bodyPr wrap="square" lIns="0" tIns="0" rIns="0" bIns="0" anchor="ctr">
              <a:noAutofit/>
            </a:bodyPr>
            <a:lstStyle/>
            <a:p>
              <a:pPr algn="l"/>
              <a:r>
                <a:rPr sz="1600" b="1" i="0">
                  <a:solidFill>
                    <a:srgbClr val="10192B"/>
                  </a:solidFill>
                  <a:latin typeface="Calibri"/>
                </a:rPr>
                <a:t>LoRa</a:t>
              </a:r>
            </a:p>
          </p:txBody>
        </p:sp>
        <p:sp>
          <p:nvSpPr>
            <p:cNvPr id="180" name="Rounded Rectangle 179"/>
            <p:cNvSpPr/>
            <p:nvPr/>
          </p:nvSpPr>
          <p:spPr>
            <a:xfrm>
              <a:off x="3429000" y="4718304"/>
              <a:ext cx="256032" cy="146304"/>
            </a:xfrm>
            <a:prstGeom prst="roundRect">
              <a:avLst>
                <a:gd name="adj" fmla="val 31250"/>
              </a:avLst>
            </a:prstGeom>
            <a:solidFill>
              <a:srgbClr val="E9C25A"/>
            </a:solidFill>
            <a:ln>
              <a:noFill/>
            </a:ln>
          </p:spPr>
          <p:txBody>
            <a:bodyPr rtlCol="0" anchor="ctr"/>
            <a:lstStyle/>
            <a:p>
              <a:pPr algn="ctr"/>
              <a:endParaRPr/>
            </a:p>
          </p:txBody>
        </p:sp>
        <p:sp>
          <p:nvSpPr>
            <p:cNvPr id="181" name="Rounded Rectangle 180"/>
            <p:cNvSpPr/>
            <p:nvPr/>
          </p:nvSpPr>
          <p:spPr>
            <a:xfrm>
              <a:off x="3730752" y="4718304"/>
              <a:ext cx="256032" cy="146304"/>
            </a:xfrm>
            <a:prstGeom prst="roundRect">
              <a:avLst>
                <a:gd name="adj" fmla="val 31250"/>
              </a:avLst>
            </a:prstGeom>
            <a:solidFill>
              <a:srgbClr val="E9C25A"/>
            </a:solidFill>
            <a:ln>
              <a:noFill/>
            </a:ln>
          </p:spPr>
          <p:txBody>
            <a:bodyPr rtlCol="0" anchor="ctr"/>
            <a:lstStyle/>
            <a:p>
              <a:pPr algn="ctr"/>
              <a:endParaRPr/>
            </a:p>
          </p:txBody>
        </p:sp>
        <p:sp>
          <p:nvSpPr>
            <p:cNvPr id="182" name="Rounded Rectangle 181"/>
            <p:cNvSpPr/>
            <p:nvPr/>
          </p:nvSpPr>
          <p:spPr>
            <a:xfrm>
              <a:off x="4032504" y="4718304"/>
              <a:ext cx="256032" cy="146304"/>
            </a:xfrm>
            <a:prstGeom prst="roundRect">
              <a:avLst>
                <a:gd name="adj" fmla="val 31250"/>
              </a:avLst>
            </a:prstGeom>
            <a:solidFill>
              <a:srgbClr val="E9C25A"/>
            </a:solidFill>
            <a:ln>
              <a:noFill/>
            </a:ln>
          </p:spPr>
          <p:txBody>
            <a:bodyPr rtlCol="0" anchor="ctr"/>
            <a:lstStyle/>
            <a:p>
              <a:pPr algn="ctr"/>
              <a:endParaRPr/>
            </a:p>
          </p:txBody>
        </p:sp>
        <p:sp>
          <p:nvSpPr>
            <p:cNvPr id="183" name="Rounded Rectangle 182"/>
            <p:cNvSpPr/>
            <p:nvPr/>
          </p:nvSpPr>
          <p:spPr>
            <a:xfrm>
              <a:off x="4334256" y="4718304"/>
              <a:ext cx="256032" cy="146304"/>
            </a:xfrm>
            <a:prstGeom prst="roundRect">
              <a:avLst>
                <a:gd name="adj" fmla="val 31250"/>
              </a:avLst>
            </a:prstGeom>
            <a:solidFill>
              <a:srgbClr val="E9C25A"/>
            </a:solidFill>
            <a:ln>
              <a:noFill/>
            </a:ln>
          </p:spPr>
          <p:txBody>
            <a:bodyPr rtlCol="0" anchor="ctr"/>
            <a:lstStyle/>
            <a:p>
              <a:pPr algn="ctr"/>
              <a:endParaRPr/>
            </a:p>
          </p:txBody>
        </p:sp>
        <p:sp>
          <p:nvSpPr>
            <p:cNvPr id="184" name="Rounded Rectangle 183"/>
            <p:cNvSpPr/>
            <p:nvPr/>
          </p:nvSpPr>
          <p:spPr>
            <a:xfrm>
              <a:off x="4636008" y="4718304"/>
              <a:ext cx="256032" cy="146304"/>
            </a:xfrm>
            <a:prstGeom prst="roundRect">
              <a:avLst>
                <a:gd name="adj" fmla="val 31250"/>
              </a:avLst>
            </a:prstGeom>
            <a:solidFill>
              <a:srgbClr val="E9C25A"/>
            </a:solidFill>
            <a:ln>
              <a:noFill/>
            </a:ln>
          </p:spPr>
          <p:txBody>
            <a:bodyPr rtlCol="0" anchor="ctr"/>
            <a:lstStyle/>
            <a:p>
              <a:pPr algn="ctr"/>
              <a:endParaRPr/>
            </a:p>
          </p:txBody>
        </p:sp>
        <p:sp>
          <p:nvSpPr>
            <p:cNvPr id="185" name="TextBox 184"/>
            <p:cNvSpPr txBox="1"/>
            <p:nvPr/>
          </p:nvSpPr>
          <p:spPr>
            <a:xfrm>
              <a:off x="3429000" y="4928616"/>
              <a:ext cx="2011680" cy="256032"/>
            </a:xfrm>
            <a:prstGeom prst="rect">
              <a:avLst/>
            </a:prstGeom>
            <a:noFill/>
          </p:spPr>
          <p:txBody>
            <a:bodyPr wrap="square" lIns="0" tIns="0" rIns="0" bIns="0" anchor="t">
              <a:noAutofit/>
            </a:bodyPr>
            <a:lstStyle/>
            <a:p>
              <a:pPr algn="l"/>
              <a:r>
                <a:rPr sz="1250" b="0" i="0">
                  <a:solidFill>
                    <a:srgbClr val="10192B"/>
                  </a:solidFill>
                  <a:latin typeface="Calibri"/>
                </a:rPr>
                <a:t>Kilometres</a:t>
              </a:r>
            </a:p>
          </p:txBody>
        </p:sp>
        <p:sp>
          <p:nvSpPr>
            <p:cNvPr id="186" name="Rounded Rectangle 185"/>
            <p:cNvSpPr/>
            <p:nvPr/>
          </p:nvSpPr>
          <p:spPr>
            <a:xfrm>
              <a:off x="5532120" y="4718304"/>
              <a:ext cx="256032" cy="146304"/>
            </a:xfrm>
            <a:prstGeom prst="roundRect">
              <a:avLst>
                <a:gd name="adj" fmla="val 31250"/>
              </a:avLst>
            </a:prstGeom>
            <a:solidFill>
              <a:srgbClr val="E9C25A"/>
            </a:solidFill>
            <a:ln>
              <a:noFill/>
            </a:ln>
          </p:spPr>
          <p:txBody>
            <a:bodyPr rtlCol="0" anchor="ctr"/>
            <a:lstStyle/>
            <a:p>
              <a:pPr algn="ctr"/>
              <a:endParaRPr/>
            </a:p>
          </p:txBody>
        </p:sp>
        <p:sp>
          <p:nvSpPr>
            <p:cNvPr id="187" name="Rounded Rectangle 186"/>
            <p:cNvSpPr/>
            <p:nvPr/>
          </p:nvSpPr>
          <p:spPr>
            <a:xfrm>
              <a:off x="5833872"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88" name="Rounded Rectangle 187"/>
            <p:cNvSpPr/>
            <p:nvPr/>
          </p:nvSpPr>
          <p:spPr>
            <a:xfrm>
              <a:off x="6135624"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89" name="Rounded Rectangle 188"/>
            <p:cNvSpPr/>
            <p:nvPr/>
          </p:nvSpPr>
          <p:spPr>
            <a:xfrm>
              <a:off x="6437376"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90" name="Rounded Rectangle 189"/>
            <p:cNvSpPr/>
            <p:nvPr/>
          </p:nvSpPr>
          <p:spPr>
            <a:xfrm>
              <a:off x="6739128"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91" name="TextBox 190"/>
            <p:cNvSpPr txBox="1"/>
            <p:nvPr/>
          </p:nvSpPr>
          <p:spPr>
            <a:xfrm>
              <a:off x="5532120" y="4928616"/>
              <a:ext cx="2011680" cy="256032"/>
            </a:xfrm>
            <a:prstGeom prst="rect">
              <a:avLst/>
            </a:prstGeom>
            <a:noFill/>
          </p:spPr>
          <p:txBody>
            <a:bodyPr wrap="square" lIns="0" tIns="0" rIns="0" bIns="0" anchor="t">
              <a:noAutofit/>
            </a:bodyPr>
            <a:lstStyle/>
            <a:p>
              <a:pPr algn="l"/>
              <a:r>
                <a:rPr sz="1250" b="0" i="0">
                  <a:solidFill>
                    <a:srgbClr val="10192B"/>
                  </a:solidFill>
                  <a:latin typeface="Calibri"/>
                </a:rPr>
                <a:t>Very low</a:t>
              </a:r>
            </a:p>
          </p:txBody>
        </p:sp>
        <p:sp>
          <p:nvSpPr>
            <p:cNvPr id="192" name="Rounded Rectangle 191"/>
            <p:cNvSpPr/>
            <p:nvPr/>
          </p:nvSpPr>
          <p:spPr>
            <a:xfrm>
              <a:off x="7635240" y="4718304"/>
              <a:ext cx="256032" cy="146304"/>
            </a:xfrm>
            <a:prstGeom prst="roundRect">
              <a:avLst>
                <a:gd name="adj" fmla="val 31250"/>
              </a:avLst>
            </a:prstGeom>
            <a:solidFill>
              <a:srgbClr val="E9C25A"/>
            </a:solidFill>
            <a:ln>
              <a:noFill/>
            </a:ln>
          </p:spPr>
          <p:txBody>
            <a:bodyPr rtlCol="0" anchor="ctr"/>
            <a:lstStyle/>
            <a:p>
              <a:pPr algn="ctr"/>
              <a:endParaRPr/>
            </a:p>
          </p:txBody>
        </p:sp>
        <p:sp>
          <p:nvSpPr>
            <p:cNvPr id="193" name="Rounded Rectangle 192"/>
            <p:cNvSpPr/>
            <p:nvPr/>
          </p:nvSpPr>
          <p:spPr>
            <a:xfrm>
              <a:off x="7936992"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94" name="Rounded Rectangle 193"/>
            <p:cNvSpPr/>
            <p:nvPr/>
          </p:nvSpPr>
          <p:spPr>
            <a:xfrm>
              <a:off x="8238744"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95" name="Rounded Rectangle 194"/>
            <p:cNvSpPr/>
            <p:nvPr/>
          </p:nvSpPr>
          <p:spPr>
            <a:xfrm>
              <a:off x="8540496"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96" name="Rounded Rectangle 195"/>
            <p:cNvSpPr/>
            <p:nvPr/>
          </p:nvSpPr>
          <p:spPr>
            <a:xfrm>
              <a:off x="8842248" y="4718304"/>
              <a:ext cx="256032" cy="146304"/>
            </a:xfrm>
            <a:prstGeom prst="roundRect">
              <a:avLst>
                <a:gd name="adj" fmla="val 31250"/>
              </a:avLst>
            </a:prstGeom>
            <a:solidFill>
              <a:srgbClr val="D9E0EA"/>
            </a:solidFill>
            <a:ln>
              <a:noFill/>
            </a:ln>
          </p:spPr>
          <p:txBody>
            <a:bodyPr rtlCol="0" anchor="ctr"/>
            <a:lstStyle/>
            <a:p>
              <a:pPr algn="ctr"/>
              <a:endParaRPr/>
            </a:p>
          </p:txBody>
        </p:sp>
        <p:sp>
          <p:nvSpPr>
            <p:cNvPr id="197" name="TextBox 196"/>
            <p:cNvSpPr txBox="1"/>
            <p:nvPr/>
          </p:nvSpPr>
          <p:spPr>
            <a:xfrm>
              <a:off x="7635240" y="4928616"/>
              <a:ext cx="2011680" cy="256032"/>
            </a:xfrm>
            <a:prstGeom prst="rect">
              <a:avLst/>
            </a:prstGeom>
            <a:noFill/>
          </p:spPr>
          <p:txBody>
            <a:bodyPr wrap="square" lIns="0" tIns="0" rIns="0" bIns="0" anchor="t">
              <a:noAutofit/>
            </a:bodyPr>
            <a:lstStyle/>
            <a:p>
              <a:pPr algn="l"/>
              <a:r>
                <a:rPr sz="1250" b="0" i="0">
                  <a:solidFill>
                    <a:srgbClr val="10192B"/>
                  </a:solidFill>
                  <a:latin typeface="Calibri"/>
                </a:rPr>
                <a:t>Very low</a:t>
              </a:r>
            </a:p>
          </p:txBody>
        </p:sp>
        <p:sp>
          <p:nvSpPr>
            <p:cNvPr id="198" name="TextBox 197"/>
            <p:cNvSpPr txBox="1"/>
            <p:nvPr/>
          </p:nvSpPr>
          <p:spPr>
            <a:xfrm>
              <a:off x="9601200" y="4604004"/>
              <a:ext cx="1920240" cy="640080"/>
            </a:xfrm>
            <a:prstGeom prst="rect">
              <a:avLst/>
            </a:prstGeom>
            <a:noFill/>
          </p:spPr>
          <p:txBody>
            <a:bodyPr wrap="square" lIns="0" tIns="0" rIns="0" bIns="0" anchor="ctr">
              <a:noAutofit/>
            </a:bodyPr>
            <a:lstStyle/>
            <a:p>
              <a:pPr algn="l"/>
              <a:r>
                <a:rPr sz="1300" b="0" i="0">
                  <a:solidFill>
                    <a:srgbClr val="10192B"/>
                  </a:solidFill>
                  <a:latin typeface="Calibri"/>
                </a:rPr>
                <a:t>Long-range, infrequent readings</a:t>
              </a:r>
            </a:p>
          </p:txBody>
        </p:sp>
      </p:grpSp>
      <p:grpSp>
        <p:nvGrpSpPr>
          <p:cNvPr id="6" name="Takeaway"/>
          <p:cNvGrpSpPr/>
          <p:nvPr/>
        </p:nvGrpSpPr>
        <p:grpSpPr>
          <a:xfrm>
            <a:off x="548640" y="5532120"/>
            <a:ext cx="11091672" cy="457200"/>
            <a:chOff x="548640" y="5532120"/>
            <a:chExt cx="11091672" cy="457200"/>
          </a:xfrm>
        </p:grpSpPr>
        <p:sp>
          <p:nvSpPr>
            <p:cNvPr id="199" name="Rounded Rectangle 198"/>
            <p:cNvSpPr/>
            <p:nvPr/>
          </p:nvSpPr>
          <p:spPr>
            <a:xfrm>
              <a:off x="548640" y="5532120"/>
              <a:ext cx="11091672" cy="457200"/>
            </a:xfrm>
            <a:prstGeom prst="roundRect">
              <a:avLst>
                <a:gd name="adj" fmla="val 20000"/>
              </a:avLst>
            </a:prstGeom>
            <a:solidFill>
              <a:srgbClr val="FBF1D4"/>
            </a:solidFill>
            <a:ln w="12700">
              <a:solidFill>
                <a:srgbClr val="E9C25A"/>
              </a:solidFill>
            </a:ln>
          </p:spPr>
          <p:txBody>
            <a:bodyPr rtlCol="0" anchor="ctr"/>
            <a:lstStyle/>
            <a:p>
              <a:pPr algn="ctr"/>
              <a:endParaRPr/>
            </a:p>
          </p:txBody>
        </p:sp>
        <p:pic>
          <p:nvPicPr>
            <p:cNvPr id="200" name="Picture 199" descr="FaLightbulb_amberD.png"/>
            <p:cNvPicPr>
              <a:picLocks noChangeAspect="1"/>
            </p:cNvPicPr>
            <p:nvPr/>
          </p:nvPicPr>
          <p:blipFill>
            <a:blip r:embed="rId7"/>
            <a:stretch>
              <a:fillRect/>
            </a:stretch>
          </p:blipFill>
          <p:spPr>
            <a:xfrm>
              <a:off x="777240" y="5637276"/>
              <a:ext cx="246888" cy="246888"/>
            </a:xfrm>
            <a:prstGeom prst="rect">
              <a:avLst/>
            </a:prstGeom>
          </p:spPr>
        </p:pic>
        <p:sp>
          <p:nvSpPr>
            <p:cNvPr id="201" name="TextBox 200"/>
            <p:cNvSpPr txBox="1"/>
            <p:nvPr/>
          </p:nvSpPr>
          <p:spPr>
            <a:xfrm>
              <a:off x="1188720" y="5532120"/>
              <a:ext cx="10241280" cy="457200"/>
            </a:xfrm>
            <a:prstGeom prst="rect">
              <a:avLst/>
            </a:prstGeom>
            <a:noFill/>
          </p:spPr>
          <p:txBody>
            <a:bodyPr wrap="square" lIns="0" tIns="0" rIns="0" bIns="0" anchor="ctr">
              <a:noAutofit/>
            </a:bodyPr>
            <a:lstStyle/>
            <a:p>
              <a:pPr algn="l"/>
              <a:r>
                <a:rPr sz="1500" b="1" i="0">
                  <a:solidFill>
                    <a:srgbClr val="10192B"/>
                  </a:solidFill>
                  <a:latin typeface="Calibri"/>
                </a:rPr>
                <a:t>Wi-Fi trades power for speed. LoRa trades speed for range.</a:t>
              </a:r>
            </a:p>
          </p:txBody>
        </p:sp>
      </p:grpSp>
      <p:sp>
        <p:nvSpPr>
          <p:cNvPr id="202" name="TextBox 201"/>
          <p:cNvSpPr txBox="1"/>
          <p:nvPr/>
        </p:nvSpPr>
        <p:spPr>
          <a:xfrm>
            <a:off x="548640" y="6108192"/>
            <a:ext cx="7315200" cy="201168"/>
          </a:xfrm>
          <a:prstGeom prst="rect">
            <a:avLst/>
          </a:prstGeom>
          <a:noFill/>
        </p:spPr>
        <p:txBody>
          <a:bodyPr wrap="square" lIns="0" tIns="0" rIns="0" bIns="0" anchor="t">
            <a:noAutofit/>
          </a:bodyPr>
          <a:lstStyle/>
          <a:p>
            <a:pPr algn="l"/>
            <a:r>
              <a:rPr sz="1000" b="0" i="1">
                <a:solidFill>
                  <a:srgbClr val="5B6B82"/>
                </a:solidFill>
                <a:latin typeface="Calibri"/>
              </a:rPr>
              <a:t>Bars show relative levels, not exact measurements.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676525"/>
            <a:ext cx="10972800" cy="1352550"/>
          </a:xfrm>
          <a:prstGeom prst="roundRect">
            <a:avLst>
              <a:gd name="adj" fmla="val 1126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09600" y="4257675"/>
            <a:ext cx="10972800" cy="581025"/>
          </a:xfrm>
          <a:prstGeom prst="roundRect">
            <a:avLst>
              <a:gd name="adj" fmla="val 19672"/>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359324" y="3067050"/>
            <a:ext cx="19050" cy="5715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813774" y="3067050"/>
            <a:ext cx="19050" cy="571500"/>
          </a:xfrm>
          <a:prstGeom prst="rect">
            <a:avLst/>
          </a:prstGeom>
          <a:solidFill>
            <a:srgbClr val="CBD5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2790825" y="4476750"/>
            <a:ext cx="114300" cy="152400"/>
          </a:xfrm>
          <a:prstGeom prst="rect">
            <a:avLst/>
          </a:prstGeom>
        </p:spPr>
      </p:pic>
      <p:sp>
        <p:nvSpPr>
          <p:cNvPr id="7" name="TextBox 6"/>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Plus Jakarta Sans"/>
              </a:rPr>
              <a:t>ENGINEERING DECISION MATRIX</a:t>
            </a:r>
          </a:p>
        </p:txBody>
      </p:sp>
      <p:sp>
        <p:nvSpPr>
          <p:cNvPr id="8" name="TextBox 7"/>
          <p:cNvSpPr txBox="1"/>
          <p:nvPr/>
        </p:nvSpPr>
        <p:spPr>
          <a:xfrm>
            <a:off x="609600" y="685800"/>
            <a:ext cx="11582400" cy="428625"/>
          </a:xfrm>
          <a:prstGeom prst="rect">
            <a:avLst/>
          </a:prstGeom>
          <a:noFill/>
        </p:spPr>
        <p:txBody>
          <a:bodyPr wrap="none" lIns="0" tIns="0" rIns="0" bIns="0" anchor="t">
            <a:spAutoFit/>
          </a:bodyPr>
          <a:lstStyle/>
          <a:p>
            <a:pPr algn="l"/>
            <a:r>
              <a:rPr sz="2700" b="1" i="0" u="none">
                <a:solidFill>
                  <a:srgbClr val="0F172A"/>
                </a:solidFill>
                <a:latin typeface="Plus Jakarta Sans"/>
              </a:rPr>
              <a:t>Wireless Trade-Off Spectrum</a:t>
            </a:r>
          </a:p>
        </p:txBody>
      </p:sp>
      <p:sp>
        <p:nvSpPr>
          <p:cNvPr id="9" name="TextBox 8"/>
          <p:cNvSpPr txBox="1"/>
          <p:nvPr/>
        </p:nvSpPr>
        <p:spPr>
          <a:xfrm>
            <a:off x="-261937" y="4448175"/>
            <a:ext cx="12715875" cy="200025"/>
          </a:xfrm>
          <a:prstGeom prst="rect">
            <a:avLst/>
          </a:prstGeom>
          <a:noFill/>
        </p:spPr>
        <p:txBody>
          <a:bodyPr wrap="none" lIns="190500" tIns="0" rIns="0" bIns="0" anchor="t">
            <a:spAutoFit/>
          </a:bodyPr>
          <a:lstStyle/>
          <a:p>
            <a:pPr algn="ctr"/>
            <a:r>
              <a:rPr sz="1200" b="1" i="0" u="none">
                <a:solidFill>
                  <a:srgbClr val="1E40AF"/>
                </a:solidFill>
                <a:latin typeface="Plus Jakarta Sans"/>
              </a:rPr>
              <a:t>Rule of Thumb: You can pick at most 2 out of 3 — High Speed, Long Range, or Low Power.</a:t>
            </a:r>
          </a:p>
        </p:txBody>
      </p:sp>
      <p:sp>
        <p:nvSpPr>
          <p:cNvPr id="10" name="TextBox 9"/>
          <p:cNvSpPr txBox="1"/>
          <p:nvPr/>
        </p:nvSpPr>
        <p:spPr>
          <a:xfrm>
            <a:off x="685000" y="2990850"/>
            <a:ext cx="3913249" cy="152400"/>
          </a:xfrm>
          <a:prstGeom prst="rect">
            <a:avLst/>
          </a:prstGeom>
          <a:noFill/>
        </p:spPr>
        <p:txBody>
          <a:bodyPr wrap="none" lIns="0" tIns="0" rIns="0" bIns="0" anchor="t">
            <a:spAutoFit/>
          </a:bodyPr>
          <a:lstStyle/>
          <a:p>
            <a:pPr algn="ctr"/>
            <a:r>
              <a:rPr sz="975" b="1" i="0" u="none">
                <a:solidFill>
                  <a:srgbClr val="2563EB"/>
                </a:solidFill>
                <a:latin typeface="Plus Jakarta Sans"/>
              </a:rPr>
              <a:t>HIGH BANDWIDTH</a:t>
            </a:r>
          </a:p>
        </p:txBody>
      </p:sp>
      <p:sp>
        <p:nvSpPr>
          <p:cNvPr id="11" name="TextBox 10"/>
          <p:cNvSpPr txBox="1"/>
          <p:nvPr/>
        </p:nvSpPr>
        <p:spPr>
          <a:xfrm>
            <a:off x="587168" y="3200400"/>
            <a:ext cx="4108911" cy="285750"/>
          </a:xfrm>
          <a:prstGeom prst="rect">
            <a:avLst/>
          </a:prstGeom>
          <a:noFill/>
        </p:spPr>
        <p:txBody>
          <a:bodyPr wrap="none" lIns="0" tIns="0" rIns="0" bIns="0" anchor="t">
            <a:spAutoFit/>
          </a:bodyPr>
          <a:lstStyle/>
          <a:p>
            <a:pPr algn="ctr"/>
            <a:r>
              <a:rPr sz="1800" b="1" i="0" u="none">
                <a:solidFill>
                  <a:srgbClr val="0F172A"/>
                </a:solidFill>
                <a:latin typeface="Plus Jakarta Sans"/>
              </a:rPr>
              <a:t>Wi-Fi</a:t>
            </a:r>
          </a:p>
        </p:txBody>
      </p:sp>
      <p:sp>
        <p:nvSpPr>
          <p:cNvPr id="12" name="TextBox 11"/>
          <p:cNvSpPr txBox="1"/>
          <p:nvPr/>
        </p:nvSpPr>
        <p:spPr>
          <a:xfrm>
            <a:off x="685000" y="3543300"/>
            <a:ext cx="3913249" cy="171450"/>
          </a:xfrm>
          <a:prstGeom prst="rect">
            <a:avLst/>
          </a:prstGeom>
          <a:noFill/>
        </p:spPr>
        <p:txBody>
          <a:bodyPr wrap="none" lIns="0" tIns="0" rIns="0" bIns="0" anchor="t">
            <a:spAutoFit/>
          </a:bodyPr>
          <a:lstStyle/>
          <a:p>
            <a:pPr algn="ctr"/>
            <a:r>
              <a:rPr sz="1050" b="0" i="0" u="none">
                <a:solidFill>
                  <a:srgbClr val="64748B"/>
                </a:solidFill>
                <a:latin typeface="Plus Jakarta Sans"/>
              </a:rPr>
              <a:t>High energy consumption · Router dependent</a:t>
            </a:r>
          </a:p>
        </p:txBody>
      </p:sp>
      <p:sp>
        <p:nvSpPr>
          <p:cNvPr id="13" name="TextBox 12"/>
          <p:cNvSpPr txBox="1"/>
          <p:nvPr/>
        </p:nvSpPr>
        <p:spPr>
          <a:xfrm>
            <a:off x="4139449" y="2990850"/>
            <a:ext cx="3913249" cy="152400"/>
          </a:xfrm>
          <a:prstGeom prst="rect">
            <a:avLst/>
          </a:prstGeom>
          <a:noFill/>
        </p:spPr>
        <p:txBody>
          <a:bodyPr wrap="none" lIns="0" tIns="0" rIns="0" bIns="0" anchor="t">
            <a:spAutoFit/>
          </a:bodyPr>
          <a:lstStyle/>
          <a:p>
            <a:pPr algn="ctr"/>
            <a:r>
              <a:rPr sz="975" b="1" i="0" u="none">
                <a:solidFill>
                  <a:srgbClr val="0284C7"/>
                </a:solidFill>
                <a:latin typeface="Plus Jakarta Sans"/>
              </a:rPr>
              <a:t>LOW POWER / SHORT RANGE</a:t>
            </a:r>
          </a:p>
        </p:txBody>
      </p:sp>
      <p:sp>
        <p:nvSpPr>
          <p:cNvPr id="14" name="TextBox 13"/>
          <p:cNvSpPr txBox="1"/>
          <p:nvPr/>
        </p:nvSpPr>
        <p:spPr>
          <a:xfrm>
            <a:off x="4041618" y="3200400"/>
            <a:ext cx="4108911" cy="285750"/>
          </a:xfrm>
          <a:prstGeom prst="rect">
            <a:avLst/>
          </a:prstGeom>
          <a:noFill/>
        </p:spPr>
        <p:txBody>
          <a:bodyPr wrap="none" lIns="0" tIns="0" rIns="0" bIns="0" anchor="t">
            <a:spAutoFit/>
          </a:bodyPr>
          <a:lstStyle/>
          <a:p>
            <a:pPr algn="ctr"/>
            <a:r>
              <a:rPr sz="1800" b="1" i="0" u="none">
                <a:solidFill>
                  <a:srgbClr val="0F172A"/>
                </a:solidFill>
                <a:latin typeface="Plus Jakarta Sans"/>
              </a:rPr>
              <a:t>BLE / Zigbee</a:t>
            </a:r>
          </a:p>
        </p:txBody>
      </p:sp>
      <p:sp>
        <p:nvSpPr>
          <p:cNvPr id="15" name="TextBox 14"/>
          <p:cNvSpPr txBox="1"/>
          <p:nvPr/>
        </p:nvSpPr>
        <p:spPr>
          <a:xfrm>
            <a:off x="4139449" y="3543300"/>
            <a:ext cx="3913249" cy="171450"/>
          </a:xfrm>
          <a:prstGeom prst="rect">
            <a:avLst/>
          </a:prstGeom>
          <a:noFill/>
        </p:spPr>
        <p:txBody>
          <a:bodyPr wrap="none" lIns="0" tIns="0" rIns="0" bIns="0" anchor="t">
            <a:spAutoFit/>
          </a:bodyPr>
          <a:lstStyle/>
          <a:p>
            <a:pPr algn="ctr"/>
            <a:r>
              <a:rPr sz="1050" b="0" i="0" u="none">
                <a:solidFill>
                  <a:srgbClr val="64748B"/>
                </a:solidFill>
                <a:latin typeface="Plus Jakarta Sans"/>
              </a:rPr>
              <a:t>Coin-cell friendly · Battery lasts months</a:t>
            </a:r>
          </a:p>
        </p:txBody>
      </p:sp>
      <p:sp>
        <p:nvSpPr>
          <p:cNvPr id="16" name="TextBox 15"/>
          <p:cNvSpPr txBox="1"/>
          <p:nvPr/>
        </p:nvSpPr>
        <p:spPr>
          <a:xfrm>
            <a:off x="7593899" y="2990850"/>
            <a:ext cx="3913249" cy="152400"/>
          </a:xfrm>
          <a:prstGeom prst="rect">
            <a:avLst/>
          </a:prstGeom>
          <a:noFill/>
        </p:spPr>
        <p:txBody>
          <a:bodyPr wrap="none" lIns="0" tIns="0" rIns="0" bIns="0" anchor="t">
            <a:spAutoFit/>
          </a:bodyPr>
          <a:lstStyle/>
          <a:p>
            <a:pPr algn="ctr"/>
            <a:r>
              <a:rPr sz="975" b="1" i="0" u="none">
                <a:solidFill>
                  <a:srgbClr val="D97706"/>
                </a:solidFill>
                <a:latin typeface="Plus Jakarta Sans"/>
              </a:rPr>
              <a:t>LONG RANGE / LOW BANDWIDTH</a:t>
            </a:r>
          </a:p>
        </p:txBody>
      </p:sp>
      <p:sp>
        <p:nvSpPr>
          <p:cNvPr id="17" name="TextBox 16"/>
          <p:cNvSpPr txBox="1"/>
          <p:nvPr/>
        </p:nvSpPr>
        <p:spPr>
          <a:xfrm>
            <a:off x="7496068" y="3200400"/>
            <a:ext cx="4108911" cy="285750"/>
          </a:xfrm>
          <a:prstGeom prst="rect">
            <a:avLst/>
          </a:prstGeom>
          <a:noFill/>
        </p:spPr>
        <p:txBody>
          <a:bodyPr wrap="none" lIns="0" tIns="0" rIns="0" bIns="0" anchor="t">
            <a:spAutoFit/>
          </a:bodyPr>
          <a:lstStyle/>
          <a:p>
            <a:pPr algn="ctr"/>
            <a:r>
              <a:rPr sz="1800" b="1" i="0" u="none">
                <a:solidFill>
                  <a:srgbClr val="0F172A"/>
                </a:solidFill>
                <a:latin typeface="Plus Jakarta Sans"/>
              </a:rPr>
              <a:t>LoRa</a:t>
            </a:r>
          </a:p>
        </p:txBody>
      </p:sp>
      <p:sp>
        <p:nvSpPr>
          <p:cNvPr id="18" name="TextBox 17"/>
          <p:cNvSpPr txBox="1"/>
          <p:nvPr/>
        </p:nvSpPr>
        <p:spPr>
          <a:xfrm>
            <a:off x="7593899" y="3543300"/>
            <a:ext cx="3913249" cy="171450"/>
          </a:xfrm>
          <a:prstGeom prst="rect">
            <a:avLst/>
          </a:prstGeom>
          <a:noFill/>
        </p:spPr>
        <p:txBody>
          <a:bodyPr wrap="none" lIns="0" tIns="0" rIns="0" bIns="0" anchor="t">
            <a:spAutoFit/>
          </a:bodyPr>
          <a:lstStyle/>
          <a:p>
            <a:pPr algn="ctr"/>
            <a:r>
              <a:rPr sz="1050" b="0" i="0" u="none">
                <a:solidFill>
                  <a:srgbClr val="64748B"/>
                </a:solidFill>
                <a:latin typeface="Plus Jakarta Sans"/>
              </a:rPr>
              <a:t>Kilometer span · Tiny packet updates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 name="Text 0"/>
          <p:cNvSpPr/>
          <p:nvPr/>
        </p:nvSpPr>
        <p:spPr>
          <a:xfrm>
            <a:off x="548640" y="502920"/>
            <a:ext cx="11091672" cy="5482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3000" b="1" u="none" strike="noStrike">
                <a:solidFill>
                  <a:srgbClr val="10192B"/>
                </a:solidFill>
                <a:effectLst/>
                <a:uFillTx/>
                <a:latin typeface="Calibri"/>
                <a:ea typeface="Calibri"/>
              </a:rPr>
              <a:t>Talking to the Cloud: HTTP vs MQTT</a:t>
            </a:r>
            <a:endParaRPr lang="en-US" sz="3000" b="0" u="none" strike="noStrike">
              <a:solidFill>
                <a:srgbClr val="000000"/>
              </a:solidFill>
              <a:effectLst/>
              <a:uFillTx/>
              <a:latin typeface="Arial"/>
            </a:endParaRPr>
          </a:p>
        </p:txBody>
      </p:sp>
      <p:sp>
        <p:nvSpPr>
          <p:cNvPr id="101" name="PlaceHolder 1"/>
          <p:cNvSpPr>
            <a:spLocks noGrp="1"/>
          </p:cNvSpPr>
          <p:nvPr>
            <p:ph type="sldNum" idx="19"/>
          </p:nvPr>
        </p:nvSpPr>
        <p:spPr>
          <a:xfrm>
            <a:off x="11368800" y="6473880"/>
            <a:ext cx="456840" cy="273960"/>
          </a:xfrm>
          <a:prstGeom prst="rect">
            <a:avLst/>
          </a:prstGeom>
          <a:noFill/>
          <a:ln w="0">
            <a:noFill/>
          </a:ln>
        </p:spPr>
        <p:txBody>
          <a:bodyPr lIns="90000" tIns="45000" rIns="90000" bIns="45000" anchor="t">
            <a:noAutofit/>
          </a:bodyPr>
          <a:lstStyle>
            <a:lvl1pPr indent="0" algn="r" defTabSz="914400">
              <a:lnSpc>
                <a:spcPct val="100000"/>
              </a:lnSpc>
              <a:buNone/>
              <a:defRPr lang="en-US" sz="900" b="0" u="none" strike="noStrike">
                <a:solidFill>
                  <a:srgbClr val="5B6B82"/>
                </a:solidFill>
                <a:effectLst/>
                <a:uFillTx/>
                <a:latin typeface="Calibri"/>
                <a:ea typeface="Calibri"/>
              </a:defRPr>
            </a:lvl1pPr>
          </a:lstStyle>
          <a:p>
            <a:pPr indent="0" algn="r" defTabSz="914400">
              <a:lnSpc>
                <a:spcPct val="100000"/>
              </a:lnSpc>
              <a:buNone/>
            </a:pPr>
            <a:fld id="{143F33F3-4D2B-40B0-A1E0-C4D126F5C99F}" type="slidenum">
              <a:rPr lang="en-US" sz="900" b="0" u="none" strike="noStrike">
                <a:solidFill>
                  <a:srgbClr val="5B6B82"/>
                </a:solidFill>
                <a:effectLst/>
                <a:uFillTx/>
                <a:latin typeface="Calibri"/>
                <a:ea typeface="Calibri"/>
              </a:rPr>
              <a:t>11</a:t>
            </a:fld>
            <a:endParaRPr lang="en-US" sz="900" b="0" u="none" strike="noStrike">
              <a:solidFill>
                <a:srgbClr val="000000"/>
              </a:solidFill>
              <a:effectLst/>
              <a:uFillTx/>
              <a:latin typeface="Times New Roman"/>
            </a:endParaRPr>
          </a:p>
        </p:txBody>
      </p:sp>
      <p:sp>
        <p:nvSpPr>
          <p:cNvPr id="102" name="TextBox 101"/>
          <p:cNvSpPr txBox="1"/>
          <p:nvPr/>
        </p:nvSpPr>
        <p:spPr>
          <a:xfrm>
            <a:off x="548640" y="1481328"/>
            <a:ext cx="10881360" cy="292608"/>
          </a:xfrm>
          <a:prstGeom prst="rect">
            <a:avLst/>
          </a:prstGeom>
          <a:noFill/>
        </p:spPr>
        <p:txBody>
          <a:bodyPr wrap="square" lIns="0" tIns="0" rIns="0" bIns="0" anchor="t">
            <a:noAutofit/>
          </a:bodyPr>
          <a:lstStyle/>
          <a:p>
            <a:pPr algn="l"/>
            <a:r>
              <a:rPr sz="1300" b="0" i="1">
                <a:solidFill>
                  <a:srgbClr val="5B6B82"/>
                </a:solidFill>
                <a:latin typeface="Calibri"/>
              </a:rPr>
              <a:t>Only relevant once the ESP32 is already on Wi-Fi and needs to reach a server.</a:t>
            </a:r>
          </a:p>
        </p:txBody>
      </p:sp>
      <p:grpSp>
        <p:nvGrpSpPr>
          <p:cNvPr id="2" name="HTTP / HTTPS panel"/>
          <p:cNvGrpSpPr/>
          <p:nvPr/>
        </p:nvGrpSpPr>
        <p:grpSpPr>
          <a:xfrm>
            <a:off x="548640" y="1920240"/>
            <a:ext cx="5390388" cy="3749039"/>
            <a:chOff x="548640" y="1920240"/>
            <a:chExt cx="5390388" cy="3749039"/>
          </a:xfrm>
        </p:grpSpPr>
        <p:sp>
          <p:nvSpPr>
            <p:cNvPr id="103" name="Rounded Rectangle 102"/>
            <p:cNvSpPr/>
            <p:nvPr/>
          </p:nvSpPr>
          <p:spPr>
            <a:xfrm>
              <a:off x="548640" y="1920240"/>
              <a:ext cx="5390388" cy="3749039"/>
            </a:xfrm>
            <a:prstGeom prst="roundRect">
              <a:avLst>
                <a:gd name="adj" fmla="val 2926"/>
              </a:avLst>
            </a:prstGeom>
            <a:solidFill>
              <a:srgbClr val="FFFFFF"/>
            </a:solidFill>
            <a:ln w="12700">
              <a:solidFill>
                <a:srgbClr val="D9E0EA"/>
              </a:solidFill>
            </a:ln>
          </p:spPr>
          <p:txBody>
            <a:bodyPr rtlCol="0" anchor="ctr"/>
            <a:lstStyle/>
            <a:p>
              <a:pPr algn="ctr"/>
              <a:endParaRPr/>
            </a:p>
          </p:txBody>
        </p:sp>
        <p:sp>
          <p:nvSpPr>
            <p:cNvPr id="104" name="Oval 103"/>
            <p:cNvSpPr/>
            <p:nvPr/>
          </p:nvSpPr>
          <p:spPr>
            <a:xfrm>
              <a:off x="795528" y="2194560"/>
              <a:ext cx="640080" cy="640080"/>
            </a:xfrm>
            <a:prstGeom prst="ellipse">
              <a:avLst/>
            </a:prstGeom>
            <a:solidFill>
              <a:srgbClr val="5B8DEF"/>
            </a:solidFill>
            <a:ln>
              <a:noFill/>
            </a:ln>
          </p:spPr>
          <p:txBody>
            <a:bodyPr rtlCol="0" anchor="ctr"/>
            <a:lstStyle/>
            <a:p>
              <a:pPr algn="ctr"/>
              <a:endParaRPr/>
            </a:p>
          </p:txBody>
        </p:sp>
        <p:pic>
          <p:nvPicPr>
            <p:cNvPr id="105" name="Picture 104" descr="FaHandshake_navy.png"/>
            <p:cNvPicPr>
              <a:picLocks noChangeAspect="1"/>
            </p:cNvPicPr>
            <p:nvPr/>
          </p:nvPicPr>
          <p:blipFill>
            <a:blip r:embed="rId3"/>
            <a:stretch>
              <a:fillRect/>
            </a:stretch>
          </p:blipFill>
          <p:spPr>
            <a:xfrm>
              <a:off x="955547" y="2354580"/>
              <a:ext cx="320040" cy="320040"/>
            </a:xfrm>
            <a:prstGeom prst="rect">
              <a:avLst/>
            </a:prstGeom>
          </p:spPr>
        </p:pic>
        <p:sp>
          <p:nvSpPr>
            <p:cNvPr id="106" name="TextBox 105"/>
            <p:cNvSpPr txBox="1"/>
            <p:nvPr/>
          </p:nvSpPr>
          <p:spPr>
            <a:xfrm>
              <a:off x="1600200" y="2212848"/>
              <a:ext cx="4110228" cy="640080"/>
            </a:xfrm>
            <a:prstGeom prst="rect">
              <a:avLst/>
            </a:prstGeom>
            <a:noFill/>
          </p:spPr>
          <p:txBody>
            <a:bodyPr wrap="square" lIns="0" tIns="0" rIns="0" bIns="0" anchor="t">
              <a:noAutofit/>
            </a:bodyPr>
            <a:lstStyle/>
            <a:p>
              <a:pPr algn="l">
                <a:spcAft>
                  <a:spcPts val="200"/>
                </a:spcAft>
              </a:pPr>
              <a:r>
                <a:rPr sz="2100" b="1" i="0">
                  <a:solidFill>
                    <a:srgbClr val="10192B"/>
                  </a:solidFill>
                  <a:latin typeface="Calibri"/>
                </a:rPr>
                <a:t>HTTP / HTTPS</a:t>
              </a:r>
            </a:p>
            <a:p>
              <a:pPr algn="l"/>
              <a:r>
                <a:rPr sz="1400" b="0" i="1">
                  <a:solidFill>
                    <a:srgbClr val="2952B8"/>
                  </a:solidFill>
                  <a:latin typeface="Calibri"/>
                </a:rPr>
                <a:t>Ordering at a counter</a:t>
              </a:r>
            </a:p>
          </p:txBody>
        </p:sp>
      </p:grpSp>
      <p:grpSp>
        <p:nvGrpSpPr>
          <p:cNvPr id="3" name="HTTP flow"/>
          <p:cNvGrpSpPr/>
          <p:nvPr/>
        </p:nvGrpSpPr>
        <p:grpSpPr>
          <a:xfrm>
            <a:off x="914400" y="3063240"/>
            <a:ext cx="4658868" cy="1051560"/>
            <a:chOff x="914400" y="3063240"/>
            <a:chExt cx="4658868" cy="1051560"/>
          </a:xfrm>
        </p:grpSpPr>
        <p:sp>
          <p:nvSpPr>
            <p:cNvPr id="107" name="Rounded Rectangle 106"/>
            <p:cNvSpPr/>
            <p:nvPr/>
          </p:nvSpPr>
          <p:spPr>
            <a:xfrm>
              <a:off x="914400" y="3063240"/>
              <a:ext cx="4658868" cy="1051560"/>
            </a:xfrm>
            <a:prstGeom prst="roundRect">
              <a:avLst>
                <a:gd name="adj" fmla="val 8695"/>
              </a:avLst>
            </a:prstGeom>
            <a:solidFill>
              <a:srgbClr val="EDF1F7"/>
            </a:solidFill>
            <a:ln>
              <a:noFill/>
            </a:ln>
          </p:spPr>
          <p:txBody>
            <a:bodyPr rtlCol="0" anchor="ctr"/>
            <a:lstStyle/>
            <a:p>
              <a:pPr algn="ctr"/>
              <a:endParaRPr/>
            </a:p>
          </p:txBody>
        </p:sp>
        <p:sp>
          <p:nvSpPr>
            <p:cNvPr id="108" name="Oval 107"/>
            <p:cNvSpPr/>
            <p:nvPr/>
          </p:nvSpPr>
          <p:spPr>
            <a:xfrm>
              <a:off x="1298448" y="3337560"/>
              <a:ext cx="512064" cy="512064"/>
            </a:xfrm>
            <a:prstGeom prst="ellipse">
              <a:avLst/>
            </a:prstGeom>
            <a:solidFill>
              <a:srgbClr val="0B1E3D"/>
            </a:solidFill>
            <a:ln>
              <a:noFill/>
            </a:ln>
          </p:spPr>
          <p:txBody>
            <a:bodyPr rtlCol="0" anchor="ctr"/>
            <a:lstStyle/>
            <a:p>
              <a:pPr algn="ctr"/>
              <a:endParaRPr/>
            </a:p>
          </p:txBody>
        </p:sp>
        <p:pic>
          <p:nvPicPr>
            <p:cNvPr id="109" name="Picture 108" descr="FaMicrochip_white.png"/>
            <p:cNvPicPr>
              <a:picLocks noChangeAspect="1"/>
            </p:cNvPicPr>
            <p:nvPr/>
          </p:nvPicPr>
          <p:blipFill>
            <a:blip r:embed="rId4"/>
            <a:stretch>
              <a:fillRect/>
            </a:stretch>
          </p:blipFill>
          <p:spPr>
            <a:xfrm>
              <a:off x="1426464" y="3465576"/>
              <a:ext cx="256032" cy="256032"/>
            </a:xfrm>
            <a:prstGeom prst="rect">
              <a:avLst/>
            </a:prstGeom>
          </p:spPr>
        </p:pic>
        <p:sp>
          <p:nvSpPr>
            <p:cNvPr id="110" name="Oval 109"/>
            <p:cNvSpPr/>
            <p:nvPr/>
          </p:nvSpPr>
          <p:spPr>
            <a:xfrm>
              <a:off x="4677156" y="3337560"/>
              <a:ext cx="512064" cy="512064"/>
            </a:xfrm>
            <a:prstGeom prst="ellipse">
              <a:avLst/>
            </a:prstGeom>
            <a:solidFill>
              <a:srgbClr val="5B8DEF"/>
            </a:solidFill>
            <a:ln>
              <a:noFill/>
            </a:ln>
          </p:spPr>
          <p:txBody>
            <a:bodyPr rtlCol="0" anchor="ctr"/>
            <a:lstStyle/>
            <a:p>
              <a:pPr algn="ctr"/>
              <a:endParaRPr/>
            </a:p>
          </p:txBody>
        </p:sp>
        <p:pic>
          <p:nvPicPr>
            <p:cNvPr id="111" name="Picture 110" descr="FaServer_navy.png"/>
            <p:cNvPicPr>
              <a:picLocks noChangeAspect="1"/>
            </p:cNvPicPr>
            <p:nvPr/>
          </p:nvPicPr>
          <p:blipFill>
            <a:blip r:embed="rId5"/>
            <a:stretch>
              <a:fillRect/>
            </a:stretch>
          </p:blipFill>
          <p:spPr>
            <a:xfrm>
              <a:off x="4805172" y="3465576"/>
              <a:ext cx="256032" cy="256032"/>
            </a:xfrm>
            <a:prstGeom prst="rect">
              <a:avLst/>
            </a:prstGeom>
          </p:spPr>
        </p:pic>
        <p:cxnSp>
          <p:nvCxnSpPr>
            <p:cNvPr id="112" name="Connector 111"/>
            <p:cNvCxnSpPr/>
            <p:nvPr/>
          </p:nvCxnSpPr>
          <p:spPr>
            <a:xfrm>
              <a:off x="1874519" y="3447288"/>
              <a:ext cx="2738629" cy="0"/>
            </a:xfrm>
            <a:prstGeom prst="line">
              <a:avLst/>
            </a:prstGeom>
            <a:ln w="25400">
              <a:solidFill>
                <a:srgbClr val="3E6FE0"/>
              </a:solidFill>
              <a:tailEnd type="triangle" w="med" len="med"/>
            </a:ln>
          </p:spPr>
        </p:cxnSp>
        <p:sp>
          <p:nvSpPr>
            <p:cNvPr id="113" name="TextBox 112"/>
            <p:cNvSpPr txBox="1"/>
            <p:nvPr/>
          </p:nvSpPr>
          <p:spPr>
            <a:xfrm>
              <a:off x="1920240" y="3191256"/>
              <a:ext cx="2647188" cy="201168"/>
            </a:xfrm>
            <a:prstGeom prst="rect">
              <a:avLst/>
            </a:prstGeom>
            <a:noFill/>
          </p:spPr>
          <p:txBody>
            <a:bodyPr wrap="square" lIns="0" tIns="0" rIns="0" bIns="0" anchor="t">
              <a:noAutofit/>
            </a:bodyPr>
            <a:lstStyle/>
            <a:p>
              <a:pPr algn="ctr"/>
              <a:r>
                <a:rPr sz="1050" b="0" i="0">
                  <a:solidFill>
                    <a:srgbClr val="2952B8"/>
                  </a:solidFill>
                  <a:latin typeface="Calibri"/>
                </a:rPr>
                <a:t>full request</a:t>
              </a:r>
            </a:p>
          </p:txBody>
        </p:sp>
        <p:cxnSp>
          <p:nvCxnSpPr>
            <p:cNvPr id="114" name="Connector 113"/>
            <p:cNvCxnSpPr/>
            <p:nvPr/>
          </p:nvCxnSpPr>
          <p:spPr>
            <a:xfrm flipH="1">
              <a:off x="1874519" y="3749039"/>
              <a:ext cx="2738629" cy="0"/>
            </a:xfrm>
            <a:prstGeom prst="line">
              <a:avLst/>
            </a:prstGeom>
            <a:ln w="25400">
              <a:solidFill>
                <a:srgbClr val="9FB8E8"/>
              </a:solidFill>
              <a:prstDash val="dash"/>
              <a:tailEnd type="triangle" w="med" len="med"/>
            </a:ln>
          </p:spPr>
        </p:cxnSp>
        <p:sp>
          <p:nvSpPr>
            <p:cNvPr id="115" name="TextBox 114"/>
            <p:cNvSpPr txBox="1"/>
            <p:nvPr/>
          </p:nvSpPr>
          <p:spPr>
            <a:xfrm>
              <a:off x="1920240" y="3794760"/>
              <a:ext cx="2647188" cy="201168"/>
            </a:xfrm>
            <a:prstGeom prst="rect">
              <a:avLst/>
            </a:prstGeom>
            <a:noFill/>
          </p:spPr>
          <p:txBody>
            <a:bodyPr wrap="square" lIns="0" tIns="0" rIns="0" bIns="0" anchor="t">
              <a:noAutofit/>
            </a:bodyPr>
            <a:lstStyle/>
            <a:p>
              <a:pPr algn="ctr"/>
              <a:r>
                <a:rPr sz="1050" b="0" i="0">
                  <a:solidFill>
                    <a:srgbClr val="5B6B82"/>
                  </a:solidFill>
                  <a:latin typeface="Calibri"/>
                </a:rPr>
                <a:t>full response, then forgets</a:t>
              </a:r>
            </a:p>
          </p:txBody>
        </p:sp>
      </p:grpSp>
      <p:sp>
        <p:nvSpPr>
          <p:cNvPr id="116" name="TextBox 115"/>
          <p:cNvSpPr txBox="1"/>
          <p:nvPr/>
        </p:nvSpPr>
        <p:spPr>
          <a:xfrm>
            <a:off x="822959" y="4343399"/>
            <a:ext cx="4841748" cy="1164021"/>
          </a:xfrm>
          <a:prstGeom prst="rect">
            <a:avLst/>
          </a:prstGeom>
          <a:noFill/>
        </p:spPr>
        <p:txBody>
          <a:bodyPr wrap="square" lIns="0" tIns="0" rIns="0" bIns="0" anchor="t">
            <a:noAutofit/>
          </a:bodyPr>
          <a:lstStyle/>
          <a:p>
            <a:pPr marL="173736" indent="-173736" algn="l">
              <a:spcAft>
                <a:spcPts val="400"/>
              </a:spcAft>
              <a:buClr>
                <a:srgbClr val="12B5A8"/>
              </a:buClr>
              <a:buFont typeface="Arial"/>
              <a:buChar char="•"/>
            </a:pPr>
            <a:r>
              <a:rPr sz="1400" b="0" i="0" dirty="0">
                <a:solidFill>
                  <a:srgbClr val="10192B"/>
                </a:solidFill>
                <a:latin typeface="Calibri"/>
              </a:rPr>
              <a:t>Ask, wait for the full reply, every time</a:t>
            </a:r>
          </a:p>
          <a:p>
            <a:pPr marL="173736" indent="-173736" algn="l">
              <a:spcAft>
                <a:spcPts val="400"/>
              </a:spcAft>
              <a:buClr>
                <a:srgbClr val="12B5A8"/>
              </a:buClr>
              <a:buFont typeface="Arial"/>
              <a:buChar char="•"/>
            </a:pPr>
            <a:r>
              <a:rPr sz="1400" b="0" i="0" dirty="0">
                <a:solidFill>
                  <a:srgbClr val="10192B"/>
                </a:solidFill>
                <a:latin typeface="Calibri"/>
              </a:rPr>
              <a:t>No memory of the last visit</a:t>
            </a:r>
            <a:r>
              <a:rPr lang="en-IN" sz="1400" b="0" i="0" dirty="0">
                <a:solidFill>
                  <a:srgbClr val="10192B"/>
                </a:solidFill>
                <a:latin typeface="Calibri"/>
              </a:rPr>
              <a:t> (</a:t>
            </a:r>
            <a:r>
              <a:rPr lang="en-IN" sz="1400" b="1" i="0" dirty="0">
                <a:solidFill>
                  <a:srgbClr val="10192B"/>
                </a:solidFill>
                <a:latin typeface="Calibri"/>
              </a:rPr>
              <a:t>Stateless</a:t>
            </a:r>
            <a:r>
              <a:rPr lang="en-IN" sz="1400" b="0" i="0" dirty="0">
                <a:solidFill>
                  <a:srgbClr val="10192B"/>
                </a:solidFill>
                <a:latin typeface="Calibri"/>
              </a:rPr>
              <a:t>)</a:t>
            </a:r>
            <a:endParaRPr sz="1400" b="0" i="0" dirty="0">
              <a:solidFill>
                <a:srgbClr val="10192B"/>
              </a:solidFill>
              <a:latin typeface="Calibri"/>
            </a:endParaRPr>
          </a:p>
          <a:p>
            <a:pPr marL="173736" indent="-173736" algn="l">
              <a:spcAft>
                <a:spcPts val="400"/>
              </a:spcAft>
              <a:buClr>
                <a:srgbClr val="12B5A8"/>
              </a:buClr>
              <a:buFont typeface="Arial"/>
              <a:buChar char="•"/>
            </a:pPr>
            <a:r>
              <a:rPr sz="1400" b="0" i="0" dirty="0">
                <a:solidFill>
                  <a:srgbClr val="10192B"/>
                </a:solidFill>
                <a:latin typeface="Calibri"/>
              </a:rPr>
              <a:t>Simple and universal</a:t>
            </a:r>
            <a:endParaRPr lang="en-IN" sz="1400" b="0" i="0" dirty="0">
              <a:solidFill>
                <a:srgbClr val="10192B"/>
              </a:solidFill>
              <a:latin typeface="Calibri"/>
            </a:endParaRPr>
          </a:p>
          <a:p>
            <a:pPr marL="173736" indent="-173736" algn="l">
              <a:spcAft>
                <a:spcPts val="400"/>
              </a:spcAft>
              <a:buClr>
                <a:srgbClr val="12B5A8"/>
              </a:buClr>
              <a:buFont typeface="Arial"/>
              <a:buChar char="•"/>
            </a:pPr>
            <a:r>
              <a:rPr lang="en-IN" sz="1400" i="0" dirty="0">
                <a:solidFill>
                  <a:srgbClr val="10192B"/>
                </a:solidFill>
                <a:latin typeface="Calibri"/>
              </a:rPr>
              <a:t>Data is shared in </a:t>
            </a:r>
            <a:r>
              <a:rPr lang="en-IN" sz="1400" b="1" i="0" dirty="0">
                <a:solidFill>
                  <a:srgbClr val="10192B"/>
                </a:solidFill>
                <a:latin typeface="Calibri"/>
              </a:rPr>
              <a:t>packets</a:t>
            </a:r>
            <a:r>
              <a:rPr lang="en-IN" sz="1400" i="0" dirty="0">
                <a:solidFill>
                  <a:srgbClr val="10192B"/>
                </a:solidFill>
                <a:latin typeface="Calibri"/>
              </a:rPr>
              <a:t> containing address (Ip address) and a payload </a:t>
            </a:r>
          </a:p>
          <a:p>
            <a:pPr marL="173736" indent="-173736" algn="l">
              <a:spcAft>
                <a:spcPts val="400"/>
              </a:spcAft>
              <a:buClr>
                <a:srgbClr val="12B5A8"/>
              </a:buClr>
              <a:buFont typeface="Arial"/>
              <a:buChar char="•"/>
            </a:pPr>
            <a:endParaRPr sz="1400" b="0" i="0" dirty="0">
              <a:solidFill>
                <a:srgbClr val="10192B"/>
              </a:solidFill>
              <a:latin typeface="Calibri"/>
            </a:endParaRPr>
          </a:p>
        </p:txBody>
      </p:sp>
      <p:grpSp>
        <p:nvGrpSpPr>
          <p:cNvPr id="4" name="MQTT panel"/>
          <p:cNvGrpSpPr/>
          <p:nvPr/>
        </p:nvGrpSpPr>
        <p:grpSpPr>
          <a:xfrm>
            <a:off x="6249924" y="1920240"/>
            <a:ext cx="5390388" cy="3749039"/>
            <a:chOff x="6249924" y="1920240"/>
            <a:chExt cx="5390388" cy="3749039"/>
          </a:xfrm>
        </p:grpSpPr>
        <p:sp>
          <p:nvSpPr>
            <p:cNvPr id="119" name="Rounded Rectangle 118"/>
            <p:cNvSpPr/>
            <p:nvPr/>
          </p:nvSpPr>
          <p:spPr>
            <a:xfrm>
              <a:off x="6249924" y="1920240"/>
              <a:ext cx="5390388" cy="3749039"/>
            </a:xfrm>
            <a:prstGeom prst="roundRect">
              <a:avLst>
                <a:gd name="adj" fmla="val 2926"/>
              </a:avLst>
            </a:prstGeom>
            <a:solidFill>
              <a:srgbClr val="FFFFFF"/>
            </a:solidFill>
            <a:ln w="12700">
              <a:solidFill>
                <a:srgbClr val="D9E0EA"/>
              </a:solidFill>
            </a:ln>
          </p:spPr>
          <p:txBody>
            <a:bodyPr rtlCol="0" anchor="ctr"/>
            <a:lstStyle/>
            <a:p>
              <a:pPr algn="ctr"/>
              <a:endParaRPr/>
            </a:p>
          </p:txBody>
        </p:sp>
        <p:sp>
          <p:nvSpPr>
            <p:cNvPr id="120" name="Oval 119"/>
            <p:cNvSpPr/>
            <p:nvPr/>
          </p:nvSpPr>
          <p:spPr>
            <a:xfrm>
              <a:off x="6496812" y="2194560"/>
              <a:ext cx="640080" cy="640080"/>
            </a:xfrm>
            <a:prstGeom prst="ellipse">
              <a:avLst/>
            </a:prstGeom>
            <a:solidFill>
              <a:srgbClr val="31D6C9"/>
            </a:solidFill>
            <a:ln>
              <a:noFill/>
            </a:ln>
          </p:spPr>
          <p:txBody>
            <a:bodyPr rtlCol="0" anchor="ctr"/>
            <a:lstStyle/>
            <a:p>
              <a:pPr algn="ctr"/>
              <a:endParaRPr/>
            </a:p>
          </p:txBody>
        </p:sp>
        <p:pic>
          <p:nvPicPr>
            <p:cNvPr id="121" name="Picture 120" descr="FaNewspaper_navy.png"/>
            <p:cNvPicPr>
              <a:picLocks noChangeAspect="1"/>
            </p:cNvPicPr>
            <p:nvPr/>
          </p:nvPicPr>
          <p:blipFill>
            <a:blip r:embed="rId6"/>
            <a:stretch>
              <a:fillRect/>
            </a:stretch>
          </p:blipFill>
          <p:spPr>
            <a:xfrm>
              <a:off x="6656832" y="2354580"/>
              <a:ext cx="320040" cy="320040"/>
            </a:xfrm>
            <a:prstGeom prst="rect">
              <a:avLst/>
            </a:prstGeom>
          </p:spPr>
        </p:pic>
        <p:sp>
          <p:nvSpPr>
            <p:cNvPr id="122" name="TextBox 121"/>
            <p:cNvSpPr txBox="1"/>
            <p:nvPr/>
          </p:nvSpPr>
          <p:spPr>
            <a:xfrm>
              <a:off x="7301483" y="2212848"/>
              <a:ext cx="4110228" cy="640080"/>
            </a:xfrm>
            <a:prstGeom prst="rect">
              <a:avLst/>
            </a:prstGeom>
            <a:noFill/>
          </p:spPr>
          <p:txBody>
            <a:bodyPr wrap="square" lIns="0" tIns="0" rIns="0" bIns="0" anchor="t">
              <a:noAutofit/>
            </a:bodyPr>
            <a:lstStyle/>
            <a:p>
              <a:pPr algn="l">
                <a:spcAft>
                  <a:spcPts val="200"/>
                </a:spcAft>
              </a:pPr>
              <a:r>
                <a:rPr sz="2100" b="1" i="0" dirty="0">
                  <a:solidFill>
                    <a:srgbClr val="10192B"/>
                  </a:solidFill>
                  <a:latin typeface="Calibri"/>
                </a:rPr>
                <a:t>MQTT</a:t>
              </a:r>
            </a:p>
            <a:p>
              <a:pPr algn="l"/>
              <a:r>
                <a:rPr sz="1400" b="0" i="1" dirty="0">
                  <a:solidFill>
                    <a:srgbClr val="0B7F77"/>
                  </a:solidFill>
                  <a:latin typeface="Calibri"/>
                </a:rPr>
                <a:t>The newspaper subscription</a:t>
              </a:r>
            </a:p>
          </p:txBody>
        </p:sp>
      </p:grpSp>
      <p:grpSp>
        <p:nvGrpSpPr>
          <p:cNvPr id="5" name="MQTT flow"/>
          <p:cNvGrpSpPr/>
          <p:nvPr/>
        </p:nvGrpSpPr>
        <p:grpSpPr>
          <a:xfrm>
            <a:off x="6615684" y="2807208"/>
            <a:ext cx="4658868" cy="1380743"/>
            <a:chOff x="6615684" y="2807208"/>
            <a:chExt cx="4658868" cy="1380743"/>
          </a:xfrm>
        </p:grpSpPr>
        <p:sp>
          <p:nvSpPr>
            <p:cNvPr id="123" name="Rounded Rectangle 122"/>
            <p:cNvSpPr/>
            <p:nvPr/>
          </p:nvSpPr>
          <p:spPr>
            <a:xfrm>
              <a:off x="6615684" y="3063240"/>
              <a:ext cx="4658868" cy="1051560"/>
            </a:xfrm>
            <a:prstGeom prst="roundRect">
              <a:avLst>
                <a:gd name="adj" fmla="val 8695"/>
              </a:avLst>
            </a:prstGeom>
            <a:solidFill>
              <a:srgbClr val="EDF1F7"/>
            </a:solidFill>
            <a:ln>
              <a:noFill/>
            </a:ln>
          </p:spPr>
          <p:txBody>
            <a:bodyPr rtlCol="0" anchor="ctr"/>
            <a:lstStyle/>
            <a:p>
              <a:pPr algn="ctr"/>
              <a:endParaRPr/>
            </a:p>
          </p:txBody>
        </p:sp>
        <p:sp>
          <p:nvSpPr>
            <p:cNvPr id="124" name="Oval 123"/>
            <p:cNvSpPr/>
            <p:nvPr/>
          </p:nvSpPr>
          <p:spPr>
            <a:xfrm>
              <a:off x="6954012" y="3337560"/>
              <a:ext cx="512064" cy="512064"/>
            </a:xfrm>
            <a:prstGeom prst="ellipse">
              <a:avLst/>
            </a:prstGeom>
            <a:solidFill>
              <a:srgbClr val="0B1E3D"/>
            </a:solidFill>
            <a:ln>
              <a:noFill/>
            </a:ln>
          </p:spPr>
          <p:txBody>
            <a:bodyPr rtlCol="0" anchor="ctr"/>
            <a:lstStyle/>
            <a:p>
              <a:pPr algn="ctr"/>
              <a:endParaRPr/>
            </a:p>
          </p:txBody>
        </p:sp>
        <p:pic>
          <p:nvPicPr>
            <p:cNvPr id="125" name="Picture 124" descr="FaMicrochip_white.png"/>
            <p:cNvPicPr>
              <a:picLocks noChangeAspect="1"/>
            </p:cNvPicPr>
            <p:nvPr/>
          </p:nvPicPr>
          <p:blipFill>
            <a:blip r:embed="rId4"/>
            <a:stretch>
              <a:fillRect/>
            </a:stretch>
          </p:blipFill>
          <p:spPr>
            <a:xfrm>
              <a:off x="7082028" y="3465576"/>
              <a:ext cx="256032" cy="256032"/>
            </a:xfrm>
            <a:prstGeom prst="rect">
              <a:avLst/>
            </a:prstGeom>
          </p:spPr>
        </p:pic>
        <p:sp>
          <p:nvSpPr>
            <p:cNvPr id="126" name="Oval 125"/>
            <p:cNvSpPr/>
            <p:nvPr/>
          </p:nvSpPr>
          <p:spPr>
            <a:xfrm>
              <a:off x="8689086" y="3337560"/>
              <a:ext cx="512064" cy="512064"/>
            </a:xfrm>
            <a:prstGeom prst="ellipse">
              <a:avLst/>
            </a:prstGeom>
            <a:solidFill>
              <a:srgbClr val="31D6C9"/>
            </a:solidFill>
            <a:ln>
              <a:noFill/>
            </a:ln>
          </p:spPr>
          <p:txBody>
            <a:bodyPr rtlCol="0" anchor="ctr"/>
            <a:lstStyle/>
            <a:p>
              <a:pPr algn="ctr"/>
              <a:endParaRPr/>
            </a:p>
          </p:txBody>
        </p:sp>
        <p:pic>
          <p:nvPicPr>
            <p:cNvPr id="127" name="Picture 126" descr="FaTowerBroadcast_navy.png"/>
            <p:cNvPicPr>
              <a:picLocks noChangeAspect="1"/>
            </p:cNvPicPr>
            <p:nvPr/>
          </p:nvPicPr>
          <p:blipFill>
            <a:blip r:embed="rId7"/>
            <a:stretch>
              <a:fillRect/>
            </a:stretch>
          </p:blipFill>
          <p:spPr>
            <a:xfrm>
              <a:off x="8817102" y="3465576"/>
              <a:ext cx="256032" cy="256032"/>
            </a:xfrm>
            <a:prstGeom prst="rect">
              <a:avLst/>
            </a:prstGeom>
          </p:spPr>
        </p:pic>
        <p:sp>
          <p:nvSpPr>
            <p:cNvPr id="128" name="Oval 127"/>
            <p:cNvSpPr/>
            <p:nvPr/>
          </p:nvSpPr>
          <p:spPr>
            <a:xfrm>
              <a:off x="10424160" y="2990088"/>
              <a:ext cx="512064" cy="512064"/>
            </a:xfrm>
            <a:prstGeom prst="ellipse">
              <a:avLst/>
            </a:prstGeom>
            <a:solidFill>
              <a:srgbClr val="0B1E3D"/>
            </a:solidFill>
            <a:ln>
              <a:noFill/>
            </a:ln>
          </p:spPr>
          <p:txBody>
            <a:bodyPr rtlCol="0" anchor="ctr"/>
            <a:lstStyle/>
            <a:p>
              <a:pPr algn="ctr"/>
              <a:endParaRPr/>
            </a:p>
          </p:txBody>
        </p:sp>
        <p:pic>
          <p:nvPicPr>
            <p:cNvPr id="129" name="Picture 128" descr="FaMobileScreenButton_white.png"/>
            <p:cNvPicPr>
              <a:picLocks noChangeAspect="1"/>
            </p:cNvPicPr>
            <p:nvPr/>
          </p:nvPicPr>
          <p:blipFill>
            <a:blip r:embed="rId8"/>
            <a:stretch>
              <a:fillRect/>
            </a:stretch>
          </p:blipFill>
          <p:spPr>
            <a:xfrm>
              <a:off x="10552176" y="3118104"/>
              <a:ext cx="256032" cy="256032"/>
            </a:xfrm>
            <a:prstGeom prst="rect">
              <a:avLst/>
            </a:prstGeom>
          </p:spPr>
        </p:pic>
        <p:sp>
          <p:nvSpPr>
            <p:cNvPr id="130" name="Oval 129"/>
            <p:cNvSpPr/>
            <p:nvPr/>
          </p:nvSpPr>
          <p:spPr>
            <a:xfrm>
              <a:off x="10424160" y="3675887"/>
              <a:ext cx="512064" cy="512064"/>
            </a:xfrm>
            <a:prstGeom prst="ellipse">
              <a:avLst/>
            </a:prstGeom>
            <a:solidFill>
              <a:srgbClr val="0B1E3D"/>
            </a:solidFill>
            <a:ln>
              <a:noFill/>
            </a:ln>
          </p:spPr>
          <p:txBody>
            <a:bodyPr rtlCol="0" anchor="ctr"/>
            <a:lstStyle/>
            <a:p>
              <a:pPr algn="ctr"/>
              <a:endParaRPr/>
            </a:p>
          </p:txBody>
        </p:sp>
        <p:pic>
          <p:nvPicPr>
            <p:cNvPr id="131" name="Picture 130" descr="FaChartLine_white.png"/>
            <p:cNvPicPr>
              <a:picLocks noChangeAspect="1"/>
            </p:cNvPicPr>
            <p:nvPr/>
          </p:nvPicPr>
          <p:blipFill>
            <a:blip r:embed="rId9"/>
            <a:stretch>
              <a:fillRect/>
            </a:stretch>
          </p:blipFill>
          <p:spPr>
            <a:xfrm>
              <a:off x="10552176" y="3803904"/>
              <a:ext cx="256032" cy="256032"/>
            </a:xfrm>
            <a:prstGeom prst="rect">
              <a:avLst/>
            </a:prstGeom>
          </p:spPr>
        </p:pic>
        <p:cxnSp>
          <p:nvCxnSpPr>
            <p:cNvPr id="132" name="Connector 131"/>
            <p:cNvCxnSpPr/>
            <p:nvPr/>
          </p:nvCxnSpPr>
          <p:spPr>
            <a:xfrm>
              <a:off x="7530083" y="3593592"/>
              <a:ext cx="1140715" cy="0"/>
            </a:xfrm>
            <a:prstGeom prst="line">
              <a:avLst/>
            </a:prstGeom>
            <a:ln w="25400">
              <a:solidFill>
                <a:srgbClr val="12B5A8"/>
              </a:solidFill>
              <a:tailEnd type="triangle" w="med" len="med"/>
            </a:ln>
          </p:spPr>
        </p:cxnSp>
        <p:cxnSp>
          <p:nvCxnSpPr>
            <p:cNvPr id="133" name="Connector 132"/>
            <p:cNvCxnSpPr/>
            <p:nvPr/>
          </p:nvCxnSpPr>
          <p:spPr>
            <a:xfrm flipV="1">
              <a:off x="9219438" y="3291840"/>
              <a:ext cx="1140714" cy="228600"/>
            </a:xfrm>
            <a:prstGeom prst="line">
              <a:avLst/>
            </a:prstGeom>
            <a:ln w="22225">
              <a:solidFill>
                <a:srgbClr val="12B5A8"/>
              </a:solidFill>
              <a:tailEnd type="triangle" w="med" len="med"/>
            </a:ln>
          </p:spPr>
        </p:cxnSp>
        <p:cxnSp>
          <p:nvCxnSpPr>
            <p:cNvPr id="134" name="Connector 133"/>
            <p:cNvCxnSpPr/>
            <p:nvPr/>
          </p:nvCxnSpPr>
          <p:spPr>
            <a:xfrm>
              <a:off x="9219438" y="3666744"/>
              <a:ext cx="1140714" cy="237744"/>
            </a:xfrm>
            <a:prstGeom prst="line">
              <a:avLst/>
            </a:prstGeom>
            <a:ln w="22225">
              <a:solidFill>
                <a:srgbClr val="12B5A8"/>
              </a:solidFill>
              <a:tailEnd type="triangle" w="med" len="med"/>
            </a:ln>
          </p:spPr>
        </p:cxnSp>
        <p:sp>
          <p:nvSpPr>
            <p:cNvPr id="135" name="TextBox 134"/>
            <p:cNvSpPr txBox="1"/>
            <p:nvPr/>
          </p:nvSpPr>
          <p:spPr>
            <a:xfrm>
              <a:off x="6752844" y="2807208"/>
              <a:ext cx="4384548" cy="201168"/>
            </a:xfrm>
            <a:prstGeom prst="rect">
              <a:avLst/>
            </a:prstGeom>
            <a:noFill/>
          </p:spPr>
          <p:txBody>
            <a:bodyPr wrap="square" lIns="0" tIns="0" rIns="0" bIns="0" anchor="t">
              <a:noAutofit/>
            </a:bodyPr>
            <a:lstStyle/>
            <a:p>
              <a:pPr algn="ctr"/>
              <a:r>
                <a:rPr sz="1050" b="0" i="0">
                  <a:solidFill>
                    <a:srgbClr val="0B7F77"/>
                  </a:solidFill>
                  <a:latin typeface="Calibri"/>
                </a:rPr>
                <a:t>publish</a:t>
              </a:r>
            </a:p>
          </p:txBody>
        </p:sp>
        <p:sp>
          <p:nvSpPr>
            <p:cNvPr id="136" name="TextBox 135"/>
            <p:cNvSpPr txBox="1"/>
            <p:nvPr/>
          </p:nvSpPr>
          <p:spPr>
            <a:xfrm>
              <a:off x="9902952" y="2807208"/>
              <a:ext cx="1371600" cy="201168"/>
            </a:xfrm>
            <a:prstGeom prst="rect">
              <a:avLst/>
            </a:prstGeom>
            <a:noFill/>
          </p:spPr>
          <p:txBody>
            <a:bodyPr wrap="square" lIns="0" tIns="0" rIns="0" bIns="0" anchor="t">
              <a:noAutofit/>
            </a:bodyPr>
            <a:lstStyle/>
            <a:p>
              <a:pPr algn="ctr"/>
              <a:r>
                <a:rPr sz="1050" b="0" i="0">
                  <a:solidFill>
                    <a:srgbClr val="0B7F77"/>
                  </a:solidFill>
                  <a:latin typeface="Calibri"/>
                </a:rPr>
                <a:t>subscribers</a:t>
              </a:r>
            </a:p>
          </p:txBody>
        </p:sp>
      </p:grpSp>
      <p:sp>
        <p:nvSpPr>
          <p:cNvPr id="137" name="TextBox 136"/>
          <p:cNvSpPr txBox="1"/>
          <p:nvPr/>
        </p:nvSpPr>
        <p:spPr>
          <a:xfrm>
            <a:off x="6524244" y="4343400"/>
            <a:ext cx="4841748" cy="914400"/>
          </a:xfrm>
          <a:prstGeom prst="rect">
            <a:avLst/>
          </a:prstGeom>
          <a:noFill/>
        </p:spPr>
        <p:txBody>
          <a:bodyPr wrap="square" lIns="0" tIns="0" rIns="0" bIns="0" anchor="t">
            <a:noAutofit/>
          </a:bodyPr>
          <a:lstStyle/>
          <a:p>
            <a:pPr marL="173736" indent="-173736" algn="l">
              <a:spcAft>
                <a:spcPts val="400"/>
              </a:spcAft>
              <a:buClr>
                <a:srgbClr val="12B5A8"/>
              </a:buClr>
              <a:buFont typeface="Arial"/>
              <a:buChar char="•"/>
            </a:pPr>
            <a:r>
              <a:rPr sz="1400" b="0" i="0" dirty="0">
                <a:solidFill>
                  <a:srgbClr val="10192B"/>
                </a:solidFill>
                <a:latin typeface="Calibri"/>
              </a:rPr>
              <a:t>Publishes to a topic; broker fans it out</a:t>
            </a:r>
          </a:p>
          <a:p>
            <a:pPr marL="173736" indent="-173736" algn="l">
              <a:spcAft>
                <a:spcPts val="400"/>
              </a:spcAft>
              <a:buClr>
                <a:srgbClr val="12B5A8"/>
              </a:buClr>
              <a:buFont typeface="Arial"/>
              <a:buChar char="•"/>
            </a:pPr>
            <a:r>
              <a:rPr sz="1400" b="0" i="0" dirty="0">
                <a:solidFill>
                  <a:srgbClr val="10192B"/>
                </a:solidFill>
                <a:latin typeface="Calibri"/>
              </a:rPr>
              <a:t>No polling: subscribers get it instantly</a:t>
            </a:r>
          </a:p>
          <a:p>
            <a:pPr marL="173736" indent="-173736" algn="l">
              <a:spcAft>
                <a:spcPts val="400"/>
              </a:spcAft>
              <a:buClr>
                <a:srgbClr val="12B5A8"/>
              </a:buClr>
              <a:buFont typeface="Arial"/>
              <a:buChar char="•"/>
            </a:pPr>
            <a:r>
              <a:rPr sz="1400" b="0" i="0" dirty="0">
                <a:solidFill>
                  <a:srgbClr val="10192B"/>
                </a:solidFill>
                <a:latin typeface="Calibri"/>
              </a:rPr>
              <a:t>Tiny packets, </a:t>
            </a:r>
            <a:r>
              <a:rPr sz="1400" b="1" i="0" dirty="0">
                <a:solidFill>
                  <a:srgbClr val="10192B"/>
                </a:solidFill>
                <a:latin typeface="Calibri"/>
              </a:rPr>
              <a:t>built for IoT</a:t>
            </a:r>
          </a:p>
        </p:txBody>
      </p:sp>
      <p:sp>
        <p:nvSpPr>
          <p:cNvPr id="138" name="TextBox 137"/>
          <p:cNvSpPr txBox="1"/>
          <p:nvPr/>
        </p:nvSpPr>
        <p:spPr>
          <a:xfrm>
            <a:off x="6524244" y="5193792"/>
            <a:ext cx="4841748" cy="201168"/>
          </a:xfrm>
          <a:prstGeom prst="rect">
            <a:avLst/>
          </a:prstGeom>
          <a:noFill/>
        </p:spPr>
        <p:txBody>
          <a:bodyPr wrap="square" lIns="0" tIns="0" rIns="0" bIns="0" anchor="t">
            <a:noAutofit/>
          </a:bodyPr>
          <a:lstStyle/>
          <a:p>
            <a:pPr algn="l"/>
            <a:r>
              <a:rPr sz="1100" b="1" i="0" spc="150">
                <a:solidFill>
                  <a:srgbClr val="5B6B82"/>
                </a:solidFill>
                <a:latin typeface="Calibri"/>
              </a:rPr>
              <a:t>USED FOR</a:t>
            </a:r>
          </a:p>
        </p:txBody>
      </p:sp>
      <p:sp>
        <p:nvSpPr>
          <p:cNvPr id="139" name="TextBox 138"/>
          <p:cNvSpPr txBox="1"/>
          <p:nvPr/>
        </p:nvSpPr>
        <p:spPr>
          <a:xfrm>
            <a:off x="6524244" y="5394960"/>
            <a:ext cx="4841748" cy="365760"/>
          </a:xfrm>
          <a:prstGeom prst="rect">
            <a:avLst/>
          </a:prstGeom>
          <a:noFill/>
        </p:spPr>
        <p:txBody>
          <a:bodyPr wrap="square" lIns="0" tIns="0" rIns="0" bIns="0" anchor="t">
            <a:noAutofit/>
          </a:bodyPr>
          <a:lstStyle/>
          <a:p>
            <a:pPr algn="l"/>
            <a:r>
              <a:rPr sz="1350" b="0" i="0">
                <a:solidFill>
                  <a:srgbClr val="10192B"/>
                </a:solidFill>
                <a:latin typeface="Calibri"/>
              </a:rPr>
              <a:t>Live dashboards, home-automation triggers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C07799-43B7-2B96-4F2E-68E26EAE350E}"/>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35E52D-85D7-8EA3-E210-38165D742C31}"/>
              </a:ext>
            </a:extLst>
          </p:cNvPr>
          <p:cNvSpPr txBox="1"/>
          <p:nvPr/>
        </p:nvSpPr>
        <p:spPr>
          <a:xfrm>
            <a:off x="569885" y="270302"/>
            <a:ext cx="1174424" cy="415498"/>
          </a:xfrm>
          <a:prstGeom prst="rect">
            <a:avLst/>
          </a:prstGeom>
          <a:noFill/>
        </p:spPr>
        <p:txBody>
          <a:bodyPr wrap="none" lIns="0" tIns="0" rIns="0" bIns="0" anchor="t">
            <a:spAutoFit/>
          </a:bodyPr>
          <a:lstStyle/>
          <a:p>
            <a:pPr algn="l"/>
            <a:r>
              <a:rPr lang="en-IN" sz="2700" b="1" i="0" u="none" dirty="0">
                <a:solidFill>
                  <a:srgbClr val="0F172A"/>
                </a:solidFill>
                <a:latin typeface="Plus Jakarta Sans"/>
              </a:rPr>
              <a:t>1.  HTTP</a:t>
            </a:r>
            <a:endParaRPr sz="2700" b="1" i="0" u="none" dirty="0">
              <a:solidFill>
                <a:srgbClr val="0F172A"/>
              </a:solidFill>
              <a:latin typeface="Plus Jakarta Sans"/>
            </a:endParaRPr>
          </a:p>
        </p:txBody>
      </p:sp>
      <p:pic>
        <p:nvPicPr>
          <p:cNvPr id="6" name="Picture 5">
            <a:extLst>
              <a:ext uri="{FF2B5EF4-FFF2-40B4-BE49-F238E27FC236}">
                <a16:creationId xmlns:a16="http://schemas.microsoft.com/office/drawing/2014/main" id="{866FC059-1E7F-89C5-0272-374FCB614FB6}"/>
              </a:ext>
            </a:extLst>
          </p:cNvPr>
          <p:cNvPicPr>
            <a:picLocks noChangeAspect="1"/>
          </p:cNvPicPr>
          <p:nvPr/>
        </p:nvPicPr>
        <p:blipFill>
          <a:blip r:embed="rId2"/>
          <a:srcRect t="16250"/>
          <a:stretch>
            <a:fillRect/>
          </a:stretch>
        </p:blipFill>
        <p:spPr>
          <a:xfrm>
            <a:off x="569885" y="913723"/>
            <a:ext cx="6686746" cy="3771743"/>
          </a:xfrm>
          <a:prstGeom prst="rect">
            <a:avLst/>
          </a:prstGeom>
        </p:spPr>
      </p:pic>
      <p:sp>
        <p:nvSpPr>
          <p:cNvPr id="7" name="TextBox 6">
            <a:extLst>
              <a:ext uri="{FF2B5EF4-FFF2-40B4-BE49-F238E27FC236}">
                <a16:creationId xmlns:a16="http://schemas.microsoft.com/office/drawing/2014/main" id="{B2C0A90D-1A3C-3ADB-E8D7-F769B6E8A3D9}"/>
              </a:ext>
            </a:extLst>
          </p:cNvPr>
          <p:cNvSpPr txBox="1"/>
          <p:nvPr/>
        </p:nvSpPr>
        <p:spPr>
          <a:xfrm>
            <a:off x="8825810" y="2946390"/>
            <a:ext cx="2796305" cy="369332"/>
          </a:xfrm>
          <a:prstGeom prst="rect">
            <a:avLst/>
          </a:prstGeom>
          <a:noFill/>
        </p:spPr>
        <p:txBody>
          <a:bodyPr wrap="square" rtlCol="0">
            <a:spAutoFit/>
          </a:bodyPr>
          <a:lstStyle/>
          <a:p>
            <a:r>
              <a:rPr lang="en-IN" dirty="0"/>
              <a:t>HTTP status codes</a:t>
            </a:r>
          </a:p>
        </p:txBody>
      </p:sp>
      <p:graphicFrame>
        <p:nvGraphicFramePr>
          <p:cNvPr id="9" name="Table 8">
            <a:extLst>
              <a:ext uri="{FF2B5EF4-FFF2-40B4-BE49-F238E27FC236}">
                <a16:creationId xmlns:a16="http://schemas.microsoft.com/office/drawing/2014/main" id="{7FE86E01-CE70-C553-1212-2A97FE876986}"/>
              </a:ext>
            </a:extLst>
          </p:cNvPr>
          <p:cNvGraphicFramePr>
            <a:graphicFrameLocks noGrp="1"/>
          </p:cNvGraphicFramePr>
          <p:nvPr>
            <p:extLst>
              <p:ext uri="{D42A27DB-BD31-4B8C-83A1-F6EECF244321}">
                <p14:modId xmlns:p14="http://schemas.microsoft.com/office/powerpoint/2010/main" val="2361265497"/>
              </p:ext>
            </p:extLst>
          </p:nvPr>
        </p:nvGraphicFramePr>
        <p:xfrm>
          <a:off x="8021053" y="3315722"/>
          <a:ext cx="3971250" cy="2225040"/>
        </p:xfrm>
        <a:graphic>
          <a:graphicData uri="http://schemas.openxmlformats.org/drawingml/2006/table">
            <a:tbl>
              <a:tblPr firstRow="1" bandRow="1">
                <a:tableStyleId>{5C22544A-7EE6-4342-B048-85BDC9FD1C3A}</a:tableStyleId>
              </a:tblPr>
              <a:tblGrid>
                <a:gridCol w="1976036">
                  <a:extLst>
                    <a:ext uri="{9D8B030D-6E8A-4147-A177-3AD203B41FA5}">
                      <a16:colId xmlns:a16="http://schemas.microsoft.com/office/drawing/2014/main" val="2616933152"/>
                    </a:ext>
                  </a:extLst>
                </a:gridCol>
                <a:gridCol w="1995214">
                  <a:extLst>
                    <a:ext uri="{9D8B030D-6E8A-4147-A177-3AD203B41FA5}">
                      <a16:colId xmlns:a16="http://schemas.microsoft.com/office/drawing/2014/main" val="994870855"/>
                    </a:ext>
                  </a:extLst>
                </a:gridCol>
              </a:tblGrid>
              <a:tr h="370840">
                <a:tc>
                  <a:txBody>
                    <a:bodyPr/>
                    <a:lstStyle/>
                    <a:p>
                      <a:r>
                        <a:rPr lang="en-IN" dirty="0"/>
                        <a:t>Range</a:t>
                      </a:r>
                    </a:p>
                  </a:txBody>
                  <a:tcPr/>
                </a:tc>
                <a:tc>
                  <a:txBody>
                    <a:bodyPr/>
                    <a:lstStyle/>
                    <a:p>
                      <a:r>
                        <a:rPr lang="en-IN" dirty="0"/>
                        <a:t>Concept </a:t>
                      </a:r>
                    </a:p>
                  </a:txBody>
                  <a:tcPr/>
                </a:tc>
                <a:extLst>
                  <a:ext uri="{0D108BD9-81ED-4DB2-BD59-A6C34878D82A}">
                    <a16:rowId xmlns:a16="http://schemas.microsoft.com/office/drawing/2014/main" val="348267810"/>
                  </a:ext>
                </a:extLst>
              </a:tr>
              <a:tr h="370840">
                <a:tc>
                  <a:txBody>
                    <a:bodyPr/>
                    <a:lstStyle/>
                    <a:p>
                      <a:r>
                        <a:rPr lang="en-IN" dirty="0"/>
                        <a:t>1xx</a:t>
                      </a:r>
                    </a:p>
                  </a:txBody>
                  <a:tcPr/>
                </a:tc>
                <a:tc>
                  <a:txBody>
                    <a:bodyPr/>
                    <a:lstStyle/>
                    <a:p>
                      <a:r>
                        <a:rPr lang="en-IN" dirty="0"/>
                        <a:t>Informational</a:t>
                      </a:r>
                    </a:p>
                  </a:txBody>
                  <a:tcPr/>
                </a:tc>
                <a:extLst>
                  <a:ext uri="{0D108BD9-81ED-4DB2-BD59-A6C34878D82A}">
                    <a16:rowId xmlns:a16="http://schemas.microsoft.com/office/drawing/2014/main" val="561184804"/>
                  </a:ext>
                </a:extLst>
              </a:tr>
              <a:tr h="370840">
                <a:tc>
                  <a:txBody>
                    <a:bodyPr/>
                    <a:lstStyle/>
                    <a:p>
                      <a:r>
                        <a:rPr lang="en-IN" dirty="0"/>
                        <a:t>2xx</a:t>
                      </a:r>
                    </a:p>
                  </a:txBody>
                  <a:tcPr/>
                </a:tc>
                <a:tc>
                  <a:txBody>
                    <a:bodyPr/>
                    <a:lstStyle/>
                    <a:p>
                      <a:r>
                        <a:rPr lang="en-IN" dirty="0"/>
                        <a:t>Success</a:t>
                      </a:r>
                    </a:p>
                  </a:txBody>
                  <a:tcPr/>
                </a:tc>
                <a:extLst>
                  <a:ext uri="{0D108BD9-81ED-4DB2-BD59-A6C34878D82A}">
                    <a16:rowId xmlns:a16="http://schemas.microsoft.com/office/drawing/2014/main" val="2680793324"/>
                  </a:ext>
                </a:extLst>
              </a:tr>
              <a:tr h="370840">
                <a:tc>
                  <a:txBody>
                    <a:bodyPr/>
                    <a:lstStyle/>
                    <a:p>
                      <a:r>
                        <a:rPr lang="en-IN" dirty="0"/>
                        <a:t>3xx</a:t>
                      </a:r>
                    </a:p>
                  </a:txBody>
                  <a:tcPr/>
                </a:tc>
                <a:tc>
                  <a:txBody>
                    <a:bodyPr/>
                    <a:lstStyle/>
                    <a:p>
                      <a:r>
                        <a:rPr lang="en-IN" dirty="0"/>
                        <a:t>Redirection</a:t>
                      </a:r>
                    </a:p>
                  </a:txBody>
                  <a:tcPr/>
                </a:tc>
                <a:extLst>
                  <a:ext uri="{0D108BD9-81ED-4DB2-BD59-A6C34878D82A}">
                    <a16:rowId xmlns:a16="http://schemas.microsoft.com/office/drawing/2014/main" val="3664372347"/>
                  </a:ext>
                </a:extLst>
              </a:tr>
              <a:tr h="370840">
                <a:tc>
                  <a:txBody>
                    <a:bodyPr/>
                    <a:lstStyle/>
                    <a:p>
                      <a:r>
                        <a:rPr lang="en-IN" dirty="0"/>
                        <a:t>4xx</a:t>
                      </a:r>
                    </a:p>
                  </a:txBody>
                  <a:tcPr/>
                </a:tc>
                <a:tc>
                  <a:txBody>
                    <a:bodyPr/>
                    <a:lstStyle/>
                    <a:p>
                      <a:r>
                        <a:rPr lang="en-IN" dirty="0"/>
                        <a:t>Client error</a:t>
                      </a:r>
                    </a:p>
                  </a:txBody>
                  <a:tcPr/>
                </a:tc>
                <a:extLst>
                  <a:ext uri="{0D108BD9-81ED-4DB2-BD59-A6C34878D82A}">
                    <a16:rowId xmlns:a16="http://schemas.microsoft.com/office/drawing/2014/main" val="2455236951"/>
                  </a:ext>
                </a:extLst>
              </a:tr>
              <a:tr h="370840">
                <a:tc>
                  <a:txBody>
                    <a:bodyPr/>
                    <a:lstStyle/>
                    <a:p>
                      <a:r>
                        <a:rPr lang="en-IN" dirty="0"/>
                        <a:t>5xx</a:t>
                      </a:r>
                    </a:p>
                  </a:txBody>
                  <a:tcPr/>
                </a:tc>
                <a:tc>
                  <a:txBody>
                    <a:bodyPr/>
                    <a:lstStyle/>
                    <a:p>
                      <a:r>
                        <a:rPr lang="en-IN" dirty="0"/>
                        <a:t>Server error</a:t>
                      </a:r>
                    </a:p>
                  </a:txBody>
                  <a:tcPr/>
                </a:tc>
                <a:extLst>
                  <a:ext uri="{0D108BD9-81ED-4DB2-BD59-A6C34878D82A}">
                    <a16:rowId xmlns:a16="http://schemas.microsoft.com/office/drawing/2014/main" val="2989957187"/>
                  </a:ext>
                </a:extLst>
              </a:tr>
            </a:tbl>
          </a:graphicData>
        </a:graphic>
      </p:graphicFrame>
    </p:spTree>
    <p:extLst>
      <p:ext uri="{BB962C8B-B14F-4D97-AF65-F5344CB8AC3E}">
        <p14:creationId xmlns:p14="http://schemas.microsoft.com/office/powerpoint/2010/main" val="11492496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5BF4A42-DF40-5042-D7A7-430710901790}"/>
              </a:ext>
            </a:extLst>
          </p:cNvPr>
          <p:cNvPicPr>
            <a:picLocks noChangeAspect="1"/>
          </p:cNvPicPr>
          <p:nvPr/>
        </p:nvPicPr>
        <p:blipFill>
          <a:blip r:embed="rId2"/>
          <a:stretch>
            <a:fillRect/>
          </a:stretch>
        </p:blipFill>
        <p:spPr>
          <a:xfrm>
            <a:off x="1226584" y="237023"/>
            <a:ext cx="9738831" cy="6383953"/>
          </a:xfrm>
          <a:prstGeom prst="rect">
            <a:avLst/>
          </a:prstGeom>
        </p:spPr>
      </p:pic>
    </p:spTree>
    <p:extLst>
      <p:ext uri="{BB962C8B-B14F-4D97-AF65-F5344CB8AC3E}">
        <p14:creationId xmlns:p14="http://schemas.microsoft.com/office/powerpoint/2010/main" val="25060802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3EB55-A321-0550-490C-B4A7EDC0D1A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7A7BCD4-476F-DE8D-A94E-00D9FF44D5FE}"/>
              </a:ext>
            </a:extLst>
          </p:cNvPr>
          <p:cNvSpPr txBox="1"/>
          <p:nvPr/>
        </p:nvSpPr>
        <p:spPr>
          <a:xfrm>
            <a:off x="569885" y="270302"/>
            <a:ext cx="7306103" cy="430887"/>
          </a:xfrm>
          <a:prstGeom prst="rect">
            <a:avLst/>
          </a:prstGeom>
          <a:noFill/>
        </p:spPr>
        <p:txBody>
          <a:bodyPr wrap="none" lIns="0" tIns="0" rIns="0" bIns="0" anchor="t">
            <a:spAutoFit/>
          </a:bodyPr>
          <a:lstStyle/>
          <a:p>
            <a:r>
              <a:rPr lang="en-IN" sz="2700" b="1" dirty="0">
                <a:solidFill>
                  <a:srgbClr val="0F172A"/>
                </a:solidFill>
                <a:latin typeface="Plus Jakarta Sans"/>
              </a:rPr>
              <a:t>2</a:t>
            </a:r>
            <a:r>
              <a:rPr lang="en-IN" sz="2700" b="1" i="0" u="none" dirty="0">
                <a:solidFill>
                  <a:srgbClr val="0F172A"/>
                </a:solidFill>
                <a:latin typeface="Plus Jakarta Sans"/>
              </a:rPr>
              <a:t>.  </a:t>
            </a:r>
            <a:r>
              <a:rPr lang="en-IN" sz="2700" b="1" dirty="0">
                <a:solidFill>
                  <a:srgbClr val="0F172A"/>
                </a:solidFill>
                <a:latin typeface="Plus Jakarta Sans"/>
              </a:rPr>
              <a:t>MQTT - </a:t>
            </a:r>
            <a:r>
              <a:rPr lang="en-IN" sz="2800" b="1" dirty="0"/>
              <a:t>Message Queuing Telemetry Transport</a:t>
            </a:r>
            <a:endParaRPr sz="2700" b="1" i="0" u="none" dirty="0">
              <a:solidFill>
                <a:srgbClr val="0F172A"/>
              </a:solidFill>
              <a:latin typeface="Plus Jakarta Sans"/>
            </a:endParaRPr>
          </a:p>
        </p:txBody>
      </p:sp>
      <p:pic>
        <p:nvPicPr>
          <p:cNvPr id="3" name="Picture 2">
            <a:extLst>
              <a:ext uri="{FF2B5EF4-FFF2-40B4-BE49-F238E27FC236}">
                <a16:creationId xmlns:a16="http://schemas.microsoft.com/office/drawing/2014/main" id="{CE86A21C-81D9-B9B7-9A9E-310869108BD9}"/>
              </a:ext>
            </a:extLst>
          </p:cNvPr>
          <p:cNvPicPr>
            <a:picLocks noChangeAspect="1"/>
          </p:cNvPicPr>
          <p:nvPr/>
        </p:nvPicPr>
        <p:blipFill>
          <a:blip r:embed="rId2"/>
          <a:stretch>
            <a:fillRect/>
          </a:stretch>
        </p:blipFill>
        <p:spPr>
          <a:xfrm>
            <a:off x="870979" y="872831"/>
            <a:ext cx="10450042" cy="5714867"/>
          </a:xfrm>
          <a:prstGeom prst="rect">
            <a:avLst/>
          </a:prstGeom>
        </p:spPr>
      </p:pic>
    </p:spTree>
    <p:extLst>
      <p:ext uri="{BB962C8B-B14F-4D97-AF65-F5344CB8AC3E}">
        <p14:creationId xmlns:p14="http://schemas.microsoft.com/office/powerpoint/2010/main" val="3357041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3133725"/>
            <a:ext cx="1893540" cy="1247775"/>
          </a:xfrm>
          <a:prstGeom prst="roundRect">
            <a:avLst>
              <a:gd name="adj" fmla="val 916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2884140" y="3143250"/>
            <a:ext cx="1874490" cy="1228725"/>
          </a:xfrm>
          <a:prstGeom prst="roundRect">
            <a:avLst>
              <a:gd name="adj" fmla="val 9302"/>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5139630" y="3133725"/>
            <a:ext cx="1893540" cy="1247775"/>
          </a:xfrm>
          <a:prstGeom prst="roundRect">
            <a:avLst>
              <a:gd name="adj" fmla="val 916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414170" y="3133725"/>
            <a:ext cx="1893540" cy="1247775"/>
          </a:xfrm>
          <a:prstGeom prst="roundRect">
            <a:avLst>
              <a:gd name="adj" fmla="val 916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688710" y="3133725"/>
            <a:ext cx="1893540" cy="1247775"/>
          </a:xfrm>
          <a:prstGeom prst="roundRect">
            <a:avLst>
              <a:gd name="adj" fmla="val 9160"/>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1384845" y="3333750"/>
            <a:ext cx="342900" cy="342900"/>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649860" y="3333750"/>
            <a:ext cx="342900" cy="342900"/>
          </a:xfrm>
          <a:prstGeom prst="roundRect">
            <a:avLst>
              <a:gd name="adj" fmla="val 50000"/>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5914876" y="3333750"/>
            <a:ext cx="342900" cy="342900"/>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8189416" y="3333750"/>
            <a:ext cx="342900" cy="342900"/>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10463956" y="3333750"/>
            <a:ext cx="342900" cy="342900"/>
          </a:xfrm>
          <a:prstGeom prst="roundRect">
            <a:avLst>
              <a:gd name="adj" fmla="val 50000"/>
            </a:avLst>
          </a:prstGeom>
          <a:solidFill>
            <a:srgbClr val="F3E8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image.png"/>
          <p:cNvPicPr>
            <a:picLocks noChangeAspect="1"/>
          </p:cNvPicPr>
          <p:nvPr/>
        </p:nvPicPr>
        <p:blipFill>
          <a:blip r:embed="rId2"/>
          <a:stretch>
            <a:fillRect/>
          </a:stretch>
        </p:blipFill>
        <p:spPr>
          <a:xfrm>
            <a:off x="2617440" y="3671887"/>
            <a:ext cx="152400" cy="171450"/>
          </a:xfrm>
          <a:prstGeom prst="rect">
            <a:avLst/>
          </a:prstGeom>
        </p:spPr>
      </p:pic>
      <p:pic>
        <p:nvPicPr>
          <p:cNvPr id="13" name="Picture 12" descr="image.png"/>
          <p:cNvPicPr>
            <a:picLocks noChangeAspect="1"/>
          </p:cNvPicPr>
          <p:nvPr/>
        </p:nvPicPr>
        <p:blipFill>
          <a:blip r:embed="rId2"/>
          <a:stretch>
            <a:fillRect/>
          </a:stretch>
        </p:blipFill>
        <p:spPr>
          <a:xfrm>
            <a:off x="4872930" y="3671887"/>
            <a:ext cx="152400" cy="171450"/>
          </a:xfrm>
          <a:prstGeom prst="rect">
            <a:avLst/>
          </a:prstGeom>
        </p:spPr>
      </p:pic>
      <p:pic>
        <p:nvPicPr>
          <p:cNvPr id="14" name="Picture 13" descr="image.png"/>
          <p:cNvPicPr>
            <a:picLocks noChangeAspect="1"/>
          </p:cNvPicPr>
          <p:nvPr/>
        </p:nvPicPr>
        <p:blipFill>
          <a:blip r:embed="rId3"/>
          <a:stretch>
            <a:fillRect/>
          </a:stretch>
        </p:blipFill>
        <p:spPr>
          <a:xfrm>
            <a:off x="7147470" y="3671887"/>
            <a:ext cx="152400" cy="171450"/>
          </a:xfrm>
          <a:prstGeom prst="rect">
            <a:avLst/>
          </a:prstGeom>
        </p:spPr>
      </p:pic>
      <p:pic>
        <p:nvPicPr>
          <p:cNvPr id="15" name="Picture 14" descr="image.png"/>
          <p:cNvPicPr>
            <a:picLocks noChangeAspect="1"/>
          </p:cNvPicPr>
          <p:nvPr/>
        </p:nvPicPr>
        <p:blipFill>
          <a:blip r:embed="rId3"/>
          <a:stretch>
            <a:fillRect/>
          </a:stretch>
        </p:blipFill>
        <p:spPr>
          <a:xfrm>
            <a:off x="9422010" y="3671887"/>
            <a:ext cx="152400" cy="171450"/>
          </a:xfrm>
          <a:prstGeom prst="rect">
            <a:avLst/>
          </a:prstGeom>
        </p:spPr>
      </p:pic>
      <p:sp>
        <p:nvSpPr>
          <p:cNvPr id="16" name="TextBox 15"/>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Plus Jakarta Sans"/>
              </a:rPr>
              <a:t>SYSTEM INTEGRATION</a:t>
            </a:r>
          </a:p>
        </p:txBody>
      </p:sp>
      <p:sp>
        <p:nvSpPr>
          <p:cNvPr id="17" name="TextBox 16"/>
          <p:cNvSpPr txBox="1"/>
          <p:nvPr/>
        </p:nvSpPr>
        <p:spPr>
          <a:xfrm>
            <a:off x="609600" y="685800"/>
            <a:ext cx="11582400" cy="428625"/>
          </a:xfrm>
          <a:prstGeom prst="rect">
            <a:avLst/>
          </a:prstGeom>
          <a:noFill/>
        </p:spPr>
        <p:txBody>
          <a:bodyPr wrap="none" lIns="0" tIns="0" rIns="0" bIns="0" anchor="t">
            <a:spAutoFit/>
          </a:bodyPr>
          <a:lstStyle/>
          <a:p>
            <a:pPr algn="l"/>
            <a:r>
              <a:rPr sz="2700" b="1" i="0" u="none">
                <a:solidFill>
                  <a:srgbClr val="0F172A"/>
                </a:solidFill>
                <a:latin typeface="Plus Jakarta Sans"/>
              </a:rPr>
              <a:t>End-to-End ESP32 IoT Data Pipeline</a:t>
            </a:r>
          </a:p>
        </p:txBody>
      </p:sp>
      <p:sp>
        <p:nvSpPr>
          <p:cNvPr id="18" name="TextBox 17"/>
          <p:cNvSpPr txBox="1"/>
          <p:nvPr/>
        </p:nvSpPr>
        <p:spPr>
          <a:xfrm>
            <a:off x="1241970" y="3333750"/>
            <a:ext cx="628650" cy="342900"/>
          </a:xfrm>
          <a:prstGeom prst="rect">
            <a:avLst/>
          </a:prstGeom>
          <a:noFill/>
        </p:spPr>
        <p:txBody>
          <a:bodyPr wrap="square" lIns="0" tIns="0" rIns="0" bIns="0" anchor="ctr">
            <a:spAutoFit/>
          </a:bodyPr>
          <a:lstStyle/>
          <a:p>
            <a:pPr algn="ctr"/>
            <a:r>
              <a:rPr sz="1050" b="1" i="0" u="none">
                <a:solidFill>
                  <a:srgbClr val="2563EB"/>
                </a:solidFill>
                <a:latin typeface="Plus Jakarta Sans"/>
              </a:rPr>
              <a:t>1</a:t>
            </a:r>
          </a:p>
        </p:txBody>
      </p:sp>
      <p:sp>
        <p:nvSpPr>
          <p:cNvPr id="19" name="TextBox 18"/>
          <p:cNvSpPr txBox="1"/>
          <p:nvPr/>
        </p:nvSpPr>
        <p:spPr>
          <a:xfrm>
            <a:off x="576267" y="3790950"/>
            <a:ext cx="1960205" cy="200025"/>
          </a:xfrm>
          <a:prstGeom prst="rect">
            <a:avLst/>
          </a:prstGeom>
          <a:noFill/>
        </p:spPr>
        <p:txBody>
          <a:bodyPr wrap="none" lIns="0" tIns="0" rIns="0" bIns="0" anchor="t">
            <a:spAutoFit/>
          </a:bodyPr>
          <a:lstStyle/>
          <a:p>
            <a:pPr algn="ctr"/>
            <a:r>
              <a:rPr sz="1200" b="1" i="0" u="none">
                <a:solidFill>
                  <a:srgbClr val="0F172A"/>
                </a:solidFill>
                <a:latin typeface="Plus Jakarta Sans"/>
              </a:rPr>
              <a:t>Sensors</a:t>
            </a:r>
          </a:p>
        </p:txBody>
      </p:sp>
      <p:sp>
        <p:nvSpPr>
          <p:cNvPr id="20" name="TextBox 19"/>
          <p:cNvSpPr txBox="1"/>
          <p:nvPr/>
        </p:nvSpPr>
        <p:spPr>
          <a:xfrm>
            <a:off x="622938" y="4029075"/>
            <a:ext cx="1866862" cy="152400"/>
          </a:xfrm>
          <a:prstGeom prst="rect">
            <a:avLst/>
          </a:prstGeom>
          <a:noFill/>
        </p:spPr>
        <p:txBody>
          <a:bodyPr wrap="none" lIns="0" tIns="0" rIns="0" bIns="0" anchor="t">
            <a:spAutoFit/>
          </a:bodyPr>
          <a:lstStyle/>
          <a:p>
            <a:pPr algn="ctr"/>
            <a:r>
              <a:rPr sz="975" b="0" i="0" u="none">
                <a:solidFill>
                  <a:srgbClr val="64748B"/>
                </a:solidFill>
                <a:latin typeface="Plus Jakarta Sans"/>
              </a:rPr>
              <a:t>I2C / SPI Bus</a:t>
            </a:r>
          </a:p>
        </p:txBody>
      </p:sp>
      <p:sp>
        <p:nvSpPr>
          <p:cNvPr id="21" name="TextBox 20"/>
          <p:cNvSpPr txBox="1"/>
          <p:nvPr/>
        </p:nvSpPr>
        <p:spPr>
          <a:xfrm>
            <a:off x="3506985" y="3333750"/>
            <a:ext cx="628650" cy="342900"/>
          </a:xfrm>
          <a:prstGeom prst="rect">
            <a:avLst/>
          </a:prstGeom>
          <a:noFill/>
        </p:spPr>
        <p:txBody>
          <a:bodyPr wrap="square" lIns="0" tIns="0" rIns="0" bIns="0" anchor="ctr">
            <a:spAutoFit/>
          </a:bodyPr>
          <a:lstStyle/>
          <a:p>
            <a:pPr algn="ctr"/>
            <a:r>
              <a:rPr sz="1050" b="1" i="0" u="none">
                <a:solidFill>
                  <a:srgbClr val="0F172A"/>
                </a:solidFill>
                <a:latin typeface="Plus Jakarta Sans"/>
              </a:rPr>
              <a:t>2</a:t>
            </a:r>
          </a:p>
        </p:txBody>
      </p:sp>
      <p:sp>
        <p:nvSpPr>
          <p:cNvPr id="22" name="TextBox 21"/>
          <p:cNvSpPr txBox="1"/>
          <p:nvPr/>
        </p:nvSpPr>
        <p:spPr>
          <a:xfrm>
            <a:off x="2841282" y="3790950"/>
            <a:ext cx="1960205" cy="200025"/>
          </a:xfrm>
          <a:prstGeom prst="rect">
            <a:avLst/>
          </a:prstGeom>
          <a:noFill/>
        </p:spPr>
        <p:txBody>
          <a:bodyPr wrap="none" lIns="0" tIns="0" rIns="0" bIns="0" anchor="t">
            <a:spAutoFit/>
          </a:bodyPr>
          <a:lstStyle/>
          <a:p>
            <a:pPr algn="ctr"/>
            <a:r>
              <a:rPr sz="1200" b="1" i="0" u="none">
                <a:solidFill>
                  <a:srgbClr val="FFFFFF"/>
                </a:solidFill>
                <a:latin typeface="Plus Jakarta Sans"/>
              </a:rPr>
              <a:t>ESP32 MCU</a:t>
            </a:r>
          </a:p>
        </p:txBody>
      </p:sp>
      <p:sp>
        <p:nvSpPr>
          <p:cNvPr id="23" name="TextBox 22"/>
          <p:cNvSpPr txBox="1"/>
          <p:nvPr/>
        </p:nvSpPr>
        <p:spPr>
          <a:xfrm>
            <a:off x="2887953" y="4029075"/>
            <a:ext cx="1866862" cy="152400"/>
          </a:xfrm>
          <a:prstGeom prst="rect">
            <a:avLst/>
          </a:prstGeom>
          <a:noFill/>
        </p:spPr>
        <p:txBody>
          <a:bodyPr wrap="none" lIns="0" tIns="0" rIns="0" bIns="0" anchor="t">
            <a:spAutoFit/>
          </a:bodyPr>
          <a:lstStyle/>
          <a:p>
            <a:pPr algn="ctr"/>
            <a:r>
              <a:rPr sz="975" b="0" i="0" u="none">
                <a:solidFill>
                  <a:srgbClr val="94A3B8"/>
                </a:solidFill>
                <a:latin typeface="Plus Jakarta Sans"/>
              </a:rPr>
              <a:t>Processes Data</a:t>
            </a:r>
          </a:p>
        </p:txBody>
      </p:sp>
      <p:sp>
        <p:nvSpPr>
          <p:cNvPr id="24" name="TextBox 23"/>
          <p:cNvSpPr txBox="1"/>
          <p:nvPr/>
        </p:nvSpPr>
        <p:spPr>
          <a:xfrm>
            <a:off x="5772001" y="3333750"/>
            <a:ext cx="628650" cy="342900"/>
          </a:xfrm>
          <a:prstGeom prst="rect">
            <a:avLst/>
          </a:prstGeom>
          <a:noFill/>
        </p:spPr>
        <p:txBody>
          <a:bodyPr wrap="square" lIns="0" tIns="0" rIns="0" bIns="0" anchor="ctr">
            <a:spAutoFit/>
          </a:bodyPr>
          <a:lstStyle/>
          <a:p>
            <a:pPr algn="ctr"/>
            <a:r>
              <a:rPr sz="1050" b="1" i="0" u="none">
                <a:solidFill>
                  <a:srgbClr val="059669"/>
                </a:solidFill>
                <a:latin typeface="Plus Jakarta Sans"/>
              </a:rPr>
              <a:t>3</a:t>
            </a:r>
          </a:p>
        </p:txBody>
      </p:sp>
      <p:sp>
        <p:nvSpPr>
          <p:cNvPr id="25" name="TextBox 24"/>
          <p:cNvSpPr txBox="1"/>
          <p:nvPr/>
        </p:nvSpPr>
        <p:spPr>
          <a:xfrm>
            <a:off x="5106297" y="3790950"/>
            <a:ext cx="1960205" cy="200025"/>
          </a:xfrm>
          <a:prstGeom prst="rect">
            <a:avLst/>
          </a:prstGeom>
          <a:noFill/>
        </p:spPr>
        <p:txBody>
          <a:bodyPr wrap="none" lIns="0" tIns="0" rIns="0" bIns="0" anchor="t">
            <a:spAutoFit/>
          </a:bodyPr>
          <a:lstStyle/>
          <a:p>
            <a:pPr algn="ctr"/>
            <a:r>
              <a:rPr sz="1200" b="1" i="0" u="none">
                <a:solidFill>
                  <a:srgbClr val="0F172A"/>
                </a:solidFill>
                <a:latin typeface="Plus Jakarta Sans"/>
              </a:rPr>
              <a:t>Wi-Fi Link</a:t>
            </a:r>
          </a:p>
        </p:txBody>
      </p:sp>
      <p:sp>
        <p:nvSpPr>
          <p:cNvPr id="26" name="TextBox 25"/>
          <p:cNvSpPr txBox="1"/>
          <p:nvPr/>
        </p:nvSpPr>
        <p:spPr>
          <a:xfrm>
            <a:off x="5152969" y="4029075"/>
            <a:ext cx="1866862" cy="152400"/>
          </a:xfrm>
          <a:prstGeom prst="rect">
            <a:avLst/>
          </a:prstGeom>
          <a:noFill/>
        </p:spPr>
        <p:txBody>
          <a:bodyPr wrap="none" lIns="0" tIns="0" rIns="0" bIns="0" anchor="t">
            <a:spAutoFit/>
          </a:bodyPr>
          <a:lstStyle/>
          <a:p>
            <a:pPr algn="ctr"/>
            <a:r>
              <a:rPr sz="975" b="0" i="0" u="none">
                <a:solidFill>
                  <a:srgbClr val="64748B"/>
                </a:solidFill>
                <a:latin typeface="Plus Jakarta Sans"/>
              </a:rPr>
              <a:t>Local Gateway</a:t>
            </a:r>
          </a:p>
        </p:txBody>
      </p:sp>
      <p:sp>
        <p:nvSpPr>
          <p:cNvPr id="27" name="TextBox 26"/>
          <p:cNvSpPr txBox="1"/>
          <p:nvPr/>
        </p:nvSpPr>
        <p:spPr>
          <a:xfrm>
            <a:off x="8046541" y="3333750"/>
            <a:ext cx="628650" cy="342900"/>
          </a:xfrm>
          <a:prstGeom prst="rect">
            <a:avLst/>
          </a:prstGeom>
          <a:noFill/>
        </p:spPr>
        <p:txBody>
          <a:bodyPr wrap="square" lIns="0" tIns="0" rIns="0" bIns="0" anchor="ctr">
            <a:spAutoFit/>
          </a:bodyPr>
          <a:lstStyle/>
          <a:p>
            <a:pPr algn="ctr"/>
            <a:r>
              <a:rPr sz="1050" b="1" i="0" u="none">
                <a:solidFill>
                  <a:srgbClr val="0F172A"/>
                </a:solidFill>
                <a:latin typeface="Plus Jakarta Sans"/>
              </a:rPr>
              <a:t>4</a:t>
            </a:r>
          </a:p>
        </p:txBody>
      </p:sp>
      <p:sp>
        <p:nvSpPr>
          <p:cNvPr id="28" name="TextBox 27"/>
          <p:cNvSpPr txBox="1"/>
          <p:nvPr/>
        </p:nvSpPr>
        <p:spPr>
          <a:xfrm>
            <a:off x="7380837" y="3790950"/>
            <a:ext cx="1960205" cy="200025"/>
          </a:xfrm>
          <a:prstGeom prst="rect">
            <a:avLst/>
          </a:prstGeom>
          <a:noFill/>
        </p:spPr>
        <p:txBody>
          <a:bodyPr wrap="none" lIns="0" tIns="0" rIns="0" bIns="0" anchor="t">
            <a:spAutoFit/>
          </a:bodyPr>
          <a:lstStyle/>
          <a:p>
            <a:pPr algn="ctr"/>
            <a:r>
              <a:rPr sz="1200" b="1" i="0" u="none">
                <a:solidFill>
                  <a:srgbClr val="0F172A"/>
                </a:solidFill>
                <a:latin typeface="Plus Jakarta Sans"/>
              </a:rPr>
              <a:t>MQTT Broker</a:t>
            </a:r>
          </a:p>
        </p:txBody>
      </p:sp>
      <p:sp>
        <p:nvSpPr>
          <p:cNvPr id="29" name="TextBox 28"/>
          <p:cNvSpPr txBox="1"/>
          <p:nvPr/>
        </p:nvSpPr>
        <p:spPr>
          <a:xfrm>
            <a:off x="7427509" y="4029075"/>
            <a:ext cx="1866862" cy="152400"/>
          </a:xfrm>
          <a:prstGeom prst="rect">
            <a:avLst/>
          </a:prstGeom>
          <a:noFill/>
        </p:spPr>
        <p:txBody>
          <a:bodyPr wrap="none" lIns="0" tIns="0" rIns="0" bIns="0" anchor="t">
            <a:spAutoFit/>
          </a:bodyPr>
          <a:lstStyle/>
          <a:p>
            <a:pPr algn="ctr"/>
            <a:r>
              <a:rPr sz="975" b="0" i="0" u="none">
                <a:solidFill>
                  <a:srgbClr val="64748B"/>
                </a:solidFill>
                <a:latin typeface="Plus Jakarta Sans"/>
              </a:rPr>
              <a:t>Pub/Sub Server</a:t>
            </a:r>
          </a:p>
        </p:txBody>
      </p:sp>
      <p:sp>
        <p:nvSpPr>
          <p:cNvPr id="30" name="TextBox 29"/>
          <p:cNvSpPr txBox="1"/>
          <p:nvPr/>
        </p:nvSpPr>
        <p:spPr>
          <a:xfrm>
            <a:off x="10321081" y="3333750"/>
            <a:ext cx="628650" cy="342900"/>
          </a:xfrm>
          <a:prstGeom prst="rect">
            <a:avLst/>
          </a:prstGeom>
          <a:noFill/>
        </p:spPr>
        <p:txBody>
          <a:bodyPr wrap="square" lIns="0" tIns="0" rIns="0" bIns="0" anchor="ctr">
            <a:spAutoFit/>
          </a:bodyPr>
          <a:lstStyle/>
          <a:p>
            <a:pPr algn="ctr"/>
            <a:r>
              <a:rPr sz="1050" b="1" i="0" u="none">
                <a:solidFill>
                  <a:srgbClr val="9333EA"/>
                </a:solidFill>
                <a:latin typeface="Plus Jakarta Sans"/>
              </a:rPr>
              <a:t>5</a:t>
            </a:r>
          </a:p>
        </p:txBody>
      </p:sp>
      <p:sp>
        <p:nvSpPr>
          <p:cNvPr id="31" name="TextBox 30"/>
          <p:cNvSpPr txBox="1"/>
          <p:nvPr/>
        </p:nvSpPr>
        <p:spPr>
          <a:xfrm>
            <a:off x="9655378" y="3790950"/>
            <a:ext cx="1960205" cy="200025"/>
          </a:xfrm>
          <a:prstGeom prst="rect">
            <a:avLst/>
          </a:prstGeom>
          <a:noFill/>
        </p:spPr>
        <p:txBody>
          <a:bodyPr wrap="none" lIns="0" tIns="0" rIns="0" bIns="0" anchor="t">
            <a:spAutoFit/>
          </a:bodyPr>
          <a:lstStyle/>
          <a:p>
            <a:pPr algn="ctr"/>
            <a:r>
              <a:rPr sz="1200" b="1" i="0" u="none">
                <a:solidFill>
                  <a:srgbClr val="0F172A"/>
                </a:solidFill>
                <a:latin typeface="Plus Jakarta Sans"/>
              </a:rPr>
              <a:t>Phone App</a:t>
            </a:r>
          </a:p>
        </p:txBody>
      </p:sp>
      <p:sp>
        <p:nvSpPr>
          <p:cNvPr id="32" name="TextBox 31"/>
          <p:cNvSpPr txBox="1"/>
          <p:nvPr/>
        </p:nvSpPr>
        <p:spPr>
          <a:xfrm>
            <a:off x="9702049" y="4029075"/>
            <a:ext cx="1866862" cy="152400"/>
          </a:xfrm>
          <a:prstGeom prst="rect">
            <a:avLst/>
          </a:prstGeom>
          <a:noFill/>
        </p:spPr>
        <p:txBody>
          <a:bodyPr wrap="none" lIns="0" tIns="0" rIns="0" bIns="0" anchor="t">
            <a:spAutoFit/>
          </a:bodyPr>
          <a:lstStyle/>
          <a:p>
            <a:pPr algn="ctr"/>
            <a:r>
              <a:rPr sz="975" b="0" i="0" u="none">
                <a:solidFill>
                  <a:srgbClr val="64748B"/>
                </a:solidFill>
                <a:latin typeface="Plus Jakarta Sans"/>
              </a:rPr>
              <a:t>Live Dashboard</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2" name="Rounded Rectangle 1"/>
          <p:cNvSpPr/>
          <p:nvPr/>
        </p:nvSpPr>
        <p:spPr>
          <a:xfrm>
            <a:off x="4305300" y="2419350"/>
            <a:ext cx="7277100" cy="790575"/>
          </a:xfrm>
          <a:prstGeom prst="roundRect">
            <a:avLst>
              <a:gd name="adj" fmla="val 144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05300" y="3362325"/>
            <a:ext cx="7277100" cy="790575"/>
          </a:xfrm>
          <a:prstGeom prst="roundRect">
            <a:avLst>
              <a:gd name="adj" fmla="val 144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4305300" y="4305300"/>
            <a:ext cx="7277100" cy="790575"/>
          </a:xfrm>
          <a:prstGeom prst="roundRect">
            <a:avLst>
              <a:gd name="adj" fmla="val 14457"/>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05900" y="2662237"/>
            <a:ext cx="2238375" cy="304800"/>
          </a:xfrm>
          <a:prstGeom prst="roundRect">
            <a:avLst>
              <a:gd name="adj" fmla="val 25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763000" y="3605212"/>
            <a:ext cx="2581275" cy="304800"/>
          </a:xfrm>
          <a:prstGeom prst="roundRect">
            <a:avLst>
              <a:gd name="adj" fmla="val 25000"/>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91550" y="4548187"/>
            <a:ext cx="2752725" cy="304800"/>
          </a:xfrm>
          <a:prstGeom prst="roundRect">
            <a:avLst>
              <a:gd name="adj" fmla="val 25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609600" y="2424112"/>
            <a:ext cx="3429000" cy="2667000"/>
          </a:xfrm>
          <a:prstGeom prst="rect">
            <a:avLst/>
          </a:prstGeom>
        </p:spPr>
      </p:pic>
      <p:pic>
        <p:nvPicPr>
          <p:cNvPr id="9" name="Picture 8" descr="image.png"/>
          <p:cNvPicPr>
            <a:picLocks noChangeAspect="1"/>
          </p:cNvPicPr>
          <p:nvPr/>
        </p:nvPicPr>
        <p:blipFill>
          <a:blip r:embed="rId3"/>
          <a:stretch>
            <a:fillRect/>
          </a:stretch>
        </p:blipFill>
        <p:spPr>
          <a:xfrm>
            <a:off x="619125" y="2433637"/>
            <a:ext cx="3409950" cy="2647950"/>
          </a:xfrm>
          <a:prstGeom prst="rect">
            <a:avLst/>
          </a:prstGeom>
        </p:spPr>
      </p:pic>
      <p:sp>
        <p:nvSpPr>
          <p:cNvPr id="10" name="TextBox 9"/>
          <p:cNvSpPr txBox="1"/>
          <p:nvPr/>
        </p:nvSpPr>
        <p:spPr>
          <a:xfrm>
            <a:off x="609600" y="457200"/>
            <a:ext cx="11582400" cy="171450"/>
          </a:xfrm>
          <a:prstGeom prst="rect">
            <a:avLst/>
          </a:prstGeom>
          <a:noFill/>
        </p:spPr>
        <p:txBody>
          <a:bodyPr wrap="none" lIns="0" tIns="0" rIns="0" bIns="0" anchor="t">
            <a:spAutoFit/>
          </a:bodyPr>
          <a:lstStyle/>
          <a:p>
            <a:pPr algn="l"/>
            <a:r>
              <a:rPr sz="1050" b="1" i="0" u="none">
                <a:solidFill>
                  <a:srgbClr val="2563EB"/>
                </a:solidFill>
                <a:latin typeface="Plus Jakarta Sans"/>
              </a:rPr>
              <a:t>HARDWARE REFERENCE</a:t>
            </a:r>
          </a:p>
        </p:txBody>
      </p:sp>
      <p:sp>
        <p:nvSpPr>
          <p:cNvPr id="11" name="TextBox 10"/>
          <p:cNvSpPr txBox="1"/>
          <p:nvPr/>
        </p:nvSpPr>
        <p:spPr>
          <a:xfrm>
            <a:off x="609600" y="685800"/>
            <a:ext cx="4381969" cy="415498"/>
          </a:xfrm>
          <a:prstGeom prst="rect">
            <a:avLst/>
          </a:prstGeom>
          <a:noFill/>
        </p:spPr>
        <p:txBody>
          <a:bodyPr wrap="none" lIns="0" tIns="0" rIns="0" bIns="0" anchor="t">
            <a:spAutoFit/>
          </a:bodyPr>
          <a:lstStyle/>
          <a:p>
            <a:pPr algn="l"/>
            <a:r>
              <a:rPr sz="2700" b="1" i="0" u="none" dirty="0">
                <a:solidFill>
                  <a:srgbClr val="0F172A"/>
                </a:solidFill>
                <a:latin typeface="Plus Jakarta Sans"/>
              </a:rPr>
              <a:t>ESP32 Protocol Pin </a:t>
            </a:r>
            <a:r>
              <a:rPr lang="en-IN" sz="2700" b="1" dirty="0" err="1">
                <a:solidFill>
                  <a:srgbClr val="0F172A"/>
                </a:solidFill>
                <a:latin typeface="Plus Jakarta Sans"/>
              </a:rPr>
              <a:t>Cheatsheet</a:t>
            </a:r>
            <a:endParaRPr sz="2700" b="1" i="0" u="none" dirty="0">
              <a:solidFill>
                <a:srgbClr val="0F172A"/>
              </a:solidFill>
              <a:latin typeface="Plus Jakarta Sans"/>
            </a:endParaRPr>
          </a:p>
        </p:txBody>
      </p:sp>
      <p:sp>
        <p:nvSpPr>
          <p:cNvPr id="12" name="TextBox 11"/>
          <p:cNvSpPr txBox="1"/>
          <p:nvPr/>
        </p:nvSpPr>
        <p:spPr>
          <a:xfrm>
            <a:off x="9239250" y="2719387"/>
            <a:ext cx="2066925" cy="190500"/>
          </a:xfrm>
          <a:prstGeom prst="rect">
            <a:avLst/>
          </a:prstGeom>
          <a:noFill/>
        </p:spPr>
        <p:txBody>
          <a:bodyPr wrap="square" lIns="0" tIns="0" rIns="0" bIns="0" anchor="t">
            <a:spAutoFit/>
          </a:bodyPr>
          <a:lstStyle/>
          <a:p>
            <a:pPr algn="l"/>
            <a:r>
              <a:rPr sz="1125" b="1" i="0" u="none">
                <a:solidFill>
                  <a:srgbClr val="2563EB"/>
                </a:solidFill>
                <a:latin typeface="Fira Code"/>
              </a:rPr>
              <a:t>TX: GPIO 1 | RX: GPIO 3</a:t>
            </a:r>
          </a:p>
        </p:txBody>
      </p:sp>
      <p:sp>
        <p:nvSpPr>
          <p:cNvPr id="13" name="TextBox 12"/>
          <p:cNvSpPr txBox="1"/>
          <p:nvPr/>
        </p:nvSpPr>
        <p:spPr>
          <a:xfrm>
            <a:off x="8896350" y="3662362"/>
            <a:ext cx="2409825" cy="190500"/>
          </a:xfrm>
          <a:prstGeom prst="rect">
            <a:avLst/>
          </a:prstGeom>
          <a:noFill/>
        </p:spPr>
        <p:txBody>
          <a:bodyPr wrap="square" lIns="0" tIns="0" rIns="0" bIns="0" anchor="t">
            <a:spAutoFit/>
          </a:bodyPr>
          <a:lstStyle/>
          <a:p>
            <a:pPr algn="l"/>
            <a:r>
              <a:rPr sz="1125" b="1" i="0" u="none">
                <a:solidFill>
                  <a:srgbClr val="0284C7"/>
                </a:solidFill>
                <a:latin typeface="Fira Code"/>
              </a:rPr>
              <a:t>SDA: GPIO 21 | SCL: GPIO 22</a:t>
            </a:r>
          </a:p>
        </p:txBody>
      </p:sp>
      <p:sp>
        <p:nvSpPr>
          <p:cNvPr id="14" name="TextBox 13"/>
          <p:cNvSpPr txBox="1"/>
          <p:nvPr/>
        </p:nvSpPr>
        <p:spPr>
          <a:xfrm>
            <a:off x="8724900" y="4605337"/>
            <a:ext cx="2581275" cy="190500"/>
          </a:xfrm>
          <a:prstGeom prst="rect">
            <a:avLst/>
          </a:prstGeom>
          <a:noFill/>
        </p:spPr>
        <p:txBody>
          <a:bodyPr wrap="square" lIns="0" tIns="0" rIns="0" bIns="0" anchor="t">
            <a:spAutoFit/>
          </a:bodyPr>
          <a:lstStyle/>
          <a:p>
            <a:pPr algn="l"/>
            <a:r>
              <a:rPr sz="1125" b="1" i="0" u="none">
                <a:solidFill>
                  <a:srgbClr val="059669"/>
                </a:solidFill>
                <a:latin typeface="Fira Code"/>
              </a:rPr>
              <a:t>MOSI: 23 | MISO: 19 | SCK: 18</a:t>
            </a:r>
          </a:p>
        </p:txBody>
      </p:sp>
      <p:sp>
        <p:nvSpPr>
          <p:cNvPr id="15" name="TextBox 14"/>
          <p:cNvSpPr txBox="1"/>
          <p:nvPr/>
        </p:nvSpPr>
        <p:spPr>
          <a:xfrm>
            <a:off x="4543425" y="2600325"/>
            <a:ext cx="3350418" cy="219075"/>
          </a:xfrm>
          <a:prstGeom prst="rect">
            <a:avLst/>
          </a:prstGeom>
          <a:noFill/>
        </p:spPr>
        <p:txBody>
          <a:bodyPr wrap="none" lIns="0" tIns="0" rIns="0" bIns="0" anchor="t">
            <a:spAutoFit/>
          </a:bodyPr>
          <a:lstStyle/>
          <a:p>
            <a:pPr algn="l"/>
            <a:r>
              <a:rPr sz="1350" b="1" i="0" u="none">
                <a:solidFill>
                  <a:srgbClr val="0F172A"/>
                </a:solidFill>
                <a:latin typeface="Plus Jakarta Sans"/>
              </a:rPr>
              <a:t>UART0 (Default Serial Monitor)</a:t>
            </a:r>
          </a:p>
        </p:txBody>
      </p:sp>
      <p:sp>
        <p:nvSpPr>
          <p:cNvPr id="16" name="TextBox 15"/>
          <p:cNvSpPr txBox="1"/>
          <p:nvPr/>
        </p:nvSpPr>
        <p:spPr>
          <a:xfrm>
            <a:off x="4543425" y="2857500"/>
            <a:ext cx="3190875" cy="171450"/>
          </a:xfrm>
          <a:prstGeom prst="rect">
            <a:avLst/>
          </a:prstGeom>
          <a:noFill/>
        </p:spPr>
        <p:txBody>
          <a:bodyPr wrap="none" lIns="0" tIns="0" rIns="0" bIns="0" anchor="t">
            <a:spAutoFit/>
          </a:bodyPr>
          <a:lstStyle/>
          <a:p>
            <a:pPr algn="l"/>
            <a:r>
              <a:rPr sz="1050" b="0" i="0" u="none">
                <a:solidFill>
                  <a:srgbClr val="64748B"/>
                </a:solidFill>
                <a:latin typeface="Plus Jakarta Sans"/>
              </a:rPr>
              <a:t>Flashing &amp; debugging serial output</a:t>
            </a:r>
          </a:p>
        </p:txBody>
      </p:sp>
      <p:sp>
        <p:nvSpPr>
          <p:cNvPr id="17" name="TextBox 16"/>
          <p:cNvSpPr txBox="1"/>
          <p:nvPr/>
        </p:nvSpPr>
        <p:spPr>
          <a:xfrm>
            <a:off x="4543425" y="3543300"/>
            <a:ext cx="2425303" cy="219075"/>
          </a:xfrm>
          <a:prstGeom prst="rect">
            <a:avLst/>
          </a:prstGeom>
          <a:noFill/>
        </p:spPr>
        <p:txBody>
          <a:bodyPr wrap="none" lIns="0" tIns="0" rIns="0" bIns="0" anchor="t">
            <a:spAutoFit/>
          </a:bodyPr>
          <a:lstStyle/>
          <a:p>
            <a:pPr algn="l"/>
            <a:r>
              <a:rPr sz="1350" b="1" i="0" u="none">
                <a:solidFill>
                  <a:srgbClr val="0F172A"/>
                </a:solidFill>
                <a:latin typeface="Plus Jakarta Sans"/>
              </a:rPr>
              <a:t>I2C Default Bus</a:t>
            </a:r>
          </a:p>
        </p:txBody>
      </p:sp>
      <p:sp>
        <p:nvSpPr>
          <p:cNvPr id="18" name="TextBox 17"/>
          <p:cNvSpPr txBox="1"/>
          <p:nvPr/>
        </p:nvSpPr>
        <p:spPr>
          <a:xfrm>
            <a:off x="4543425" y="3800475"/>
            <a:ext cx="2309812" cy="171450"/>
          </a:xfrm>
          <a:prstGeom prst="rect">
            <a:avLst/>
          </a:prstGeom>
          <a:noFill/>
        </p:spPr>
        <p:txBody>
          <a:bodyPr wrap="none" lIns="0" tIns="0" rIns="0" bIns="0" anchor="t">
            <a:spAutoFit/>
          </a:bodyPr>
          <a:lstStyle/>
          <a:p>
            <a:pPr algn="l"/>
            <a:r>
              <a:rPr sz="1050" b="0" i="0" u="none">
                <a:solidFill>
                  <a:srgbClr val="64748B"/>
                </a:solidFill>
                <a:latin typeface="Plus Jakarta Sans"/>
              </a:rPr>
              <a:t>Sensors, RTCs, OLED displays</a:t>
            </a:r>
          </a:p>
        </p:txBody>
      </p:sp>
      <p:sp>
        <p:nvSpPr>
          <p:cNvPr id="19" name="TextBox 18"/>
          <p:cNvSpPr txBox="1"/>
          <p:nvPr/>
        </p:nvSpPr>
        <p:spPr>
          <a:xfrm>
            <a:off x="4543425" y="4486275"/>
            <a:ext cx="2875359" cy="219075"/>
          </a:xfrm>
          <a:prstGeom prst="rect">
            <a:avLst/>
          </a:prstGeom>
          <a:noFill/>
        </p:spPr>
        <p:txBody>
          <a:bodyPr wrap="none" lIns="0" tIns="0" rIns="0" bIns="0" anchor="t">
            <a:spAutoFit/>
          </a:bodyPr>
          <a:lstStyle/>
          <a:p>
            <a:pPr algn="l"/>
            <a:r>
              <a:rPr sz="1350" b="1" i="0" u="none">
                <a:solidFill>
                  <a:srgbClr val="0F172A"/>
                </a:solidFill>
                <a:latin typeface="Plus Jakarta Sans"/>
              </a:rPr>
              <a:t>SPI Default Bus (VSPI)</a:t>
            </a:r>
          </a:p>
        </p:txBody>
      </p:sp>
      <p:sp>
        <p:nvSpPr>
          <p:cNvPr id="20" name="TextBox 19"/>
          <p:cNvSpPr txBox="1"/>
          <p:nvPr/>
        </p:nvSpPr>
        <p:spPr>
          <a:xfrm>
            <a:off x="4543425" y="4743450"/>
            <a:ext cx="2738437" cy="171450"/>
          </a:xfrm>
          <a:prstGeom prst="rect">
            <a:avLst/>
          </a:prstGeom>
          <a:noFill/>
        </p:spPr>
        <p:txBody>
          <a:bodyPr wrap="none" lIns="0" tIns="0" rIns="0" bIns="0" anchor="t">
            <a:spAutoFit/>
          </a:bodyPr>
          <a:lstStyle/>
          <a:p>
            <a:pPr algn="l"/>
            <a:r>
              <a:rPr sz="1050" b="0" i="0" u="none">
                <a:solidFill>
                  <a:srgbClr val="64748B"/>
                </a:solidFill>
                <a:latin typeface="Plus Jakarta Sans"/>
              </a:rPr>
              <a:t>SD card modules, color TFT screens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609600" y="2424112"/>
            <a:ext cx="3530649" cy="2667000"/>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30749" y="2424112"/>
            <a:ext cx="3530649" cy="2667000"/>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51899" y="2424112"/>
            <a:ext cx="3530649" cy="2667000"/>
          </a:xfrm>
          <a:prstGeom prst="roundRect">
            <a:avLst>
              <a:gd name="adj" fmla="val 57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85825" y="2709862"/>
            <a:ext cx="695325" cy="219075"/>
          </a:xfrm>
          <a:prstGeom prst="roundRect">
            <a:avLst>
              <a:gd name="adj" fmla="val 50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4606974" y="2709862"/>
            <a:ext cx="714375" cy="219075"/>
          </a:xfrm>
          <a:prstGeom prst="roundRect">
            <a:avLst>
              <a:gd name="adj" fmla="val 50000"/>
            </a:avLst>
          </a:prstGeom>
          <a:solidFill>
            <a:srgbClr val="D1FA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328124" y="2709862"/>
            <a:ext cx="714375" cy="219075"/>
          </a:xfrm>
          <a:prstGeom prst="roundRect">
            <a:avLst>
              <a:gd name="adj" fmla="val 50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png"/>
          <p:cNvPicPr>
            <a:picLocks noChangeAspect="1"/>
          </p:cNvPicPr>
          <p:nvPr/>
        </p:nvPicPr>
        <p:blipFill>
          <a:blip r:embed="rId2"/>
          <a:stretch>
            <a:fillRect/>
          </a:stretch>
        </p:blipFill>
        <p:spPr>
          <a:xfrm>
            <a:off x="885825" y="4672012"/>
            <a:ext cx="152400" cy="123825"/>
          </a:xfrm>
          <a:prstGeom prst="rect">
            <a:avLst/>
          </a:prstGeom>
        </p:spPr>
      </p:pic>
      <p:pic>
        <p:nvPicPr>
          <p:cNvPr id="9" name="Picture 8" descr="image.png"/>
          <p:cNvPicPr>
            <a:picLocks noChangeAspect="1"/>
          </p:cNvPicPr>
          <p:nvPr/>
        </p:nvPicPr>
        <p:blipFill>
          <a:blip r:embed="rId3"/>
          <a:stretch>
            <a:fillRect/>
          </a:stretch>
        </p:blipFill>
        <p:spPr>
          <a:xfrm>
            <a:off x="4606974" y="4672012"/>
            <a:ext cx="95250" cy="123825"/>
          </a:xfrm>
          <a:prstGeom prst="rect">
            <a:avLst/>
          </a:prstGeom>
        </p:spPr>
      </p:pic>
      <p:pic>
        <p:nvPicPr>
          <p:cNvPr id="10" name="Picture 9" descr="image.png"/>
          <p:cNvPicPr>
            <a:picLocks noChangeAspect="1"/>
          </p:cNvPicPr>
          <p:nvPr/>
        </p:nvPicPr>
        <p:blipFill>
          <a:blip r:embed="rId4"/>
          <a:stretch>
            <a:fillRect/>
          </a:stretch>
        </p:blipFill>
        <p:spPr>
          <a:xfrm>
            <a:off x="8328124" y="4672012"/>
            <a:ext cx="152400" cy="123825"/>
          </a:xfrm>
          <a:prstGeom prst="rect">
            <a:avLst/>
          </a:prstGeom>
        </p:spPr>
      </p:pic>
      <p:sp>
        <p:nvSpPr>
          <p:cNvPr id="11" name="TextBox 10"/>
          <p:cNvSpPr txBox="1"/>
          <p:nvPr/>
        </p:nvSpPr>
        <p:spPr>
          <a:xfrm>
            <a:off x="609600" y="457200"/>
            <a:ext cx="1253548" cy="161583"/>
          </a:xfrm>
          <a:prstGeom prst="rect">
            <a:avLst/>
          </a:prstGeom>
          <a:noFill/>
        </p:spPr>
        <p:txBody>
          <a:bodyPr wrap="none" lIns="0" tIns="0" rIns="0" bIns="0" anchor="t">
            <a:spAutoFit/>
          </a:bodyPr>
          <a:lstStyle/>
          <a:p>
            <a:pPr algn="l"/>
            <a:r>
              <a:rPr sz="1050" b="1" i="0" u="none" dirty="0">
                <a:solidFill>
                  <a:srgbClr val="2563EB"/>
                </a:solidFill>
                <a:latin typeface="Plus Jakarta Sans"/>
              </a:rPr>
              <a:t>HANDS-ON S</a:t>
            </a:r>
            <a:r>
              <a:rPr lang="en-IN" sz="1050" b="1" i="0" u="none" dirty="0">
                <a:solidFill>
                  <a:srgbClr val="2563EB"/>
                </a:solidFill>
                <a:latin typeface="Plus Jakarta Sans"/>
              </a:rPr>
              <a:t>EXAMPLE</a:t>
            </a:r>
            <a:endParaRPr sz="1050" b="1" i="0" u="none" dirty="0">
              <a:solidFill>
                <a:srgbClr val="2563EB"/>
              </a:solidFill>
              <a:latin typeface="Plus Jakarta Sans"/>
            </a:endParaRPr>
          </a:p>
        </p:txBody>
      </p:sp>
      <p:sp>
        <p:nvSpPr>
          <p:cNvPr id="12" name="TextBox 11"/>
          <p:cNvSpPr txBox="1"/>
          <p:nvPr/>
        </p:nvSpPr>
        <p:spPr>
          <a:xfrm>
            <a:off x="609600" y="685800"/>
            <a:ext cx="4375172" cy="415498"/>
          </a:xfrm>
          <a:prstGeom prst="rect">
            <a:avLst/>
          </a:prstGeom>
          <a:noFill/>
        </p:spPr>
        <p:txBody>
          <a:bodyPr wrap="none" lIns="0" tIns="0" rIns="0" bIns="0" anchor="t">
            <a:spAutoFit/>
          </a:bodyPr>
          <a:lstStyle/>
          <a:p>
            <a:pPr algn="l"/>
            <a:r>
              <a:rPr sz="2700" b="1" i="0" u="none" dirty="0">
                <a:solidFill>
                  <a:srgbClr val="0F172A"/>
                </a:solidFill>
                <a:latin typeface="Plus Jakarta Sans"/>
              </a:rPr>
              <a:t> </a:t>
            </a:r>
            <a:r>
              <a:rPr lang="en-IN" sz="2700" b="1" i="0" u="none" dirty="0">
                <a:solidFill>
                  <a:srgbClr val="0F172A"/>
                </a:solidFill>
                <a:latin typeface="Plus Jakarta Sans"/>
              </a:rPr>
              <a:t>Use-case </a:t>
            </a:r>
            <a:r>
              <a:rPr sz="2700" b="1" i="0" u="none" dirty="0">
                <a:solidFill>
                  <a:srgbClr val="0F172A"/>
                </a:solidFill>
                <a:latin typeface="Plus Jakarta Sans"/>
              </a:rPr>
              <a:t>&amp; Activities</a:t>
            </a:r>
            <a:r>
              <a:rPr lang="en-IN" sz="2700" b="1" dirty="0">
                <a:solidFill>
                  <a:srgbClr val="0F172A"/>
                </a:solidFill>
                <a:latin typeface="Plus Jakarta Sans"/>
              </a:rPr>
              <a:t> Example</a:t>
            </a:r>
            <a:endParaRPr sz="2700" b="1" i="0" u="none" dirty="0">
              <a:solidFill>
                <a:srgbClr val="0F172A"/>
              </a:solidFill>
              <a:latin typeface="Plus Jakarta Sans"/>
            </a:endParaRPr>
          </a:p>
        </p:txBody>
      </p:sp>
      <p:sp>
        <p:nvSpPr>
          <p:cNvPr id="13" name="TextBox 12"/>
          <p:cNvSpPr txBox="1"/>
          <p:nvPr/>
        </p:nvSpPr>
        <p:spPr>
          <a:xfrm>
            <a:off x="1114425" y="4652962"/>
            <a:ext cx="3494149" cy="161925"/>
          </a:xfrm>
          <a:prstGeom prst="rect">
            <a:avLst/>
          </a:prstGeom>
          <a:noFill/>
        </p:spPr>
        <p:txBody>
          <a:bodyPr wrap="none" lIns="0" tIns="0" rIns="0" bIns="0" anchor="ctr">
            <a:spAutoFit/>
          </a:bodyPr>
          <a:lstStyle/>
          <a:p>
            <a:pPr algn="l"/>
            <a:r>
              <a:rPr sz="975" b="0" i="0" u="none">
                <a:solidFill>
                  <a:srgbClr val="2563EB"/>
                </a:solidFill>
                <a:latin typeface="Fira Code"/>
              </a:rPr>
              <a:t>Wire.begin()</a:t>
            </a:r>
          </a:p>
        </p:txBody>
      </p:sp>
      <p:sp>
        <p:nvSpPr>
          <p:cNvPr id="14" name="TextBox 13"/>
          <p:cNvSpPr txBox="1"/>
          <p:nvPr/>
        </p:nvSpPr>
        <p:spPr>
          <a:xfrm>
            <a:off x="4778424" y="4652962"/>
            <a:ext cx="3551299" cy="161925"/>
          </a:xfrm>
          <a:prstGeom prst="rect">
            <a:avLst/>
          </a:prstGeom>
          <a:noFill/>
        </p:spPr>
        <p:txBody>
          <a:bodyPr wrap="none" lIns="0" tIns="0" rIns="0" bIns="0" anchor="ctr">
            <a:spAutoFit/>
          </a:bodyPr>
          <a:lstStyle/>
          <a:p>
            <a:pPr algn="l"/>
            <a:r>
              <a:rPr sz="975" b="0" i="0" u="none">
                <a:solidFill>
                  <a:srgbClr val="059669"/>
                </a:solidFill>
                <a:latin typeface="Fira Code"/>
              </a:rPr>
              <a:t>WiFiServer(80)</a:t>
            </a:r>
          </a:p>
        </p:txBody>
      </p:sp>
      <p:sp>
        <p:nvSpPr>
          <p:cNvPr id="15" name="TextBox 14"/>
          <p:cNvSpPr txBox="1"/>
          <p:nvPr/>
        </p:nvSpPr>
        <p:spPr>
          <a:xfrm>
            <a:off x="8556724" y="4652962"/>
            <a:ext cx="3494149" cy="161925"/>
          </a:xfrm>
          <a:prstGeom prst="rect">
            <a:avLst/>
          </a:prstGeom>
          <a:noFill/>
        </p:spPr>
        <p:txBody>
          <a:bodyPr wrap="none" lIns="0" tIns="0" rIns="0" bIns="0" anchor="ctr">
            <a:spAutoFit/>
          </a:bodyPr>
          <a:lstStyle/>
          <a:p>
            <a:pPr algn="l"/>
            <a:r>
              <a:rPr sz="975" b="0" i="0" u="none">
                <a:solidFill>
                  <a:srgbClr val="D97706"/>
                </a:solidFill>
                <a:latin typeface="Fira Code"/>
              </a:rPr>
              <a:t>client.publish()</a:t>
            </a:r>
          </a:p>
        </p:txBody>
      </p:sp>
      <p:sp>
        <p:nvSpPr>
          <p:cNvPr id="16" name="TextBox 15"/>
          <p:cNvSpPr txBox="1"/>
          <p:nvPr/>
        </p:nvSpPr>
        <p:spPr>
          <a:xfrm>
            <a:off x="981075" y="2747962"/>
            <a:ext cx="600075" cy="142875"/>
          </a:xfrm>
          <a:prstGeom prst="rect">
            <a:avLst/>
          </a:prstGeom>
          <a:noFill/>
        </p:spPr>
        <p:txBody>
          <a:bodyPr wrap="square" lIns="0" tIns="0" rIns="0" bIns="0" anchor="t">
            <a:spAutoFit/>
          </a:bodyPr>
          <a:lstStyle/>
          <a:p>
            <a:pPr algn="l"/>
            <a:r>
              <a:rPr sz="900" b="1" i="0" u="none">
                <a:solidFill>
                  <a:srgbClr val="2563EB"/>
                </a:solidFill>
                <a:latin typeface="Plus Jakarta Sans"/>
              </a:rPr>
              <a:t>DEMO 01</a:t>
            </a:r>
          </a:p>
        </p:txBody>
      </p:sp>
      <p:sp>
        <p:nvSpPr>
          <p:cNvPr id="17" name="TextBox 16"/>
          <p:cNvSpPr txBox="1"/>
          <p:nvPr/>
        </p:nvSpPr>
        <p:spPr>
          <a:xfrm>
            <a:off x="885825" y="3052762"/>
            <a:ext cx="3908886" cy="238125"/>
          </a:xfrm>
          <a:prstGeom prst="rect">
            <a:avLst/>
          </a:prstGeom>
          <a:noFill/>
        </p:spPr>
        <p:txBody>
          <a:bodyPr wrap="none" lIns="0" tIns="0" rIns="0" bIns="0" anchor="t">
            <a:spAutoFit/>
          </a:bodyPr>
          <a:lstStyle/>
          <a:p>
            <a:pPr algn="l"/>
            <a:r>
              <a:rPr sz="1500" b="1" i="0" u="none">
                <a:solidFill>
                  <a:srgbClr val="0F172A"/>
                </a:solidFill>
                <a:latin typeface="Plus Jakarta Sans"/>
              </a:rPr>
              <a:t>I2C Bus Scanner</a:t>
            </a:r>
          </a:p>
        </p:txBody>
      </p:sp>
      <p:sp>
        <p:nvSpPr>
          <p:cNvPr id="18" name="TextBox 17"/>
          <p:cNvSpPr txBox="1"/>
          <p:nvPr/>
        </p:nvSpPr>
        <p:spPr>
          <a:xfrm>
            <a:off x="885825" y="3367087"/>
            <a:ext cx="3073449" cy="600075"/>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Flash an I2C scanner sketch to auto-detect sensor addresses (0x68, 0x3C) live on the serial monitor.</a:t>
            </a:r>
          </a:p>
        </p:txBody>
      </p:sp>
      <p:sp>
        <p:nvSpPr>
          <p:cNvPr id="19" name="TextBox 18"/>
          <p:cNvSpPr txBox="1"/>
          <p:nvPr/>
        </p:nvSpPr>
        <p:spPr>
          <a:xfrm>
            <a:off x="4702224" y="2747962"/>
            <a:ext cx="619125" cy="142875"/>
          </a:xfrm>
          <a:prstGeom prst="rect">
            <a:avLst/>
          </a:prstGeom>
          <a:noFill/>
        </p:spPr>
        <p:txBody>
          <a:bodyPr wrap="square" lIns="0" tIns="0" rIns="0" bIns="0" anchor="t">
            <a:spAutoFit/>
          </a:bodyPr>
          <a:lstStyle/>
          <a:p>
            <a:pPr algn="l"/>
            <a:r>
              <a:rPr sz="900" b="1" i="0" u="none">
                <a:solidFill>
                  <a:srgbClr val="059669"/>
                </a:solidFill>
                <a:latin typeface="Plus Jakarta Sans"/>
              </a:rPr>
              <a:t>DEMO 02</a:t>
            </a:r>
          </a:p>
        </p:txBody>
      </p:sp>
      <p:sp>
        <p:nvSpPr>
          <p:cNvPr id="20" name="TextBox 19"/>
          <p:cNvSpPr txBox="1"/>
          <p:nvPr/>
        </p:nvSpPr>
        <p:spPr>
          <a:xfrm>
            <a:off x="4606974" y="3052762"/>
            <a:ext cx="3908886" cy="238125"/>
          </a:xfrm>
          <a:prstGeom prst="rect">
            <a:avLst/>
          </a:prstGeom>
          <a:noFill/>
        </p:spPr>
        <p:txBody>
          <a:bodyPr wrap="none" lIns="0" tIns="0" rIns="0" bIns="0" anchor="t">
            <a:spAutoFit/>
          </a:bodyPr>
          <a:lstStyle/>
          <a:p>
            <a:pPr algn="l"/>
            <a:r>
              <a:rPr sz="1500" b="1" i="0" u="none">
                <a:solidFill>
                  <a:srgbClr val="0F172A"/>
                </a:solidFill>
                <a:latin typeface="Plus Jakarta Sans"/>
              </a:rPr>
              <a:t>Smartphone Web Control</a:t>
            </a:r>
          </a:p>
        </p:txBody>
      </p:sp>
      <p:sp>
        <p:nvSpPr>
          <p:cNvPr id="21" name="TextBox 20"/>
          <p:cNvSpPr txBox="1"/>
          <p:nvPr/>
        </p:nvSpPr>
        <p:spPr>
          <a:xfrm>
            <a:off x="4606974" y="3367087"/>
            <a:ext cx="3073449" cy="600075"/>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Host a tiny HTTP server on the ESP32 and toggle board LEDs straight from your phone browser.</a:t>
            </a:r>
          </a:p>
        </p:txBody>
      </p:sp>
      <p:sp>
        <p:nvSpPr>
          <p:cNvPr id="22" name="TextBox 21"/>
          <p:cNvSpPr txBox="1"/>
          <p:nvPr/>
        </p:nvSpPr>
        <p:spPr>
          <a:xfrm>
            <a:off x="8423374" y="2747962"/>
            <a:ext cx="619125" cy="142875"/>
          </a:xfrm>
          <a:prstGeom prst="rect">
            <a:avLst/>
          </a:prstGeom>
          <a:noFill/>
        </p:spPr>
        <p:txBody>
          <a:bodyPr wrap="square" lIns="0" tIns="0" rIns="0" bIns="0" anchor="t">
            <a:spAutoFit/>
          </a:bodyPr>
          <a:lstStyle/>
          <a:p>
            <a:pPr algn="l"/>
            <a:r>
              <a:rPr sz="900" b="1" i="0" u="none">
                <a:solidFill>
                  <a:srgbClr val="0F172A"/>
                </a:solidFill>
                <a:latin typeface="Plus Jakarta Sans"/>
              </a:rPr>
              <a:t>DEMO 03</a:t>
            </a:r>
          </a:p>
        </p:txBody>
      </p:sp>
      <p:sp>
        <p:nvSpPr>
          <p:cNvPr id="23" name="TextBox 22"/>
          <p:cNvSpPr txBox="1"/>
          <p:nvPr/>
        </p:nvSpPr>
        <p:spPr>
          <a:xfrm>
            <a:off x="8328124" y="3052762"/>
            <a:ext cx="3863875" cy="238125"/>
          </a:xfrm>
          <a:prstGeom prst="rect">
            <a:avLst/>
          </a:prstGeom>
          <a:noFill/>
        </p:spPr>
        <p:txBody>
          <a:bodyPr wrap="none" lIns="0" tIns="0" rIns="0" bIns="0" anchor="t">
            <a:spAutoFit/>
          </a:bodyPr>
          <a:lstStyle/>
          <a:p>
            <a:pPr algn="l"/>
            <a:r>
              <a:rPr sz="1500" b="1" i="0" u="none">
                <a:solidFill>
                  <a:srgbClr val="0F172A"/>
                </a:solidFill>
                <a:latin typeface="Plus Jakarta Sans"/>
              </a:rPr>
              <a:t>Live Cloud Telemetry</a:t>
            </a:r>
          </a:p>
        </p:txBody>
      </p:sp>
      <p:sp>
        <p:nvSpPr>
          <p:cNvPr id="24" name="TextBox 23"/>
          <p:cNvSpPr txBox="1"/>
          <p:nvPr/>
        </p:nvSpPr>
        <p:spPr>
          <a:xfrm>
            <a:off x="8328124" y="3367087"/>
            <a:ext cx="3073449" cy="600075"/>
          </a:xfrm>
          <a:prstGeom prst="rect">
            <a:avLst/>
          </a:prstGeom>
          <a:noFill/>
        </p:spPr>
        <p:txBody>
          <a:bodyPr wrap="square" lIns="0" tIns="0" rIns="0" bIns="0" anchor="t">
            <a:spAutoFit/>
          </a:bodyPr>
          <a:lstStyle/>
          <a:p>
            <a:pPr algn="l">
              <a:lnSpc>
                <a:spcPts val="1575"/>
              </a:lnSpc>
            </a:pPr>
            <a:r>
              <a:rPr sz="1125" b="0" i="0" u="none">
                <a:solidFill>
                  <a:srgbClr val="475569"/>
                </a:solidFill>
                <a:latin typeface="Plus Jakarta Sans"/>
              </a:rPr>
              <a:t>Publish real-time temperature data to a public MQTT broker and watch live charts update automatically.</a:t>
            </a:r>
          </a:p>
        </p:txBody>
      </p:sp>
      <p:sp>
        <p:nvSpPr>
          <p:cNvPr id="30" name="Rectangle 29">
            <a:extLst>
              <a:ext uri="{FF2B5EF4-FFF2-40B4-BE49-F238E27FC236}">
                <a16:creationId xmlns:a16="http://schemas.microsoft.com/office/drawing/2014/main" id="{9A0F5C5A-0683-3CFF-A7C0-CC8363A057B4}"/>
              </a:ext>
            </a:extLst>
          </p:cNvPr>
          <p:cNvSpPr/>
          <p:nvPr/>
        </p:nvSpPr>
        <p:spPr>
          <a:xfrm>
            <a:off x="609600" y="5905500"/>
            <a:ext cx="109728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a:extLst>
              <a:ext uri="{FF2B5EF4-FFF2-40B4-BE49-F238E27FC236}">
                <a16:creationId xmlns:a16="http://schemas.microsoft.com/office/drawing/2014/main" id="{327132C5-103D-9594-4C2A-992F468BE28E}"/>
              </a:ext>
            </a:extLst>
          </p:cNvPr>
          <p:cNvSpPr/>
          <p:nvPr/>
        </p:nvSpPr>
        <p:spPr>
          <a:xfrm>
            <a:off x="609600" y="5905500"/>
            <a:ext cx="10972800" cy="4191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a:extLst>
              <a:ext uri="{FF2B5EF4-FFF2-40B4-BE49-F238E27FC236}">
                <a16:creationId xmlns:a16="http://schemas.microsoft.com/office/drawing/2014/main" id="{A26C1B0D-79CE-F2C5-5998-A1B1DF96F0B1}"/>
              </a:ext>
            </a:extLst>
          </p:cNvPr>
          <p:cNvSpPr/>
          <p:nvPr/>
        </p:nvSpPr>
        <p:spPr>
          <a:xfrm>
            <a:off x="609600" y="5905500"/>
            <a:ext cx="10972800" cy="95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8" name="Picture 37" descr="image.png">
            <a:extLst>
              <a:ext uri="{FF2B5EF4-FFF2-40B4-BE49-F238E27FC236}">
                <a16:creationId xmlns:a16="http://schemas.microsoft.com/office/drawing/2014/main" id="{977C2E63-28BA-19F5-9C0F-B3077AA095EC}"/>
              </a:ext>
            </a:extLst>
          </p:cNvPr>
          <p:cNvPicPr>
            <a:picLocks noChangeAspect="1"/>
          </p:cNvPicPr>
          <p:nvPr/>
        </p:nvPicPr>
        <p:blipFill>
          <a:blip r:embed="rId5"/>
          <a:stretch>
            <a:fillRect/>
          </a:stretch>
        </p:blipFill>
        <p:spPr>
          <a:xfrm>
            <a:off x="8448675" y="6176962"/>
            <a:ext cx="133350" cy="133350"/>
          </a:xfrm>
          <a:prstGeom prst="rect">
            <a:avLst/>
          </a:prstGeom>
        </p:spPr>
      </p:pic>
      <p:pic>
        <p:nvPicPr>
          <p:cNvPr id="40" name="Picture 39" descr="image.png">
            <a:extLst>
              <a:ext uri="{FF2B5EF4-FFF2-40B4-BE49-F238E27FC236}">
                <a16:creationId xmlns:a16="http://schemas.microsoft.com/office/drawing/2014/main" id="{E9F66F18-FDA0-E2B7-8382-0D2A5114F1DA}"/>
              </a:ext>
            </a:extLst>
          </p:cNvPr>
          <p:cNvPicPr>
            <a:picLocks noChangeAspect="1"/>
          </p:cNvPicPr>
          <p:nvPr/>
        </p:nvPicPr>
        <p:blipFill>
          <a:blip r:embed="rId6"/>
          <a:stretch>
            <a:fillRect/>
          </a:stretch>
        </p:blipFill>
        <p:spPr>
          <a:xfrm>
            <a:off x="10544175" y="6176962"/>
            <a:ext cx="114300" cy="133350"/>
          </a:xfrm>
          <a:prstGeom prst="rect">
            <a:avLst/>
          </a:prstGeom>
        </p:spPr>
      </p:pic>
      <p:sp>
        <p:nvSpPr>
          <p:cNvPr id="42" name="TextBox 41">
            <a:extLst>
              <a:ext uri="{FF2B5EF4-FFF2-40B4-BE49-F238E27FC236}">
                <a16:creationId xmlns:a16="http://schemas.microsoft.com/office/drawing/2014/main" id="{1A9126ED-19A3-85F4-1F86-AF0B02C77FA0}"/>
              </a:ext>
            </a:extLst>
          </p:cNvPr>
          <p:cNvSpPr txBox="1"/>
          <p:nvPr/>
        </p:nvSpPr>
        <p:spPr>
          <a:xfrm>
            <a:off x="609600" y="6143625"/>
            <a:ext cx="2024062" cy="180975"/>
          </a:xfrm>
          <a:prstGeom prst="rect">
            <a:avLst/>
          </a:prstGeom>
          <a:noFill/>
        </p:spPr>
        <p:txBody>
          <a:bodyPr wrap="none" lIns="0" tIns="0" rIns="0" bIns="0" anchor="t">
            <a:spAutoFit/>
          </a:bodyPr>
          <a:lstStyle/>
          <a:p>
            <a:pPr algn="l"/>
            <a:r>
              <a:rPr sz="1125" b="0" i="0" u="none">
                <a:solidFill>
                  <a:srgbClr val="94A3B8"/>
                </a:solidFill>
                <a:latin typeface="Plus Jakarta Sans"/>
              </a:rPr>
              <a:t>Questions &amp; Discussion</a:t>
            </a:r>
          </a:p>
        </p:txBody>
      </p:sp>
      <p:sp>
        <p:nvSpPr>
          <p:cNvPr id="44" name="TextBox 43">
            <a:extLst>
              <a:ext uri="{FF2B5EF4-FFF2-40B4-BE49-F238E27FC236}">
                <a16:creationId xmlns:a16="http://schemas.microsoft.com/office/drawing/2014/main" id="{5D35A4FA-81CE-0C7C-50E3-C4F53F282CE7}"/>
              </a:ext>
            </a:extLst>
          </p:cNvPr>
          <p:cNvSpPr txBox="1"/>
          <p:nvPr/>
        </p:nvSpPr>
        <p:spPr>
          <a:xfrm>
            <a:off x="8448675" y="6148387"/>
            <a:ext cx="2333625" cy="171450"/>
          </a:xfrm>
          <a:prstGeom prst="rect">
            <a:avLst/>
          </a:prstGeom>
          <a:noFill/>
        </p:spPr>
        <p:txBody>
          <a:bodyPr wrap="none" lIns="209550" tIns="0" rIns="0" bIns="0" anchor="t">
            <a:spAutoFit/>
          </a:bodyPr>
          <a:lstStyle/>
          <a:p>
            <a:pPr algn="l"/>
            <a:r>
              <a:rPr sz="1050" b="1" i="0" u="none" dirty="0">
                <a:solidFill>
                  <a:srgbClr val="CBD5E1"/>
                </a:solidFill>
                <a:latin typeface="Plus Jakarta Sans"/>
              </a:rPr>
              <a:t>ieee.nirma@example.edu</a:t>
            </a:r>
          </a:p>
        </p:txBody>
      </p:sp>
      <p:sp>
        <p:nvSpPr>
          <p:cNvPr id="46" name="TextBox 45">
            <a:extLst>
              <a:ext uri="{FF2B5EF4-FFF2-40B4-BE49-F238E27FC236}">
                <a16:creationId xmlns:a16="http://schemas.microsoft.com/office/drawing/2014/main" id="{7897FFF3-50FE-B65B-C592-FE8787CEECAD}"/>
              </a:ext>
            </a:extLst>
          </p:cNvPr>
          <p:cNvSpPr txBox="1"/>
          <p:nvPr/>
        </p:nvSpPr>
        <p:spPr>
          <a:xfrm>
            <a:off x="10544175" y="6148387"/>
            <a:ext cx="1323975" cy="171450"/>
          </a:xfrm>
          <a:prstGeom prst="rect">
            <a:avLst/>
          </a:prstGeom>
          <a:noFill/>
        </p:spPr>
        <p:txBody>
          <a:bodyPr wrap="none" lIns="190500" tIns="0" rIns="0" bIns="0" anchor="t">
            <a:spAutoFit/>
          </a:bodyPr>
          <a:lstStyle/>
          <a:p>
            <a:pPr algn="l"/>
            <a:r>
              <a:rPr sz="1050" b="1" i="0" u="none" dirty="0">
                <a:solidFill>
                  <a:srgbClr val="CBD5E1"/>
                </a:solidFill>
                <a:latin typeface="Plus Jakarta Sans"/>
              </a:rPr>
              <a:t>@ieee_nirma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3067</TotalTime>
  <Words>1467</Words>
  <Application>Microsoft Office PowerPoint</Application>
  <PresentationFormat>Widescreen</PresentationFormat>
  <Paragraphs>254</Paragraphs>
  <Slides>17</Slides>
  <Notes>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Times New Roman</vt:lpstr>
      <vt:lpstr>Fira Code</vt:lpstr>
      <vt:lpstr>Wingdings</vt:lpstr>
      <vt:lpstr>Calibri</vt:lpstr>
      <vt:lpstr>Arial</vt:lpstr>
      <vt:lpstr>Symbol</vt:lpstr>
      <vt:lpstr>Plus Jakarta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Om Gupta</dc:creator>
  <cp:keywords/>
  <dc:description>generated using python-pptx</dc:description>
  <cp:lastModifiedBy>Dharm Mankad</cp:lastModifiedBy>
  <cp:revision>3</cp:revision>
  <dcterms:created xsi:type="dcterms:W3CDTF">2013-01-27T09:14:16Z</dcterms:created>
  <dcterms:modified xsi:type="dcterms:W3CDTF">2026-09-24T09:34:55Z</dcterms:modified>
  <cp:category/>
</cp:coreProperties>
</file>