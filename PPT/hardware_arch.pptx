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88" name="PlaceHolder 4"/>
          <p:cNvSpPr>
            <a:spLocks noGrp="1"/>
          </p:cNvSpPr>
          <p:nvPr>
            <p:ph type="dt" idx="1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ftr" idx="1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0" name="PlaceHolder 6"/>
          <p:cNvSpPr>
            <a:spLocks noGrp="1"/>
          </p:cNvSpPr>
          <p:nvPr>
            <p:ph type="sldNum" idx="1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CABD534-0ECE-4E93-8987-1A9149C04AE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016EBF-9928-46B2-A39E-7EA7769BD7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ECAA10-9A8E-4B88-87DF-8DEB074F69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5CB612-257E-4C8B-9906-13FE2355CB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C6056C-E6A2-4FF2-B3D6-B12E83FB44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1202AB-0438-461A-B223-781F1C168D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81F086-BEB0-47FB-83FB-640ED28691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952A15-7F1D-4C4B-80FA-4ED87BC878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2AC080-239E-4AFE-A634-611BBAF742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974178-F958-4CB4-8367-1D87731AC5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E83FAA-ECD6-4ED3-9395-BE107CF447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F3EAC6-6A54-42CF-8D7B-DC32544DF5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F2109F-0B5A-404A-BACC-1C4BE44C70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F4E2B1-9945-4527-B138-5C18937C70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EB4644-188C-408F-85E6-61B3266C47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09_HARDWARE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35D28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325C5D-DED8-4EAE-A000-31800DB72F26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10_HANDSON">
    <p:bg>
      <p:bgPr>
        <a:solidFill>
          <a:srgbClr val="F1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548640" y="457200"/>
            <a:ext cx="1371240" cy="292320"/>
          </a:xfrm>
          <a:prstGeom prst="rect">
            <a:avLst/>
          </a:prstGeom>
          <a:solidFill>
            <a:srgbClr val="35D28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1"/>
          <p:cNvSpPr/>
          <p:nvPr/>
        </p:nvSpPr>
        <p:spPr>
          <a:xfrm>
            <a:off x="548640" y="45720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99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HANDS-ON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2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sldNum" idx="2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FCFB95-02AA-4E3D-B6EF-530268DC17E8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11_DEMO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sldNum" idx="3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CCC983-8FF7-4361-B672-E41E6BADB4BC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12_RECAP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0B1E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sldNum" idx="4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73AC05-0115-44FE-83E0-B34C0B95B900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13_QA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9813960" y="685800"/>
            <a:ext cx="594360" cy="720"/>
          </a:xfrm>
          <a:prstGeom prst="line">
            <a:avLst/>
          </a:prstGeom>
          <a:ln w="12700">
            <a:solidFill>
              <a:srgbClr val="2A40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10408320" y="685800"/>
            <a:ext cx="1080" cy="415800"/>
          </a:xfrm>
          <a:prstGeom prst="line">
            <a:avLst/>
          </a:prstGeom>
          <a:ln w="12700">
            <a:solidFill>
              <a:srgbClr val="2A40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10408320" y="1101600"/>
            <a:ext cx="594360" cy="1080"/>
          </a:xfrm>
          <a:prstGeom prst="line">
            <a:avLst/>
          </a:prstGeom>
          <a:ln w="12700">
            <a:solidFill>
              <a:srgbClr val="2A40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3920" rIns="90000" bIns="-4392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9773280" y="644760"/>
            <a:ext cx="82080" cy="8208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10381320" y="658440"/>
            <a:ext cx="54360" cy="5436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10381320" y="1074600"/>
            <a:ext cx="54360" cy="5436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10962000" y="1060560"/>
            <a:ext cx="82080" cy="8208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sldNum" idx="5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5ED752-1995-4435-81AD-D9685FF47339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01_COVER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48640" y="5029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31D6C9"/>
                </a:solidFill>
                <a:effectLst/>
                <a:uFillTx/>
                <a:latin typeface="Calibri"/>
                <a:ea typeface="Calibri"/>
              </a:rPr>
              <a:t>IEEE NIRMA STUDENT BRANCH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"/>
          <p:cNvSpPr/>
          <p:nvPr/>
        </p:nvSpPr>
        <p:spPr>
          <a:xfrm>
            <a:off x="10454040" y="502920"/>
            <a:ext cx="502920" cy="720"/>
          </a:xfrm>
          <a:prstGeom prst="line">
            <a:avLst/>
          </a:prstGeom>
          <a:ln w="12700">
            <a:solidFill>
              <a:srgbClr val="2A40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10956960" y="502920"/>
            <a:ext cx="1080" cy="351720"/>
          </a:xfrm>
          <a:prstGeom prst="line">
            <a:avLst/>
          </a:prstGeom>
          <a:ln w="12700">
            <a:solidFill>
              <a:srgbClr val="2A40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10956960" y="854640"/>
            <a:ext cx="502920" cy="1080"/>
          </a:xfrm>
          <a:prstGeom prst="line">
            <a:avLst/>
          </a:prstGeom>
          <a:ln w="12700">
            <a:solidFill>
              <a:srgbClr val="2A40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3920" rIns="90000" bIns="-4392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10413360" y="461880"/>
            <a:ext cx="82080" cy="8208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10929960" y="475560"/>
            <a:ext cx="54360" cy="5436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10929960" y="827640"/>
            <a:ext cx="54360" cy="5436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7"/>
          <p:cNvSpPr/>
          <p:nvPr/>
        </p:nvSpPr>
        <p:spPr>
          <a:xfrm>
            <a:off x="11419200" y="813960"/>
            <a:ext cx="82080" cy="82080"/>
          </a:xfrm>
          <a:prstGeom prst="rect">
            <a:avLst/>
          </a:prstGeom>
          <a:solidFill>
            <a:srgbClr val="2A4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8"/>
          <p:cNvSpPr/>
          <p:nvPr/>
        </p:nvSpPr>
        <p:spPr>
          <a:xfrm>
            <a:off x="548640" y="5760720"/>
            <a:ext cx="2011680" cy="360"/>
          </a:xfrm>
          <a:prstGeom prst="line">
            <a:avLst/>
          </a:prstGeom>
          <a:ln w="12700">
            <a:solidFill>
              <a:srgbClr val="2436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sldNum" idx="6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68B794-A26C-4B9F-9118-3610FA515EF1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02_SECTION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9813960" y="731520"/>
            <a:ext cx="594360" cy="720"/>
          </a:xfrm>
          <a:prstGeom prst="line">
            <a:avLst/>
          </a:prstGeom>
          <a:ln w="12700">
            <a:solidFill>
              <a:srgbClr val="2E46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10408320" y="731520"/>
            <a:ext cx="1080" cy="415800"/>
          </a:xfrm>
          <a:prstGeom prst="line">
            <a:avLst/>
          </a:prstGeom>
          <a:ln w="12700">
            <a:solidFill>
              <a:srgbClr val="2E46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10408320" y="1147320"/>
            <a:ext cx="594360" cy="1080"/>
          </a:xfrm>
          <a:prstGeom prst="line">
            <a:avLst/>
          </a:prstGeom>
          <a:ln w="12700">
            <a:solidFill>
              <a:srgbClr val="2E46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3920" rIns="90000" bIns="-4392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9773280" y="690480"/>
            <a:ext cx="82080" cy="82080"/>
          </a:xfrm>
          <a:prstGeom prst="rect">
            <a:avLst/>
          </a:prstGeom>
          <a:solidFill>
            <a:srgbClr val="2E46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10381320" y="704160"/>
            <a:ext cx="54360" cy="54360"/>
          </a:xfrm>
          <a:prstGeom prst="rect">
            <a:avLst/>
          </a:prstGeom>
          <a:solidFill>
            <a:srgbClr val="2E46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10381320" y="1120320"/>
            <a:ext cx="54360" cy="54360"/>
          </a:xfrm>
          <a:prstGeom prst="rect">
            <a:avLst/>
          </a:prstGeom>
          <a:solidFill>
            <a:srgbClr val="2E46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10962000" y="1106280"/>
            <a:ext cx="82080" cy="82080"/>
          </a:xfrm>
          <a:prstGeom prst="rect">
            <a:avLst/>
          </a:prstGeom>
          <a:solidFill>
            <a:srgbClr val="2E46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sldNum" idx="7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D96F0D-6C83-4B4E-BC42-629417F162C8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03_CONTEN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31D6C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ldNum" idx="8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CE3E7C-EDC7-466B-89D2-EA5A09F5EBFD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04_TWOCOL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2F6F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sldNum" idx="9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3B00DF-2F28-42AF-9FF9-148D67A6D7F5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05_IMAGETEX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35D28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sldNum" idx="10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6B94DB-1785-4834-AB18-49BF8C309543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06_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0B1E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sldNum" idx="11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309FC1-61D7-4544-B42C-B98B7E723E3C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07_CODE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31D6C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sldNum" idx="12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6AC500-CAF4-42C7-A8ED-2EE5A625D69D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08_TABLE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548640" y="1261800"/>
            <a:ext cx="82080" cy="82080"/>
          </a:xfrm>
          <a:prstGeom prst="rect">
            <a:avLst/>
          </a:prstGeom>
          <a:solidFill>
            <a:srgbClr val="2F6F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54864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IEEE Nirma Student Branch  |  Embedded Systems &amp; IoT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sldNum" idx="13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1AB02E-456E-48BE-BDA9-D78546A439ED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548640" y="2468880"/>
            <a:ext cx="105152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Embedded Systems &amp; IoT Workshop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548640" y="38862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1D6C9"/>
                </a:solidFill>
                <a:effectLst/>
                <a:uFillTx/>
                <a:latin typeface="Calibri"/>
                <a:ea typeface="Calibri"/>
              </a:rPr>
              <a:t>Building Connected Devices with ESP32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48640" y="53492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Workshop Dates  ·  Venue  ·  Instructor(s)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sldNum" idx="17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069C11-EAA9-48CF-B061-727064A8268E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48640" y="26060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31D6C9"/>
                </a:solidFill>
                <a:effectLst/>
                <a:uFillTx/>
                <a:latin typeface="Calibri"/>
                <a:ea typeface="Calibri"/>
              </a:rPr>
              <a:t>SECTION  03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548640" y="292608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ESP32 Architecture &amp; Hardware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18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BB46B3-9BB4-455F-ADE1-41C78A6F2104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2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dirty="0">
                <a:solidFill>
                  <a:srgbClr val="000000"/>
                </a:solidFill>
                <a:latin typeface="Arial"/>
              </a:rPr>
              <a:t>ABOUT ESP32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"/>
          <p:cNvSpPr/>
          <p:nvPr/>
        </p:nvSpPr>
        <p:spPr>
          <a:xfrm>
            <a:off x="548640" y="1508760"/>
            <a:ext cx="11094120" cy="45716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548640" y="1508760"/>
            <a:ext cx="11094120" cy="45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sldNum" idx="19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3F33F3-4D2B-40B0-A1E0-C4D126F5C99F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3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EA8E63-B73D-7660-D896-AD5A8EC3B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11165840" cy="4682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0E167-D858-89D4-01AB-6F8B998B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PIN DIAGRAM AND BOARD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06F3C-7F37-0872-04B6-6481A2AE6F55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FE77DE0-1070-053A-0F10-CE0B65EB6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244" y="1148759"/>
            <a:ext cx="1318355" cy="21803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7A856E-D8CC-3273-5C27-53F4FA67D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700" y="1148759"/>
            <a:ext cx="1473500" cy="21803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1B8EFE7-445A-B80D-1E05-190B18651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4046" y="1099640"/>
            <a:ext cx="1201009" cy="22785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0E53B9-2C50-6EDE-55D2-FE9779780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9901" y="1099639"/>
            <a:ext cx="1096142" cy="227859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300BBD9-F566-5D1E-0691-65B2C2EBF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0634" y="1121110"/>
            <a:ext cx="1236132" cy="22466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9B39091-E5AF-6654-7699-CE165337BD12}"/>
              </a:ext>
            </a:extLst>
          </p:cNvPr>
          <p:cNvSpPr txBox="1"/>
          <p:nvPr/>
        </p:nvSpPr>
        <p:spPr>
          <a:xfrm>
            <a:off x="9144000" y="3329115"/>
            <a:ext cx="304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USB PORT     USB TO SERIAL CONV</a:t>
            </a:r>
            <a:endParaRPr lang="en-IN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E21FB3-703E-09BF-1134-B07B62BB7D65}"/>
              </a:ext>
            </a:extLst>
          </p:cNvPr>
          <p:cNvSpPr txBox="1"/>
          <p:nvPr/>
        </p:nvSpPr>
        <p:spPr>
          <a:xfrm>
            <a:off x="4514936" y="3348442"/>
            <a:ext cx="106147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GPIO PINS            RESET AND BOOT   3.3V REGULATOR</a:t>
            </a:r>
            <a:endParaRPr lang="en-IN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E481C0F-EC19-521C-1847-1A94C81828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509" y="1196789"/>
            <a:ext cx="3498298" cy="46418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126B8E8-0E44-C634-8FEC-8A97517760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7019" y="3863326"/>
            <a:ext cx="3734323" cy="216144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BEC9F29-8BCF-4F6A-B67E-600706078C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3631" y="3873116"/>
            <a:ext cx="4153260" cy="121924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C812E7A-5F80-9A9A-5E4D-DAB7B6EDB1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1342" y="4818563"/>
            <a:ext cx="4153260" cy="75720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AA0F1A5-F213-CDDC-1687-1C4B943F67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51341" y="5617838"/>
            <a:ext cx="4153259" cy="90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8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9F975F-481B-3ED1-198B-28B9A1020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9133"/>
            <a:ext cx="12353017" cy="67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8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Communication Protocols 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"/>
          <p:cNvSpPr/>
          <p:nvPr/>
        </p:nvSpPr>
        <p:spPr>
          <a:xfrm>
            <a:off x="320040" y="1600200"/>
            <a:ext cx="3337560" cy="45716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1005840" y="1828800"/>
            <a:ext cx="1737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Column A  ·  e.g. UART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4038480" y="1600200"/>
            <a:ext cx="3733920" cy="45716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5181480" y="1828800"/>
            <a:ext cx="190512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Column B  ·  e.g. SPI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sldNum" idx="20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83F28C-6CAB-49E8-8019-9E2E6D31CCD3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6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Shape 12"/>
          <p:cNvSpPr/>
          <p:nvPr/>
        </p:nvSpPr>
        <p:spPr>
          <a:xfrm>
            <a:off x="8229600" y="1600560"/>
            <a:ext cx="3733920" cy="45716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9144000" y="1828800"/>
            <a:ext cx="190512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Column C  ·  e.g. I2C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B72E24-C0B9-3DC0-238D-F49917199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Sensors &amp; Peripherals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"/>
          <p:cNvSpPr/>
          <p:nvPr/>
        </p:nvSpPr>
        <p:spPr>
          <a:xfrm>
            <a:off x="548640" y="1508760"/>
            <a:ext cx="4205880" cy="4571640"/>
          </a:xfrm>
          <a:prstGeom prst="roundRect">
            <a:avLst>
              <a:gd name="adj" fmla="val 1739"/>
            </a:avLst>
          </a:prstGeom>
          <a:solidFill>
            <a:srgbClr val="EDF1F7"/>
          </a:solidFill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2286000" y="3520440"/>
            <a:ext cx="731160" cy="548280"/>
          </a:xfrm>
          <a:prstGeom prst="roundRect">
            <a:avLst>
              <a:gd name="adj" fmla="val 13333"/>
            </a:avLst>
          </a:prstGeom>
          <a:noFill/>
          <a:ln w="19050">
            <a:solidFill>
              <a:srgbClr val="5B6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2541960" y="3684960"/>
            <a:ext cx="219240" cy="219240"/>
          </a:xfrm>
          <a:prstGeom prst="ellipse">
            <a:avLst/>
          </a:prstGeom>
          <a:noFill/>
          <a:ln w="19050">
            <a:solidFill>
              <a:srgbClr val="5B6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548640" y="420624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Image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5212080" y="1508760"/>
            <a:ext cx="6430680" cy="45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Text Content  ·  key points about the sensor / peripheral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sldNum" idx="21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0FEF6C-CC30-4325-97BC-380B19F431A1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7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Ultrasonic Sensor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/>
          <p:cNvSpPr/>
          <p:nvPr/>
        </p:nvSpPr>
        <p:spPr>
          <a:xfrm>
            <a:off x="548640" y="1508760"/>
            <a:ext cx="3840120" cy="4571640"/>
          </a:xfrm>
          <a:prstGeom prst="roundRect">
            <a:avLst>
              <a:gd name="adj" fmla="val 1905"/>
            </a:avLst>
          </a:prstGeom>
          <a:solidFill>
            <a:srgbClr val="EDF1F7"/>
          </a:solidFill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2011680" y="3337560"/>
            <a:ext cx="914040" cy="914040"/>
          </a:xfrm>
          <a:prstGeom prst="ellipse">
            <a:avLst/>
          </a:prstGeom>
          <a:noFill/>
          <a:ln w="19050">
            <a:solidFill>
              <a:srgbClr val="5B6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548640" y="43434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Component Photo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4846320" y="16002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Interface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4846320" y="205740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4846320" y="23774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Operating Voltage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7"/>
          <p:cNvSpPr/>
          <p:nvPr/>
        </p:nvSpPr>
        <p:spPr>
          <a:xfrm>
            <a:off x="4846320" y="283464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4846320" y="3154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Range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4846320" y="361188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4846320" y="39319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Key Pins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4846320" y="438912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sldNum" idx="22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03D26F-9BE4-4710-BFA3-7BCC31C7B79E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13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LCD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548640" y="1508760"/>
            <a:ext cx="3840120" cy="4571640"/>
          </a:xfrm>
          <a:prstGeom prst="roundRect">
            <a:avLst>
              <a:gd name="adj" fmla="val 1905"/>
            </a:avLst>
          </a:prstGeom>
          <a:solidFill>
            <a:srgbClr val="EDF1F7"/>
          </a:solidFill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5"/>
          <p:cNvSpPr/>
          <p:nvPr/>
        </p:nvSpPr>
        <p:spPr>
          <a:xfrm>
            <a:off x="2011680" y="3337560"/>
            <a:ext cx="914040" cy="914040"/>
          </a:xfrm>
          <a:prstGeom prst="ellipse">
            <a:avLst/>
          </a:prstGeom>
          <a:noFill/>
          <a:ln w="19050">
            <a:solidFill>
              <a:srgbClr val="5B6B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5"/>
          <p:cNvSpPr/>
          <p:nvPr/>
        </p:nvSpPr>
        <p:spPr>
          <a:xfrm>
            <a:off x="548640" y="43434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Component Photo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4846320" y="16002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Interface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6"/>
          <p:cNvSpPr/>
          <p:nvPr/>
        </p:nvSpPr>
        <p:spPr>
          <a:xfrm>
            <a:off x="4846320" y="205740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7"/>
          <p:cNvSpPr/>
          <p:nvPr/>
        </p:nvSpPr>
        <p:spPr>
          <a:xfrm>
            <a:off x="4846320" y="23774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Operating Voltage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4846320" y="283464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8"/>
          <p:cNvSpPr/>
          <p:nvPr/>
        </p:nvSpPr>
        <p:spPr>
          <a:xfrm>
            <a:off x="4846320" y="3154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Range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4846320" y="361188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4846320" y="39319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Key Pins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9"/>
          <p:cNvSpPr/>
          <p:nvPr/>
        </p:nvSpPr>
        <p:spPr>
          <a:xfrm>
            <a:off x="4846320" y="4389120"/>
            <a:ext cx="6796440" cy="360"/>
          </a:xfrm>
          <a:prstGeom prst="line">
            <a:avLst/>
          </a:prstGeom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sldNum" idx="23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752C58-3DCC-4056-9BF6-F9C25D481954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9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ESP-NOW vs. Wi-Fi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4" name="Table 0"/>
          <p:cNvGraphicFramePr/>
          <p:nvPr/>
        </p:nvGraphicFramePr>
        <p:xfrm>
          <a:off x="548640" y="1508760"/>
          <a:ext cx="11093760" cy="4572000"/>
        </p:xfrm>
        <a:graphic>
          <a:graphicData uri="http://schemas.openxmlformats.org/drawingml/2006/table">
            <a:tbl>
              <a:tblPr/>
              <a:tblGrid>
                <a:gridCol w="369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Feature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Option 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Option B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D9E0EA"/>
                      </a:solidFill>
                      <a:prstDash val="solid"/>
                    </a:lnL>
                    <a:lnR w="12240">
                      <a:solidFill>
                        <a:srgbClr val="D9E0EA"/>
                      </a:solidFill>
                      <a:prstDash val="solid"/>
                    </a:lnR>
                    <a:lnT w="12240">
                      <a:solidFill>
                        <a:srgbClr val="D9E0EA"/>
                      </a:solidFill>
                      <a:prstDash val="solid"/>
                    </a:lnT>
                    <a:lnB w="12240">
                      <a:solidFill>
                        <a:srgbClr val="D9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5" name="PlaceHolder 1"/>
          <p:cNvSpPr>
            <a:spLocks noGrp="1"/>
          </p:cNvSpPr>
          <p:nvPr>
            <p:ph type="sldNum" idx="24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8A9C1D-B044-4B0F-88FB-9451A6D35D22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10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Wi-Fi &amp; Web Servers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"/>
          <p:cNvSpPr/>
          <p:nvPr/>
        </p:nvSpPr>
        <p:spPr>
          <a:xfrm>
            <a:off x="548640" y="1508760"/>
            <a:ext cx="11094120" cy="4571640"/>
          </a:xfrm>
          <a:prstGeom prst="roundRect">
            <a:avLst>
              <a:gd name="adj" fmla="val 1600"/>
            </a:avLst>
          </a:prstGeom>
          <a:solidFill>
            <a:srgbClr val="0F1B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548640" y="1508760"/>
            <a:ext cx="11094120" cy="383760"/>
          </a:xfrm>
          <a:prstGeom prst="roundRect">
            <a:avLst>
              <a:gd name="adj" fmla="val 19048"/>
            </a:avLst>
          </a:prstGeom>
          <a:solidFill>
            <a:srgbClr val="2436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749880" y="1645920"/>
            <a:ext cx="109440" cy="109440"/>
          </a:xfrm>
          <a:prstGeom prst="ellipse">
            <a:avLst/>
          </a:prstGeom>
          <a:solidFill>
            <a:srgbClr val="E855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969120" y="1645920"/>
            <a:ext cx="109440" cy="109440"/>
          </a:xfrm>
          <a:prstGeom prst="ellipse">
            <a:avLst/>
          </a:prstGeom>
          <a:solidFill>
            <a:srgbClr val="E9C2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1188720" y="1645920"/>
            <a:ext cx="109440" cy="109440"/>
          </a:xfrm>
          <a:prstGeom prst="ellipse">
            <a:avLst/>
          </a:prstGeom>
          <a:solidFill>
            <a:srgbClr val="3ECF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1554480" y="150876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FB3CC"/>
                </a:solidFill>
                <a:effectLst/>
                <a:uFillTx/>
                <a:latin typeface="Consolas"/>
                <a:ea typeface="Consolas"/>
              </a:rPr>
              <a:t>wifi_web_server.ino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822960" y="2057400"/>
            <a:ext cx="1054548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31D6C9"/>
                </a:solidFill>
                <a:effectLst/>
                <a:uFillTx/>
                <a:latin typeface="Consolas"/>
                <a:ea typeface="Consolas"/>
              </a:rPr>
              <a:t>// code block  ·  syntax-highlighted snippet goes here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sldNum" idx="25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45E6B8-C701-45C2-A45B-28B6309034CB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11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IoT Gateway — Architecture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548640" y="1508760"/>
            <a:ext cx="11094120" cy="457164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0EA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548640" y="1508760"/>
            <a:ext cx="255960" cy="36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"/>
          <p:cNvSpPr/>
          <p:nvPr/>
        </p:nvSpPr>
        <p:spPr>
          <a:xfrm>
            <a:off x="548640" y="1508760"/>
            <a:ext cx="360" cy="25596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 flipH="1">
            <a:off x="11386800" y="1508760"/>
            <a:ext cx="255960" cy="36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5"/>
          <p:cNvSpPr/>
          <p:nvPr/>
        </p:nvSpPr>
        <p:spPr>
          <a:xfrm>
            <a:off x="11642760" y="1508760"/>
            <a:ext cx="360" cy="25596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6"/>
          <p:cNvSpPr/>
          <p:nvPr/>
        </p:nvSpPr>
        <p:spPr>
          <a:xfrm>
            <a:off x="548640" y="6080760"/>
            <a:ext cx="255960" cy="36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7"/>
          <p:cNvSpPr/>
          <p:nvPr/>
        </p:nvSpPr>
        <p:spPr>
          <a:xfrm flipV="1">
            <a:off x="548640" y="5824440"/>
            <a:ext cx="360" cy="25632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 flipH="1">
            <a:off x="11386800" y="6080760"/>
            <a:ext cx="255960" cy="36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9"/>
          <p:cNvSpPr/>
          <p:nvPr/>
        </p:nvSpPr>
        <p:spPr>
          <a:xfrm flipV="1">
            <a:off x="11642760" y="5824440"/>
            <a:ext cx="360" cy="256320"/>
          </a:xfrm>
          <a:prstGeom prst="line">
            <a:avLst/>
          </a:prstGeom>
          <a:ln w="25400">
            <a:solidFill>
              <a:srgbClr val="0B1E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548640" y="1508760"/>
            <a:ext cx="11094120" cy="45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Diagram / Block Canvas  ·  drop blocks, arrows &amp; icons here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sldNum" idx="26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B783A-4F47-4974-886F-743D4753EE22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548640" y="9601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Mini Challenge: Activity Title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"/>
          <p:cNvSpPr/>
          <p:nvPr/>
        </p:nvSpPr>
        <p:spPr>
          <a:xfrm>
            <a:off x="2602800" y="2377440"/>
            <a:ext cx="585000" cy="58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D2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2602800" y="237744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5D28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1706760" y="3200400"/>
            <a:ext cx="237708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1706760" y="3200400"/>
            <a:ext cx="237708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Step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5"/>
          <p:cNvSpPr/>
          <p:nvPr/>
        </p:nvSpPr>
        <p:spPr>
          <a:xfrm>
            <a:off x="4083840" y="2669760"/>
            <a:ext cx="822960" cy="360"/>
          </a:xfrm>
          <a:prstGeom prst="line">
            <a:avLst/>
          </a:prstGeom>
          <a:ln w="12700">
            <a:solidFill>
              <a:srgbClr val="35D28A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6"/>
          <p:cNvSpPr/>
          <p:nvPr/>
        </p:nvSpPr>
        <p:spPr>
          <a:xfrm>
            <a:off x="5803200" y="2377440"/>
            <a:ext cx="585000" cy="58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D2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5803200" y="237744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5D28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8"/>
          <p:cNvSpPr/>
          <p:nvPr/>
        </p:nvSpPr>
        <p:spPr>
          <a:xfrm>
            <a:off x="4907160" y="3200400"/>
            <a:ext cx="237708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9"/>
          <p:cNvSpPr/>
          <p:nvPr/>
        </p:nvSpPr>
        <p:spPr>
          <a:xfrm>
            <a:off x="4907160" y="3200400"/>
            <a:ext cx="237708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Step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0"/>
          <p:cNvSpPr/>
          <p:nvPr/>
        </p:nvSpPr>
        <p:spPr>
          <a:xfrm>
            <a:off x="7284240" y="2669760"/>
            <a:ext cx="822960" cy="360"/>
          </a:xfrm>
          <a:prstGeom prst="line">
            <a:avLst/>
          </a:prstGeom>
          <a:ln w="12700">
            <a:solidFill>
              <a:srgbClr val="35D28A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1"/>
          <p:cNvSpPr/>
          <p:nvPr/>
        </p:nvSpPr>
        <p:spPr>
          <a:xfrm>
            <a:off x="9003600" y="2377440"/>
            <a:ext cx="585000" cy="58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D2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9003600" y="237744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5D28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3"/>
          <p:cNvSpPr/>
          <p:nvPr/>
        </p:nvSpPr>
        <p:spPr>
          <a:xfrm>
            <a:off x="8107560" y="3200400"/>
            <a:ext cx="237708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4"/>
          <p:cNvSpPr/>
          <p:nvPr/>
        </p:nvSpPr>
        <p:spPr>
          <a:xfrm>
            <a:off x="8107560" y="3200400"/>
            <a:ext cx="237708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Step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sldNum" idx="27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4E1060-2212-464E-BA79-A20D6321D4C3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13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548640" y="5486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Demo: Smartphone IoT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"/>
          <p:cNvSpPr/>
          <p:nvPr/>
        </p:nvSpPr>
        <p:spPr>
          <a:xfrm>
            <a:off x="2209680" y="1554480"/>
            <a:ext cx="7772040" cy="3931560"/>
          </a:xfrm>
          <a:prstGeom prst="roundRect">
            <a:avLst>
              <a:gd name="adj" fmla="val 2791"/>
            </a:avLst>
          </a:prstGeom>
          <a:solidFill>
            <a:srgbClr val="13294B"/>
          </a:solidFill>
          <a:ln w="19050">
            <a:solidFill>
              <a:srgbClr val="2A40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2209680" y="1554480"/>
            <a:ext cx="77720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Live Demo Area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sldNum" idx="28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7FFC7F-ED52-4D24-9B6C-DEC77775EC3A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14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548640" y="502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548640" y="169164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B1E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1097280" y="1645920"/>
            <a:ext cx="82292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Key Takeaway 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"/>
          <p:cNvSpPr/>
          <p:nvPr/>
        </p:nvSpPr>
        <p:spPr>
          <a:xfrm>
            <a:off x="548640" y="274320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B1E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097280" y="2697480"/>
            <a:ext cx="82292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Key Takeaway 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548640" y="379476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B1E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1097280" y="3749040"/>
            <a:ext cx="82292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0192B"/>
                </a:solidFill>
                <a:effectLst/>
                <a:uFillTx/>
                <a:latin typeface="Calibri"/>
                <a:ea typeface="Calibri"/>
              </a:rPr>
              <a:t>Key Takeaway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1"/>
          <p:cNvSpPr>
            <a:spLocks noGrp="1"/>
          </p:cNvSpPr>
          <p:nvPr>
            <p:ph type="sldNum" idx="29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52F7EE-D3B6-471D-8C0D-06C6E6C3E0FD}" type="slidenum">
              <a:rPr lang="en-US" sz="900" b="0" u="none" strike="noStrike">
                <a:solidFill>
                  <a:srgbClr val="5B6B82"/>
                </a:solidFill>
                <a:effectLst/>
                <a:uFillTx/>
                <a:latin typeface="Calibri"/>
                <a:ea typeface="Calibri"/>
              </a:rPr>
              <a:t>15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548640" y="246888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548640" y="333756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1D6C9"/>
                </a:solidFill>
                <a:effectLst/>
                <a:uFillTx/>
                <a:latin typeface="Calibri"/>
                <a:ea typeface="Calibri"/>
              </a:rPr>
              <a:t>Questions?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548640" y="53949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ieee.nirma@example.edu   ·   @ieee_nirma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sldNum" idx="30"/>
          </p:nvPr>
        </p:nvSpPr>
        <p:spPr>
          <a:xfrm>
            <a:off x="1136880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4FEBD8-0B1B-421E-96C8-9A82CB8889C2}" type="slidenum">
              <a:rPr lang="en-US" sz="900" b="0" u="none" strike="noStrike">
                <a:solidFill>
                  <a:srgbClr val="9FB3CC"/>
                </a:solidFill>
                <a:effectLst/>
                <a:uFillTx/>
                <a:latin typeface="Calibri"/>
                <a:ea typeface="Calibri"/>
              </a:rPr>
              <a:t>16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223</Words>
  <Application>Microsoft Office PowerPoint</Application>
  <PresentationFormat>Widescreen</PresentationFormat>
  <Paragraphs>82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Consolas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PIN DIAGRAM AND BOARD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IEEE Nirma Student Branch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Systems &amp; IoT Workshop Template</dc:title>
  <dc:subject>Embedded Systems &amp; IoT Workshop — ESP32</dc:subject>
  <dc:creator>IEEE Nirma Student Branch</dc:creator>
  <dc:description/>
  <cp:lastModifiedBy>Hiya Shah</cp:lastModifiedBy>
  <cp:revision>5</cp:revision>
  <dcterms:created xsi:type="dcterms:W3CDTF">2026-09-19T17:38:36Z</dcterms:created>
  <dcterms:modified xsi:type="dcterms:W3CDTF">2026-09-20T17:38:50Z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