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1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1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ABD534-0ECE-4E93-8987-1A9149C04A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16EBF-9928-46B2-A39E-7EA7769BD7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CAA10-9A8E-4B88-87DF-8DEB074F69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CB612-257E-4C8B-9906-13FE2355CB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6056C-E6A2-4FF2-B3D6-B12E83FB44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1202AB-0438-461A-B223-781F1C168D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1F086-BEB0-47FB-83FB-640ED28691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52A15-7F1D-4C4B-80FA-4ED87BC878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AC080-239E-4AFE-A634-611BBAF74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974178-F958-4CB4-8367-1D87731AC5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83FAA-ECD6-4ED3-9395-BE107CF44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3EAC6-6A54-42CF-8D7B-DC32544DF5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F2109F-0B5A-404A-BACC-1C4BE44C70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F4E2B1-9945-4527-B138-5C18937C70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B4644-188C-408F-85E6-61B3266C4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9_HARDWAR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</a:t>
            </a: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25C5D-DED8-4EAE-A000-31800DB72F26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10_HANDSON">
    <p:bg>
      <p:bgPr>
        <a:solidFill>
          <a:srgbClr val="F1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548640" y="457200"/>
            <a:ext cx="1371240" cy="29232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1"/>
          <p:cNvSpPr/>
          <p:nvPr/>
        </p:nvSpPr>
        <p:spPr>
          <a:xfrm>
            <a:off x="548640" y="45720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HANDS-ON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2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FCFB95-02AA-4E3D-B6EF-530268DC17E8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11_DEMO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sldNum" idx="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CCC983-8FF7-4361-B672-E41E6BADB4BC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12_RECAP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0B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4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3AC05-0115-44FE-83E0-B34C0B95B900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13_QA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9813960" y="685800"/>
            <a:ext cx="594360" cy="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10408320" y="685800"/>
            <a:ext cx="1080" cy="41580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10408320" y="1101600"/>
            <a:ext cx="594360" cy="108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9773280" y="6447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0381320" y="65844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0381320" y="107460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10962000" y="10605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5ED752-1995-4435-81AD-D9685FF47339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1_COVER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502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IEEE NIRMA STUDENT BRANCH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10454040" y="502920"/>
            <a:ext cx="502920" cy="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10956960" y="502920"/>
            <a:ext cx="1080" cy="351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10956960" y="854640"/>
            <a:ext cx="502920" cy="108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10413360" y="46188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10929960" y="47556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10929960" y="82764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11419200" y="8139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548640" y="5760720"/>
            <a:ext cx="2011680" cy="3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6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8B794-A26C-4B9F-9118-3610FA515EF1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2_SECTION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9813960" y="731520"/>
            <a:ext cx="594360" cy="72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10408320" y="731520"/>
            <a:ext cx="1080" cy="41580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10408320" y="1147320"/>
            <a:ext cx="594360" cy="108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9773280" y="690480"/>
            <a:ext cx="82080" cy="8208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10381320" y="704160"/>
            <a:ext cx="54360" cy="5436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10381320" y="1120320"/>
            <a:ext cx="54360" cy="5436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10962000" y="1106280"/>
            <a:ext cx="82080" cy="8208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96F0D-6C83-4B4E-BC42-629417F162C8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3_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1D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CE3E7C-EDC7-466B-89D2-EA5A09F5EBF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4_TWOCOL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2F6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B00DF-2F28-42AF-9FF9-148D67A6D7F5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5_IMAGETEX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1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B94DB-1785-4834-AB18-49BF8C30954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6_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0B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sldNum" idx="1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309FC1-61D7-4544-B42C-B98B7E723E3C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7_COD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1D6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1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AC500-CAF4-42C7-A8ED-2EE5A625D69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08_TABL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2F6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1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AB02E-456E-48BE-BDA9-D78546A439E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246888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Embedded Systems &amp; IoT Workshop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38862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Building Connected Devices </a:t>
            </a:r>
            <a:r>
              <a:rPr lang="en-US" sz="1800" b="0" u="none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with ESP32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5349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Workshop Dates  ·  Venue  ·  Instructor(s)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sldNum" idx="1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69C11-EAA9-48CF-B061-727064A8268E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48640" y="26060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SECTION  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48640" y="292608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ESP32 Architecture &amp; Hardware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1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BB46B3-9BB4-455F-ADE1-41C78A6F2104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Embedded Systems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548640" y="1508760"/>
            <a:ext cx="110941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Content Area  ·  title + bullet list / narrative text goes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sldNum" idx="1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3F33F3-4D2B-40B0-A1E0-C4D126F5C99F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Communication Protocols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320040" y="1600200"/>
            <a:ext cx="333756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1005840" y="1828800"/>
            <a:ext cx="173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A  ·  e.g. UART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4038480" y="1600200"/>
            <a:ext cx="37339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181480" y="1828800"/>
            <a:ext cx="1905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B  ·  e.g. SPI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2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3F28C-6CAB-49E8-8019-9E2E6D31CCD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8229600" y="1600560"/>
            <a:ext cx="37339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9144000" y="1828800"/>
            <a:ext cx="1905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C  ·  e.g. I2C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Sensors &amp; Peripherals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548640" y="1508760"/>
            <a:ext cx="4205880" cy="4571640"/>
          </a:xfrm>
          <a:prstGeom prst="roundRect">
            <a:avLst>
              <a:gd name="adj" fmla="val 1739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2286000" y="3520440"/>
            <a:ext cx="731160" cy="548280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5B6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2541960" y="3684960"/>
            <a:ext cx="219240" cy="2192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48640" y="42062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Image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5212080" y="1508760"/>
            <a:ext cx="643068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Text Content  ·  key points about the sensor / peripheral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2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FEF6C-CC30-4325-97BC-380B19F431A1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Ultrasonic Sensor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548640" y="1508760"/>
            <a:ext cx="3840120" cy="4571640"/>
          </a:xfrm>
          <a:prstGeom prst="roundRect">
            <a:avLst>
              <a:gd name="adj" fmla="val 1905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2011680" y="3337560"/>
            <a:ext cx="914040" cy="9140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548640" y="4343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Component Photo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4846320" y="16002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4846320" y="205740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4846320" y="2377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Operating Voltage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4846320" y="283464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4846320" y="3154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846320" y="361188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4846320" y="39319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Pins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4846320" y="438912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2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3D26F-9BE4-4710-BFA3-7BCC31C7B79E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13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LCD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548640" y="1508760"/>
            <a:ext cx="3840120" cy="4571640"/>
          </a:xfrm>
          <a:prstGeom prst="roundRect">
            <a:avLst>
              <a:gd name="adj" fmla="val 1905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2011680" y="3337560"/>
            <a:ext cx="914040" cy="9140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48640" y="4343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Component Photo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4846320" y="16002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4846320" y="205740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4846320" y="2377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Operating Voltage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4846320" y="283464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4846320" y="3154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4846320" y="361188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4846320" y="39319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Pins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4846320" y="438912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sldNum" idx="2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52C58-3DCC-4056-9BF6-F9C25D481954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ESP-NOW vs. Wi-Fi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4" name="Table 0"/>
          <p:cNvGraphicFramePr/>
          <p:nvPr/>
        </p:nvGraphicFramePr>
        <p:xfrm>
          <a:off x="548640" y="1508760"/>
          <a:ext cx="11094120" cy="4572000"/>
        </p:xfrm>
        <a:graphic>
          <a:graphicData uri="http://schemas.openxmlformats.org/drawingml/2006/table">
            <a:tbl>
              <a:tblPr/>
              <a:tblGrid>
                <a:gridCol w="3697920"/>
                <a:gridCol w="3697920"/>
                <a:gridCol w="3697920"/>
              </a:tblGrid>
              <a:tr h="914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 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 B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PlaceHolder 1"/>
          <p:cNvSpPr>
            <a:spLocks noGrp="1"/>
          </p:cNvSpPr>
          <p:nvPr>
            <p:ph type="sldNum" idx="24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A9C1D-B044-4B0F-88FB-9451A6D35D22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Wi-Fi &amp; Web Servers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548640" y="1508760"/>
            <a:ext cx="11094120" cy="4571640"/>
          </a:xfrm>
          <a:prstGeom prst="roundRect">
            <a:avLst>
              <a:gd name="adj" fmla="val 1600"/>
            </a:avLst>
          </a:prstGeom>
          <a:solidFill>
            <a:srgbClr val="0F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548640" y="1508760"/>
            <a:ext cx="11094120" cy="383760"/>
          </a:xfrm>
          <a:prstGeom prst="roundRect">
            <a:avLst>
              <a:gd name="adj" fmla="val 19048"/>
            </a:avLst>
          </a:prstGeom>
          <a:solidFill>
            <a:srgbClr val="2436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749880" y="1645920"/>
            <a:ext cx="109440" cy="109440"/>
          </a:xfrm>
          <a:prstGeom prst="ellipse">
            <a:avLst/>
          </a:prstGeom>
          <a:solidFill>
            <a:srgbClr val="E855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969120" y="1645920"/>
            <a:ext cx="109440" cy="109440"/>
          </a:xfrm>
          <a:prstGeom prst="ellipse">
            <a:avLst/>
          </a:prstGeom>
          <a:solidFill>
            <a:srgbClr val="E9C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1188720" y="1645920"/>
            <a:ext cx="109440" cy="109440"/>
          </a:xfrm>
          <a:prstGeom prst="ellipse">
            <a:avLst/>
          </a:prstGeom>
          <a:solidFill>
            <a:srgbClr val="3EC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554480" y="150876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3CC"/>
                </a:solidFill>
                <a:effectLst/>
                <a:uFillTx/>
                <a:latin typeface="Consolas"/>
                <a:ea typeface="Consolas"/>
              </a:rPr>
              <a:t>wifi_web_server.ino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822960" y="2057400"/>
            <a:ext cx="1054548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31D6C9"/>
                </a:solidFill>
                <a:effectLst/>
                <a:uFillTx/>
                <a:latin typeface="Consolas"/>
                <a:ea typeface="Consolas"/>
              </a:rPr>
              <a:t>// code block  ·  syntax-highlighted snippet goes 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Num" idx="25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45E6B8-C701-45C2-A45B-28B6309034CB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IoT Gateway —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0E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48640" y="1508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548640" y="1508760"/>
            <a:ext cx="360" cy="2559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 flipH="1">
            <a:off x="11386800" y="1508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11642760" y="1508760"/>
            <a:ext cx="360" cy="2559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548640" y="6080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 flipV="1">
            <a:off x="548640" y="5824440"/>
            <a:ext cx="360" cy="25632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 flipH="1">
            <a:off x="11386800" y="6080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 flipV="1">
            <a:off x="11642760" y="5824440"/>
            <a:ext cx="360" cy="25632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Diagram / Block Canvas  ·  drop blocks, arrows &amp; icons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Num" idx="26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B783A-4F47-4974-886F-743D4753EE22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48640" y="960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Mini Challenge: </a:t>
            </a: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Activity Title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26028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26028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17067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17067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4083840" y="2669760"/>
            <a:ext cx="822960" cy="360"/>
          </a:xfrm>
          <a:prstGeom prst="line">
            <a:avLst/>
          </a:prstGeom>
          <a:ln w="12700">
            <a:solidFill>
              <a:srgbClr val="35D28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58032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58032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49071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49071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7284240" y="2669760"/>
            <a:ext cx="822960" cy="360"/>
          </a:xfrm>
          <a:prstGeom prst="line">
            <a:avLst/>
          </a:prstGeom>
          <a:ln w="12700">
            <a:solidFill>
              <a:srgbClr val="35D28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90036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90036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81075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81075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2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E1060-2212-464E-BA79-A20D6321D4C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5486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Demo: Smartphone IoT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2209680" y="1554480"/>
            <a:ext cx="7772040" cy="3931560"/>
          </a:xfrm>
          <a:prstGeom prst="roundRect">
            <a:avLst>
              <a:gd name="adj" fmla="val 2791"/>
            </a:avLst>
          </a:prstGeom>
          <a:solidFill>
            <a:srgbClr val="13294B"/>
          </a:solidFill>
          <a:ln w="19050">
            <a:solidFill>
              <a:srgbClr val="2A4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2209680" y="1554480"/>
            <a:ext cx="7772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Live Demo Area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Num" idx="2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7FFC7F-ED52-4D24-9B6C-DEC77775EC3A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548640" y="16916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097280" y="164592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548640" y="274320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097280" y="269748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548640" y="3794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1097280" y="374904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sldNum" idx="2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2F7EE-D3B6-471D-8C0D-06C6E6C3E0F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48640" y="246888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548640" y="33375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548640" y="53949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ieee.nirma@example.edu   ·   @ieee_nirma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sldNum" idx="3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FEBD8-0B1B-421E-96C8-9A82CB8889C2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LibreOffice/26.2.5.2$Linux_X86_64 LibreOffice_project/620$Build-2</Application>
  <AppVersion>15.0000</AppVersion>
  <Words>0</Words>
  <Paragraphs>0</Paragraphs>
  <Company>IEEE Nirma Student Branch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2026-09-19T17:38:36Z</dcterms:created>
  <dc:creator>IEEE Nirma Student Branch</dc:creator>
  <dc:description/>
  <dc:language>en-US</dc:language>
  <cp:lastModifiedBy/>
  <dcterms:modified xsi:type="dcterms:W3CDTF">2026-09-19T23:15:25Z</dcterms:modified>
  <cp:revision>4</cp:revision>
  <dc:subject>Embedded Systems &amp; IoT Workshop — ESP32</dc:subject>
  <dc:title>Embedded Systems &amp; IoT Workshop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